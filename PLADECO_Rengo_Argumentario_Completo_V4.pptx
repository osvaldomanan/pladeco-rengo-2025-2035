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Índice de envejecimiento (adultos may. / jóvenes × 100)</a:t>
            </a:r>
          </a:p>
        </c:rich>
      </c:tx>
      <c:layout/>
      <c:overlay val="0"/>
    </c:title>
    <c:autoTitleDeleted val="0"/>
    <c:plotArea>
      <c:layout/>
      <c:barChart>
        <c:barDir val="col"/>
        <c:grouping val="clustered"/>
        <c:varyColors val="0"/>
        <c:ser>
          <c:idx val="0"/>
          <c:order val="0"/>
          <c:tx>
            <c:strRef>
              <c:f>Sheet1!$B$1</c:f>
              <c:strCache>
                <c:ptCount val="1"/>
                <c:pt idx="0">
                  <c:v>Index</c:v>
                </c:pt>
              </c:strCache>
            </c:strRef>
          </c:tx>
          <c:spPr>
            <a:solidFill>
              <a:srgbClr val="E8ECF0"/>
            </a:solidFill>
            <a:effectLst/>
          </c:spPr>
          <c:invertIfNegative val="0"/>
          <c:dLbls>
            <c:numFmt formatCode="#,##0" sourceLinked="0"/>
            <c:txPr>
              <a:bodyPr/>
              <a:lstStyle/>
              <a:p>
                <a:pPr>
                  <a:defRPr b="0" i="0" strike="noStrike" sz="1200" u="none">
                    <a:solidFill>
                      <a:srgbClr val="2C3E50"/>
                    </a:solidFill>
                    <a:latin typeface="Arial"/>
                  </a:defRPr>
                </a:pPr>
              </a:p>
            </c:txPr>
            <c:showLegendKey val="0"/>
            <c:showVal val="1"/>
            <c:showCatName val="0"/>
            <c:showSerName val="0"/>
            <c:showPercent val="0"/>
            <c:showBubbleSize val="0"/>
            <c:showLeaderLines val="0"/>
          </c:dLbls>
          <c:dPt>
            <c:idx val="0"/>
            <c:invertIfNegative val="0"/>
            <c:bubble3D val="0"/>
            <c:spPr>
              <a:solidFill>
                <a:srgbClr val="E8ECF0"/>
              </a:solidFill>
              <a:effectLst/>
            </c:spPr>
          </c:dPt>
          <c:dPt>
            <c:idx val="1"/>
            <c:invertIfNegative val="0"/>
            <c:bubble3D val="0"/>
            <c:spPr>
              <a:solidFill>
                <a:srgbClr val="64748B"/>
              </a:solidFill>
              <a:effectLst/>
            </c:spPr>
          </c:dPt>
          <c:dPt>
            <c:idx val="2"/>
            <c:invertIfNegative val="0"/>
            <c:bubble3D val="0"/>
            <c:spPr>
              <a:solidFill>
                <a:srgbClr val="1F3864"/>
              </a:solidFill>
              <a:effectLst/>
            </c:spPr>
          </c:dPt>
          <c:dPt>
            <c:idx val="3"/>
            <c:invertIfNegative val="0"/>
            <c:bubble3D val="0"/>
            <c:spPr>
              <a:solidFill>
                <a:srgbClr val="B83232"/>
              </a:solidFill>
              <a:effectLst/>
            </c:spPr>
          </c:dPt>
          <c:cat>
            <c:multiLvlStrRef>
              <c:f>Sheet1!$A$2:$A$5</c:f>
              <c:multiLvlStrCache>
                <c:ptCount val="4"/>
                <c:lvl>
                  <c:pt idx="0">
                    <c:v>2001</c:v>
                  </c:pt>
                  <c:pt idx="1">
                    <c:v>2017</c:v>
                  </c:pt>
                  <c:pt idx="2">
                    <c:v>2024</c:v>
                  </c:pt>
                  <c:pt idx="3">
                    <c:v>2035
(proy.)</c:v>
                  </c:pt>
                </c:lvl>
              </c:multiLvlStrCache>
            </c:multiLvlStrRef>
          </c:cat>
          <c:val>
            <c:numRef>
              <c:f>Sheet1!$B$2:$B$5</c:f>
              <c:numCache>
                <c:formatCode>General</c:formatCode>
                <c:ptCount val="4"/>
                <c:pt idx="0">
                  <c:v>35</c:v>
                </c:pt>
                <c:pt idx="1">
                  <c:v>53.8</c:v>
                </c:pt>
                <c:pt idx="2">
                  <c:v>72.1</c:v>
                </c:pt>
                <c:pt idx="3">
                  <c:v>100</c:v>
                </c:pt>
              </c:numCache>
            </c:numRef>
          </c:val>
        </c:ser>
        <c:dLbls>
          <c:numFmt formatCode="#,##0" sourceLinked="0"/>
          <c:txPr>
            <a:bodyPr/>
            <a:lstStyle/>
            <a:p>
              <a:pPr>
                <a:defRPr b="0" i="0" strike="noStrike" sz="1200" u="none">
                  <a:solidFill>
                    <a:srgbClr val="2C3E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15"/>
        </c:scaling>
        <c:delete val="0"/>
        <c:axPos val="l"/>
        <c:majorGridlines>
          <c:spPr>
            <a:ln w="6350" cap="flat">
              <a:solidFill>
                <a:srgbClr val="E8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C9A84C"/>
          </a:solidFill>
          <a:ln/>
        </p:spPr>
      </p:sp>
      <p:sp>
        <p:nvSpPr>
          <p:cNvPr id="3" name="Shape 1"/>
          <p:cNvSpPr/>
          <p:nvPr/>
        </p:nvSpPr>
        <p:spPr>
          <a:xfrm>
            <a:off x="7863840" y="0"/>
            <a:ext cx="1280160" cy="5143500"/>
          </a:xfrm>
          <a:prstGeom prst="rect">
            <a:avLst/>
          </a:prstGeom>
          <a:solidFill>
            <a:srgbClr val="162850"/>
          </a:solidFill>
          <a:ln/>
        </p:spPr>
      </p:sp>
      <p:sp>
        <p:nvSpPr>
          <p:cNvPr id="4" name="Text 2"/>
          <p:cNvSpPr/>
          <p:nvPr/>
        </p:nvSpPr>
        <p:spPr>
          <a:xfrm>
            <a:off x="621792" y="438912"/>
            <a:ext cx="7040880" cy="256032"/>
          </a:xfrm>
          <a:prstGeom prst="rect">
            <a:avLst/>
          </a:prstGeom>
          <a:noFill/>
          <a:ln/>
        </p:spPr>
        <p:txBody>
          <a:bodyPr wrap="square" rtlCol="0" anchor="ctr"/>
          <a:lstStyle/>
          <a:p>
            <a:pPr indent="0" marL="0">
              <a:buNone/>
            </a:pPr>
            <a:r>
              <a:rPr lang="en-US" sz="800" b="1" spc="250" kern="0" dirty="0">
                <a:solidFill>
                  <a:srgbClr val="C9A84C"/>
                </a:solidFill>
                <a:latin typeface="Calibri" pitchFamily="34" charset="0"/>
                <a:ea typeface="Calibri" pitchFamily="34" charset="-122"/>
                <a:cs typeface="Calibri" pitchFamily="34" charset="-120"/>
              </a:rPr>
              <a:t>MUNICIPALIDAD DE RENGO  ·  SECPLAC  ·  ABRIL 2026</a:t>
            </a:r>
            <a:endParaRPr lang="en-US" sz="800" dirty="0"/>
          </a:p>
        </p:txBody>
      </p:sp>
      <p:sp>
        <p:nvSpPr>
          <p:cNvPr id="5" name="Text 3"/>
          <p:cNvSpPr/>
          <p:nvPr/>
        </p:nvSpPr>
        <p:spPr>
          <a:xfrm>
            <a:off x="621792" y="777240"/>
            <a:ext cx="7040880" cy="1783080"/>
          </a:xfrm>
          <a:prstGeom prst="rect">
            <a:avLst/>
          </a:prstGeom>
          <a:noFill/>
          <a:ln/>
        </p:spPr>
        <p:txBody>
          <a:bodyPr wrap="square"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PLADECO</a:t>
            </a:r>
            <a:endParaRPr lang="en-US" sz="5000" dirty="0"/>
          </a:p>
          <a:p>
            <a:pPr indent="0" marL="0">
              <a:buNone/>
            </a:pPr>
            <a:r>
              <a:rPr lang="en-US" sz="5000" b="1" dirty="0">
                <a:solidFill>
                  <a:srgbClr val="FFFFFF"/>
                </a:solidFill>
                <a:latin typeface="Georgia" pitchFamily="34" charset="0"/>
                <a:ea typeface="Georgia" pitchFamily="34" charset="-122"/>
                <a:cs typeface="Georgia" pitchFamily="34" charset="-120"/>
              </a:rPr>
              <a:t>Rengo 2025–2035</a:t>
            </a:r>
            <a:endParaRPr lang="en-US" sz="5000" dirty="0"/>
          </a:p>
        </p:txBody>
      </p:sp>
      <p:sp>
        <p:nvSpPr>
          <p:cNvPr id="6" name="Text 4"/>
          <p:cNvSpPr/>
          <p:nvPr/>
        </p:nvSpPr>
        <p:spPr>
          <a:xfrm>
            <a:off x="621792" y="2651760"/>
            <a:ext cx="6949440" cy="329184"/>
          </a:xfrm>
          <a:prstGeom prst="rect">
            <a:avLst/>
          </a:prstGeom>
          <a:noFill/>
          <a:ln/>
        </p:spPr>
        <p:txBody>
          <a:bodyPr wrap="square" rtlCol="0" anchor="ctr"/>
          <a:lstStyle/>
          <a:p>
            <a:pPr indent="0" marL="0">
              <a:buNone/>
            </a:pPr>
            <a:r>
              <a:rPr lang="en-US" sz="1250" i="1" dirty="0">
                <a:solidFill>
                  <a:srgbClr val="C9A84C"/>
                </a:solidFill>
                <a:latin typeface="Calibri" pitchFamily="34" charset="0"/>
                <a:ea typeface="Calibri" pitchFamily="34" charset="-122"/>
                <a:cs typeface="Calibri" pitchFamily="34" charset="-120"/>
              </a:rPr>
              <a:t>Diagnóstico FODA  ·  Argumentario Estratégico  ·  Avance de Proceso</a:t>
            </a:r>
            <a:endParaRPr lang="en-US" sz="1250" dirty="0"/>
          </a:p>
        </p:txBody>
      </p:sp>
      <p:sp>
        <p:nvSpPr>
          <p:cNvPr id="7" name="Shape 5"/>
          <p:cNvSpPr/>
          <p:nvPr/>
        </p:nvSpPr>
        <p:spPr>
          <a:xfrm>
            <a:off x="621792" y="3063240"/>
            <a:ext cx="4114800" cy="36576"/>
          </a:xfrm>
          <a:prstGeom prst="rect">
            <a:avLst/>
          </a:prstGeom>
          <a:solidFill>
            <a:srgbClr val="FFFFFF">
              <a:alpha val="40000"/>
            </a:srgbClr>
          </a:solidFill>
          <a:ln/>
        </p:spPr>
      </p:sp>
      <p:sp>
        <p:nvSpPr>
          <p:cNvPr id="8" name="Text 6"/>
          <p:cNvSpPr/>
          <p:nvPr/>
        </p:nvSpPr>
        <p:spPr>
          <a:xfrm>
            <a:off x="621792" y="3200400"/>
            <a:ext cx="7040880" cy="777240"/>
          </a:xfrm>
          <a:prstGeom prst="rect">
            <a:avLst/>
          </a:prstGeom>
          <a:noFill/>
          <a:ln/>
        </p:spPr>
        <p:txBody>
          <a:bodyPr wrap="square" rtlCol="0" anchor="ctr"/>
          <a:lstStyle/>
          <a:p>
            <a:pPr indent="0" marL="0">
              <a:buNone/>
            </a:pPr>
            <a:r>
              <a:rPr lang="en-US" sz="1100" i="1" dirty="0">
                <a:solidFill>
                  <a:srgbClr val="FFFFFF"/>
                </a:solidFill>
                <a:latin typeface="Georgia" pitchFamily="34" charset="0"/>
                <a:ea typeface="Georgia" pitchFamily="34" charset="-122"/>
                <a:cs typeface="Georgia" pitchFamily="34" charset="-120"/>
              </a:rPr>
              <a:t>"La pregunta no es si Rengo puede.</a:t>
            </a:r>
            <a:endParaRPr lang="en-US" sz="1100" dirty="0"/>
          </a:p>
          <a:p>
            <a:pPr indent="0" marL="0">
              <a:buNone/>
            </a:pPr>
            <a:r>
              <a:rPr lang="en-US" sz="1100" i="1" dirty="0">
                <a:solidFill>
                  <a:srgbClr val="FFFFFF"/>
                </a:solidFill>
                <a:latin typeface="Georgia" pitchFamily="34" charset="0"/>
                <a:ea typeface="Georgia" pitchFamily="34" charset="-122"/>
                <a:cs typeface="Georgia" pitchFamily="34" charset="-120"/>
              </a:rPr>
              <a:t>La pregunta es si este PLADECO será el marco que organice esa capacidad."</a:t>
            </a:r>
            <a:endParaRPr lang="en-US" sz="1100" dirty="0"/>
          </a:p>
        </p:txBody>
      </p:sp>
      <p:sp>
        <p:nvSpPr>
          <p:cNvPr id="9" name="Shape 7"/>
          <p:cNvSpPr/>
          <p:nvPr/>
        </p:nvSpPr>
        <p:spPr>
          <a:xfrm>
            <a:off x="621792" y="4114800"/>
            <a:ext cx="6858000" cy="36576"/>
          </a:xfrm>
          <a:prstGeom prst="rect">
            <a:avLst/>
          </a:prstGeom>
          <a:solidFill>
            <a:srgbClr val="FFFFFF">
              <a:alpha val="28000"/>
            </a:srgbClr>
          </a:solidFill>
          <a:ln/>
        </p:spPr>
      </p:sp>
      <p:sp>
        <p:nvSpPr>
          <p:cNvPr id="10" name="Text 8"/>
          <p:cNvSpPr/>
          <p:nvPr/>
        </p:nvSpPr>
        <p:spPr>
          <a:xfrm>
            <a:off x="621792" y="4187952"/>
            <a:ext cx="1600200" cy="320040"/>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6</a:t>
            </a:r>
            <a:endParaRPr lang="en-US" sz="1800" dirty="0"/>
          </a:p>
        </p:txBody>
      </p:sp>
      <p:sp>
        <p:nvSpPr>
          <p:cNvPr id="11" name="Text 9"/>
          <p:cNvSpPr/>
          <p:nvPr/>
        </p:nvSpPr>
        <p:spPr>
          <a:xfrm>
            <a:off x="621792" y="4507992"/>
            <a:ext cx="1600200" cy="18288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ejes estratégicos</a:t>
            </a:r>
            <a:endParaRPr lang="en-US" sz="800" dirty="0"/>
          </a:p>
        </p:txBody>
      </p:sp>
      <p:sp>
        <p:nvSpPr>
          <p:cNvPr id="12" name="Text 10"/>
          <p:cNvSpPr/>
          <p:nvPr/>
        </p:nvSpPr>
        <p:spPr>
          <a:xfrm>
            <a:off x="2359152" y="4187952"/>
            <a:ext cx="1600200" cy="320040"/>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32</a:t>
            </a:r>
            <a:endParaRPr lang="en-US" sz="1800" dirty="0"/>
          </a:p>
        </p:txBody>
      </p:sp>
      <p:sp>
        <p:nvSpPr>
          <p:cNvPr id="13" name="Text 11"/>
          <p:cNvSpPr/>
          <p:nvPr/>
        </p:nvSpPr>
        <p:spPr>
          <a:xfrm>
            <a:off x="2359152" y="4507992"/>
            <a:ext cx="1600200" cy="18288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objetivos estratégicos</a:t>
            </a:r>
            <a:endParaRPr lang="en-US" sz="800" dirty="0"/>
          </a:p>
        </p:txBody>
      </p:sp>
      <p:sp>
        <p:nvSpPr>
          <p:cNvPr id="14" name="Text 12"/>
          <p:cNvSpPr/>
          <p:nvPr/>
        </p:nvSpPr>
        <p:spPr>
          <a:xfrm>
            <a:off x="4096512" y="4187952"/>
            <a:ext cx="1600200" cy="320040"/>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225</a:t>
            </a:r>
            <a:endParaRPr lang="en-US" sz="1800" dirty="0"/>
          </a:p>
        </p:txBody>
      </p:sp>
      <p:sp>
        <p:nvSpPr>
          <p:cNvPr id="15" name="Text 13"/>
          <p:cNvSpPr/>
          <p:nvPr/>
        </p:nvSpPr>
        <p:spPr>
          <a:xfrm>
            <a:off x="4096512" y="4507992"/>
            <a:ext cx="1600200" cy="18288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acciones articuladas</a:t>
            </a:r>
            <a:endParaRPr lang="en-US" sz="800" dirty="0"/>
          </a:p>
        </p:txBody>
      </p:sp>
      <p:sp>
        <p:nvSpPr>
          <p:cNvPr id="16" name="Text 14"/>
          <p:cNvSpPr/>
          <p:nvPr/>
        </p:nvSpPr>
        <p:spPr>
          <a:xfrm>
            <a:off x="5833872" y="4187952"/>
            <a:ext cx="1600200" cy="320040"/>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+300</a:t>
            </a:r>
            <a:endParaRPr lang="en-US" sz="1800" dirty="0"/>
          </a:p>
        </p:txBody>
      </p:sp>
      <p:sp>
        <p:nvSpPr>
          <p:cNvPr id="17" name="Text 15"/>
          <p:cNvSpPr/>
          <p:nvPr/>
        </p:nvSpPr>
        <p:spPr>
          <a:xfrm>
            <a:off x="5833872" y="4507992"/>
            <a:ext cx="1600200" cy="18288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personas consultadas</a:t>
            </a:r>
            <a:endParaRPr lang="en-US" sz="800" dirty="0"/>
          </a:p>
        </p:txBody>
      </p:sp>
      <p:sp>
        <p:nvSpPr>
          <p:cNvPr id="18" name="Text 16"/>
          <p:cNvSpPr/>
          <p:nvPr/>
        </p:nvSpPr>
        <p:spPr>
          <a:xfrm>
            <a:off x="621792" y="4846320"/>
            <a:ext cx="7040880"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9.ª Cuota de Consultoría  ·  Osvaldo Mañán Arce  ·  OC N° 2775-49-SE25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Estructura de la presentación</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Una lectura integrada del territorio, la arquitectura estratégica del PLADECO y el avance de proceso</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048256" cy="3977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048256" cy="59436"/>
          </a:xfrm>
          <a:prstGeom prst="rect">
            <a:avLst/>
          </a:prstGeom>
          <a:solidFill>
            <a:srgbClr val="1F3864"/>
          </a:solidFill>
          <a:ln/>
        </p:spPr>
      </p:sp>
      <p:sp>
        <p:nvSpPr>
          <p:cNvPr id="10" name="Text 8"/>
          <p:cNvSpPr/>
          <p:nvPr/>
        </p:nvSpPr>
        <p:spPr>
          <a:xfrm>
            <a:off x="274320" y="1005840"/>
            <a:ext cx="2048256" cy="658368"/>
          </a:xfrm>
          <a:prstGeom prst="rect">
            <a:avLst/>
          </a:prstGeom>
          <a:noFill/>
          <a:ln/>
        </p:spPr>
        <p:txBody>
          <a:bodyPr wrap="square" lIns="0" tIns="0" rIns="0" bIns="0" rtlCol="0" anchor="ctr"/>
          <a:lstStyle/>
          <a:p>
            <a:pPr algn="ctr" indent="0" marL="0">
              <a:buNone/>
            </a:pPr>
            <a:r>
              <a:rPr lang="en-US" sz="3400" b="1" dirty="0">
                <a:solidFill>
                  <a:srgbClr val="1F3864"/>
                </a:solidFill>
                <a:latin typeface="Georgia" pitchFamily="34" charset="0"/>
                <a:ea typeface="Georgia" pitchFamily="34" charset="-122"/>
                <a:cs typeface="Georgia" pitchFamily="34" charset="-120"/>
              </a:rPr>
              <a:t>01</a:t>
            </a:r>
            <a:endParaRPr lang="en-US" sz="3400" dirty="0"/>
          </a:p>
        </p:txBody>
      </p:sp>
      <p:sp>
        <p:nvSpPr>
          <p:cNvPr id="11" name="Shape 9"/>
          <p:cNvSpPr/>
          <p:nvPr/>
        </p:nvSpPr>
        <p:spPr>
          <a:xfrm>
            <a:off x="411480" y="1700784"/>
            <a:ext cx="1783080" cy="36576"/>
          </a:xfrm>
          <a:prstGeom prst="rect">
            <a:avLst/>
          </a:prstGeom>
          <a:solidFill>
            <a:srgbClr val="1F3864">
              <a:alpha val="45000"/>
            </a:srgbClr>
          </a:solidFill>
          <a:ln/>
        </p:spPr>
      </p:sp>
      <p:sp>
        <p:nvSpPr>
          <p:cNvPr id="12" name="Text 10"/>
          <p:cNvSpPr/>
          <p:nvPr/>
        </p:nvSpPr>
        <p:spPr>
          <a:xfrm>
            <a:off x="365760" y="1764792"/>
            <a:ext cx="1865376" cy="502920"/>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Diagnóstico del</a:t>
            </a:r>
            <a:endParaRPr lang="en-US" sz="1050" dirty="0"/>
          </a:p>
          <a:p>
            <a:pPr algn="ctr" indent="0" marL="0">
              <a:buNone/>
            </a:pPr>
            <a:r>
              <a:rPr lang="en-US" sz="1050" b="1" dirty="0">
                <a:solidFill>
                  <a:srgbClr val="1F3864"/>
                </a:solidFill>
                <a:latin typeface="Georgia" pitchFamily="34" charset="0"/>
                <a:ea typeface="Georgia" pitchFamily="34" charset="-122"/>
                <a:cs typeface="Georgia" pitchFamily="34" charset="-120"/>
              </a:rPr>
              <a:t>territorio</a:t>
            </a:r>
            <a:endParaRPr lang="en-US" sz="1050" dirty="0"/>
          </a:p>
        </p:txBody>
      </p:sp>
      <p:sp>
        <p:nvSpPr>
          <p:cNvPr id="13" name="Text 11"/>
          <p:cNvSpPr/>
          <p:nvPr/>
        </p:nvSpPr>
        <p:spPr>
          <a:xfrm>
            <a:off x="384048" y="234086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Pregunta central</a:t>
            </a:r>
            <a:endParaRPr lang="en-US" sz="880" dirty="0"/>
          </a:p>
        </p:txBody>
      </p:sp>
      <p:sp>
        <p:nvSpPr>
          <p:cNvPr id="14" name="Text 12"/>
          <p:cNvSpPr/>
          <p:nvPr/>
        </p:nvSpPr>
        <p:spPr>
          <a:xfrm>
            <a:off x="384048" y="263347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Activos y fortalezas</a:t>
            </a:r>
            <a:endParaRPr lang="en-US" sz="880" dirty="0"/>
          </a:p>
        </p:txBody>
      </p:sp>
      <p:sp>
        <p:nvSpPr>
          <p:cNvPr id="15" name="Text 13"/>
          <p:cNvSpPr/>
          <p:nvPr/>
        </p:nvSpPr>
        <p:spPr>
          <a:xfrm>
            <a:off x="384048" y="2926080"/>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La paradoja institucional</a:t>
            </a:r>
            <a:endParaRPr lang="en-US" sz="880" dirty="0"/>
          </a:p>
        </p:txBody>
      </p:sp>
      <p:sp>
        <p:nvSpPr>
          <p:cNvPr id="16" name="Text 14"/>
          <p:cNvSpPr/>
          <p:nvPr/>
        </p:nvSpPr>
        <p:spPr>
          <a:xfrm>
            <a:off x="384048" y="3218688"/>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Brechas urgentes y Ley Karin</a:t>
            </a:r>
            <a:endParaRPr lang="en-US" sz="880" dirty="0"/>
          </a:p>
        </p:txBody>
      </p:sp>
      <p:sp>
        <p:nvSpPr>
          <p:cNvPr id="17" name="Text 15"/>
          <p:cNvSpPr/>
          <p:nvPr/>
        </p:nvSpPr>
        <p:spPr>
          <a:xfrm>
            <a:off x="384048" y="3511296"/>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Brecha financiera e IPP</a:t>
            </a:r>
            <a:endParaRPr lang="en-US" sz="880" dirty="0"/>
          </a:p>
        </p:txBody>
      </p:sp>
      <p:sp>
        <p:nvSpPr>
          <p:cNvPr id="18" name="Text 16"/>
          <p:cNvSpPr/>
          <p:nvPr/>
        </p:nvSpPr>
        <p:spPr>
          <a:xfrm>
            <a:off x="384048" y="380390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Oportunidades y amenazas</a:t>
            </a:r>
            <a:endParaRPr lang="en-US" sz="880" dirty="0"/>
          </a:p>
        </p:txBody>
      </p:sp>
      <p:sp>
        <p:nvSpPr>
          <p:cNvPr id="19" name="Text 17"/>
          <p:cNvSpPr/>
          <p:nvPr/>
        </p:nvSpPr>
        <p:spPr>
          <a:xfrm>
            <a:off x="384048" y="409651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Demografía y seguridad</a:t>
            </a:r>
            <a:endParaRPr lang="en-US" sz="880" dirty="0"/>
          </a:p>
        </p:txBody>
      </p:sp>
      <p:sp>
        <p:nvSpPr>
          <p:cNvPr id="20" name="Shape 18"/>
          <p:cNvSpPr/>
          <p:nvPr/>
        </p:nvSpPr>
        <p:spPr>
          <a:xfrm>
            <a:off x="2578608" y="960120"/>
            <a:ext cx="2048256" cy="3977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2578608" y="960120"/>
            <a:ext cx="2048256" cy="59436"/>
          </a:xfrm>
          <a:prstGeom prst="rect">
            <a:avLst/>
          </a:prstGeom>
          <a:solidFill>
            <a:srgbClr val="0A6B65"/>
          </a:solidFill>
          <a:ln/>
        </p:spPr>
      </p:sp>
      <p:sp>
        <p:nvSpPr>
          <p:cNvPr id="22" name="Text 20"/>
          <p:cNvSpPr/>
          <p:nvPr/>
        </p:nvSpPr>
        <p:spPr>
          <a:xfrm>
            <a:off x="2578608" y="1005840"/>
            <a:ext cx="2048256" cy="658368"/>
          </a:xfrm>
          <a:prstGeom prst="rect">
            <a:avLst/>
          </a:prstGeom>
          <a:noFill/>
          <a:ln/>
        </p:spPr>
        <p:txBody>
          <a:bodyPr wrap="square" lIns="0" tIns="0" rIns="0" bIns="0" rtlCol="0" anchor="ctr"/>
          <a:lstStyle/>
          <a:p>
            <a:pPr algn="ctr" indent="0" marL="0">
              <a:buNone/>
            </a:pPr>
            <a:r>
              <a:rPr lang="en-US" sz="3400" b="1" dirty="0">
                <a:solidFill>
                  <a:srgbClr val="0A6B65"/>
                </a:solidFill>
                <a:latin typeface="Georgia" pitchFamily="34" charset="0"/>
                <a:ea typeface="Georgia" pitchFamily="34" charset="-122"/>
                <a:cs typeface="Georgia" pitchFamily="34" charset="-120"/>
              </a:rPr>
              <a:t>02</a:t>
            </a:r>
            <a:endParaRPr lang="en-US" sz="3400" dirty="0"/>
          </a:p>
        </p:txBody>
      </p:sp>
      <p:sp>
        <p:nvSpPr>
          <p:cNvPr id="23" name="Shape 21"/>
          <p:cNvSpPr/>
          <p:nvPr/>
        </p:nvSpPr>
        <p:spPr>
          <a:xfrm>
            <a:off x="2715768" y="1700784"/>
            <a:ext cx="1783080" cy="36576"/>
          </a:xfrm>
          <a:prstGeom prst="rect">
            <a:avLst/>
          </a:prstGeom>
          <a:solidFill>
            <a:srgbClr val="0A6B65">
              <a:alpha val="45000"/>
            </a:srgbClr>
          </a:solidFill>
          <a:ln/>
        </p:spPr>
      </p:sp>
      <p:sp>
        <p:nvSpPr>
          <p:cNvPr id="24" name="Text 22"/>
          <p:cNvSpPr/>
          <p:nvPr/>
        </p:nvSpPr>
        <p:spPr>
          <a:xfrm>
            <a:off x="2670048" y="1764792"/>
            <a:ext cx="1865376" cy="502920"/>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Arquitectura</a:t>
            </a:r>
            <a:endParaRPr lang="en-US" sz="1050" dirty="0"/>
          </a:p>
          <a:p>
            <a:pPr algn="ctr" indent="0" marL="0">
              <a:buNone/>
            </a:pPr>
            <a:r>
              <a:rPr lang="en-US" sz="1050" b="1" dirty="0">
                <a:solidFill>
                  <a:srgbClr val="1F3864"/>
                </a:solidFill>
                <a:latin typeface="Georgia" pitchFamily="34" charset="0"/>
                <a:ea typeface="Georgia" pitchFamily="34" charset="-122"/>
                <a:cs typeface="Georgia" pitchFamily="34" charset="-120"/>
              </a:rPr>
              <a:t>estratégica</a:t>
            </a:r>
            <a:endParaRPr lang="en-US" sz="1050" dirty="0"/>
          </a:p>
        </p:txBody>
      </p:sp>
      <p:sp>
        <p:nvSpPr>
          <p:cNvPr id="25" name="Text 23"/>
          <p:cNvSpPr/>
          <p:nvPr/>
        </p:nvSpPr>
        <p:spPr>
          <a:xfrm>
            <a:off x="2688336" y="234086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6 ejes · 32 OE · 225 acciones</a:t>
            </a:r>
            <a:endParaRPr lang="en-US" sz="880" dirty="0"/>
          </a:p>
        </p:txBody>
      </p:sp>
      <p:sp>
        <p:nvSpPr>
          <p:cNvPr id="26" name="Text 24"/>
          <p:cNvSpPr/>
          <p:nvPr/>
        </p:nvSpPr>
        <p:spPr>
          <a:xfrm>
            <a:off x="2688336" y="263347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La ventana que no se repite</a:t>
            </a:r>
            <a:endParaRPr lang="en-US" sz="880" dirty="0"/>
          </a:p>
        </p:txBody>
      </p:sp>
      <p:sp>
        <p:nvSpPr>
          <p:cNvPr id="27" name="Text 25"/>
          <p:cNvSpPr/>
          <p:nvPr/>
        </p:nvSpPr>
        <p:spPr>
          <a:xfrm>
            <a:off x="2688336" y="2926080"/>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Diagnóstico FODA (80 elementos)</a:t>
            </a:r>
            <a:endParaRPr lang="en-US" sz="880" dirty="0"/>
          </a:p>
        </p:txBody>
      </p:sp>
      <p:sp>
        <p:nvSpPr>
          <p:cNvPr id="28" name="Text 26"/>
          <p:cNvSpPr/>
          <p:nvPr/>
        </p:nvSpPr>
        <p:spPr>
          <a:xfrm>
            <a:off x="2688336" y="3218688"/>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Para el Alcalde: 4 decisiones</a:t>
            </a:r>
            <a:endParaRPr lang="en-US" sz="880" dirty="0"/>
          </a:p>
        </p:txBody>
      </p:sp>
      <p:sp>
        <p:nvSpPr>
          <p:cNvPr id="29" name="Text 27"/>
          <p:cNvSpPr/>
          <p:nvPr/>
        </p:nvSpPr>
        <p:spPr>
          <a:xfrm>
            <a:off x="2688336" y="3511296"/>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Hoja de ruta: 3 horizontes</a:t>
            </a:r>
            <a:endParaRPr lang="en-US" sz="880" dirty="0"/>
          </a:p>
        </p:txBody>
      </p:sp>
      <p:sp>
        <p:nvSpPr>
          <p:cNvPr id="30" name="Text 28"/>
          <p:cNvSpPr/>
          <p:nvPr/>
        </p:nvSpPr>
        <p:spPr>
          <a:xfrm>
            <a:off x="2688336" y="380390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Sistema M&amp;E: 5 niveles</a:t>
            </a:r>
            <a:endParaRPr lang="en-US" sz="880" dirty="0"/>
          </a:p>
        </p:txBody>
      </p:sp>
      <p:sp>
        <p:nvSpPr>
          <p:cNvPr id="31" name="Text 29"/>
          <p:cNvSpPr/>
          <p:nvPr/>
        </p:nvSpPr>
        <p:spPr>
          <a:xfrm>
            <a:off x="2688336" y="409651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10 indicadores de seguimiento</a:t>
            </a:r>
            <a:endParaRPr lang="en-US" sz="880" dirty="0"/>
          </a:p>
        </p:txBody>
      </p:sp>
      <p:sp>
        <p:nvSpPr>
          <p:cNvPr id="32" name="Shape 30"/>
          <p:cNvSpPr/>
          <p:nvPr/>
        </p:nvSpPr>
        <p:spPr>
          <a:xfrm>
            <a:off x="4882896" y="960120"/>
            <a:ext cx="2048256" cy="3977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3" name="Shape 31"/>
          <p:cNvSpPr/>
          <p:nvPr/>
        </p:nvSpPr>
        <p:spPr>
          <a:xfrm>
            <a:off x="4882896" y="960120"/>
            <a:ext cx="2048256" cy="59436"/>
          </a:xfrm>
          <a:prstGeom prst="rect">
            <a:avLst/>
          </a:prstGeom>
          <a:solidFill>
            <a:srgbClr val="1A6B42"/>
          </a:solidFill>
          <a:ln/>
        </p:spPr>
      </p:sp>
      <p:sp>
        <p:nvSpPr>
          <p:cNvPr id="34" name="Text 32"/>
          <p:cNvSpPr/>
          <p:nvPr/>
        </p:nvSpPr>
        <p:spPr>
          <a:xfrm>
            <a:off x="4882896" y="1005840"/>
            <a:ext cx="2048256" cy="658368"/>
          </a:xfrm>
          <a:prstGeom prst="rect">
            <a:avLst/>
          </a:prstGeom>
          <a:noFill/>
          <a:ln/>
        </p:spPr>
        <p:txBody>
          <a:bodyPr wrap="square" lIns="0" tIns="0" rIns="0" bIns="0" rtlCol="0" anchor="ctr"/>
          <a:lstStyle/>
          <a:p>
            <a:pPr algn="ctr" indent="0" marL="0">
              <a:buNone/>
            </a:pPr>
            <a:r>
              <a:rPr lang="en-US" sz="3400" b="1" dirty="0">
                <a:solidFill>
                  <a:srgbClr val="1A6B42"/>
                </a:solidFill>
                <a:latin typeface="Georgia" pitchFamily="34" charset="0"/>
                <a:ea typeface="Georgia" pitchFamily="34" charset="-122"/>
                <a:cs typeface="Georgia" pitchFamily="34" charset="-120"/>
              </a:rPr>
              <a:t>03</a:t>
            </a:r>
            <a:endParaRPr lang="en-US" sz="3400" dirty="0"/>
          </a:p>
        </p:txBody>
      </p:sp>
      <p:sp>
        <p:nvSpPr>
          <p:cNvPr id="35" name="Shape 33"/>
          <p:cNvSpPr/>
          <p:nvPr/>
        </p:nvSpPr>
        <p:spPr>
          <a:xfrm>
            <a:off x="5020056" y="1700784"/>
            <a:ext cx="1783080" cy="36576"/>
          </a:xfrm>
          <a:prstGeom prst="rect">
            <a:avLst/>
          </a:prstGeom>
          <a:solidFill>
            <a:srgbClr val="1A6B42">
              <a:alpha val="45000"/>
            </a:srgbClr>
          </a:solidFill>
          <a:ln/>
        </p:spPr>
      </p:sp>
      <p:sp>
        <p:nvSpPr>
          <p:cNvPr id="36" name="Text 34"/>
          <p:cNvSpPr/>
          <p:nvPr/>
        </p:nvSpPr>
        <p:spPr>
          <a:xfrm>
            <a:off x="4974336" y="1764792"/>
            <a:ext cx="1865376" cy="502920"/>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Avance de</a:t>
            </a:r>
            <a:endParaRPr lang="en-US" sz="1050" dirty="0"/>
          </a:p>
          <a:p>
            <a:pPr algn="ctr" indent="0" marL="0">
              <a:buNone/>
            </a:pPr>
            <a:r>
              <a:rPr lang="en-US" sz="1050" b="1" dirty="0">
                <a:solidFill>
                  <a:srgbClr val="1F3864"/>
                </a:solidFill>
                <a:latin typeface="Georgia" pitchFamily="34" charset="0"/>
                <a:ea typeface="Georgia" pitchFamily="34" charset="-122"/>
                <a:cs typeface="Georgia" pitchFamily="34" charset="-120"/>
              </a:rPr>
              <a:t>proceso</a:t>
            </a:r>
            <a:endParaRPr lang="en-US" sz="1050" dirty="0"/>
          </a:p>
        </p:txBody>
      </p:sp>
      <p:sp>
        <p:nvSpPr>
          <p:cNvPr id="37" name="Text 35"/>
          <p:cNvSpPr/>
          <p:nvPr/>
        </p:nvSpPr>
        <p:spPr>
          <a:xfrm>
            <a:off x="4992624" y="234086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9.ª Cuota de consultoría</a:t>
            </a:r>
            <a:endParaRPr lang="en-US" sz="880" dirty="0"/>
          </a:p>
        </p:txBody>
      </p:sp>
      <p:sp>
        <p:nvSpPr>
          <p:cNvPr id="38" name="Text 36"/>
          <p:cNvSpPr/>
          <p:nvPr/>
        </p:nvSpPr>
        <p:spPr>
          <a:xfrm>
            <a:off x="4992624" y="263347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Actividades ejecutadas</a:t>
            </a:r>
            <a:endParaRPr lang="en-US" sz="880" dirty="0"/>
          </a:p>
        </p:txBody>
      </p:sp>
      <p:sp>
        <p:nvSpPr>
          <p:cNvPr id="39" name="Text 37"/>
          <p:cNvSpPr/>
          <p:nvPr/>
        </p:nvSpPr>
        <p:spPr>
          <a:xfrm>
            <a:off x="4992624" y="2926080"/>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Gestión · Técnica · Participación</a:t>
            </a:r>
            <a:endParaRPr lang="en-US" sz="880" dirty="0"/>
          </a:p>
        </p:txBody>
      </p:sp>
      <p:sp>
        <p:nvSpPr>
          <p:cNvPr id="40" name="Text 38"/>
          <p:cNvSpPr/>
          <p:nvPr/>
        </p:nvSpPr>
        <p:spPr>
          <a:xfrm>
            <a:off x="4992624" y="3218688"/>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Métricas acumuladas del proceso</a:t>
            </a:r>
            <a:endParaRPr lang="en-US" sz="880" dirty="0"/>
          </a:p>
        </p:txBody>
      </p:sp>
      <p:sp>
        <p:nvSpPr>
          <p:cNvPr id="41" name="Shape 39"/>
          <p:cNvSpPr/>
          <p:nvPr/>
        </p:nvSpPr>
        <p:spPr>
          <a:xfrm>
            <a:off x="6912864" y="960120"/>
            <a:ext cx="2048256" cy="3977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2" name="Shape 40"/>
          <p:cNvSpPr/>
          <p:nvPr/>
        </p:nvSpPr>
        <p:spPr>
          <a:xfrm>
            <a:off x="6912864" y="960120"/>
            <a:ext cx="2048256" cy="59436"/>
          </a:xfrm>
          <a:prstGeom prst="rect">
            <a:avLst/>
          </a:prstGeom>
          <a:solidFill>
            <a:srgbClr val="C9A84C"/>
          </a:solidFill>
          <a:ln/>
        </p:spPr>
      </p:sp>
      <p:sp>
        <p:nvSpPr>
          <p:cNvPr id="43" name="Text 41"/>
          <p:cNvSpPr/>
          <p:nvPr/>
        </p:nvSpPr>
        <p:spPr>
          <a:xfrm>
            <a:off x="6912864" y="1005840"/>
            <a:ext cx="2048256" cy="658368"/>
          </a:xfrm>
          <a:prstGeom prst="rect">
            <a:avLst/>
          </a:prstGeom>
          <a:noFill/>
          <a:ln/>
        </p:spPr>
        <p:txBody>
          <a:bodyPr wrap="square" lIns="0" tIns="0" rIns="0" bIns="0" rtlCol="0" anchor="ctr"/>
          <a:lstStyle/>
          <a:p>
            <a:pPr algn="ctr" indent="0" marL="0">
              <a:buNone/>
            </a:pPr>
            <a:r>
              <a:rPr lang="en-US" sz="3400" b="1" dirty="0">
                <a:solidFill>
                  <a:srgbClr val="C9A84C"/>
                </a:solidFill>
                <a:latin typeface="Georgia" pitchFamily="34" charset="0"/>
                <a:ea typeface="Georgia" pitchFamily="34" charset="-122"/>
                <a:cs typeface="Georgia" pitchFamily="34" charset="-120"/>
              </a:rPr>
              <a:t>04</a:t>
            </a:r>
            <a:endParaRPr lang="en-US" sz="3400" dirty="0"/>
          </a:p>
        </p:txBody>
      </p:sp>
      <p:sp>
        <p:nvSpPr>
          <p:cNvPr id="44" name="Shape 42"/>
          <p:cNvSpPr/>
          <p:nvPr/>
        </p:nvSpPr>
        <p:spPr>
          <a:xfrm>
            <a:off x="7050024" y="1700784"/>
            <a:ext cx="1783080" cy="36576"/>
          </a:xfrm>
          <a:prstGeom prst="rect">
            <a:avLst/>
          </a:prstGeom>
          <a:solidFill>
            <a:srgbClr val="C9A84C">
              <a:alpha val="45000"/>
            </a:srgbClr>
          </a:solidFill>
          <a:ln/>
        </p:spPr>
      </p:sp>
      <p:sp>
        <p:nvSpPr>
          <p:cNvPr id="45" name="Text 43"/>
          <p:cNvSpPr/>
          <p:nvPr/>
        </p:nvSpPr>
        <p:spPr>
          <a:xfrm>
            <a:off x="7004304" y="1764792"/>
            <a:ext cx="1865376" cy="502920"/>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Conclusión y</a:t>
            </a:r>
            <a:endParaRPr lang="en-US" sz="1050" dirty="0"/>
          </a:p>
          <a:p>
            <a:pPr algn="ctr" indent="0" marL="0">
              <a:buNone/>
            </a:pPr>
            <a:r>
              <a:rPr lang="en-US" sz="1050" b="1" dirty="0">
                <a:solidFill>
                  <a:srgbClr val="1F3864"/>
                </a:solidFill>
                <a:latin typeface="Georgia" pitchFamily="34" charset="0"/>
                <a:ea typeface="Georgia" pitchFamily="34" charset="-122"/>
                <a:cs typeface="Georgia" pitchFamily="34" charset="-120"/>
              </a:rPr>
              <a:t>compromiso</a:t>
            </a:r>
            <a:endParaRPr lang="en-US" sz="1050" dirty="0"/>
          </a:p>
        </p:txBody>
      </p:sp>
      <p:sp>
        <p:nvSpPr>
          <p:cNvPr id="46" name="Text 44"/>
          <p:cNvSpPr/>
          <p:nvPr/>
        </p:nvSpPr>
        <p:spPr>
          <a:xfrm>
            <a:off x="7022592" y="2340864"/>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El compromiso final</a:t>
            </a:r>
            <a:endParaRPr lang="en-US" sz="880" dirty="0"/>
          </a:p>
        </p:txBody>
      </p:sp>
      <p:sp>
        <p:nvSpPr>
          <p:cNvPr id="47" name="Text 45"/>
          <p:cNvSpPr/>
          <p:nvPr/>
        </p:nvSpPr>
        <p:spPr>
          <a:xfrm>
            <a:off x="7022592" y="2633472"/>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La arquitectura que Rengo necesita</a:t>
            </a:r>
            <a:endParaRPr lang="en-US" sz="880" dirty="0"/>
          </a:p>
        </p:txBody>
      </p:sp>
      <p:sp>
        <p:nvSpPr>
          <p:cNvPr id="48" name="Text 46"/>
          <p:cNvSpPr/>
          <p:nvPr/>
        </p:nvSpPr>
        <p:spPr>
          <a:xfrm>
            <a:off x="7022592" y="2926080"/>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Llamado a la decisión estratégica</a:t>
            </a:r>
            <a:endParaRPr lang="en-US" sz="880" dirty="0"/>
          </a:p>
        </p:txBody>
      </p:sp>
      <p:sp>
        <p:nvSpPr>
          <p:cNvPr id="49" name="Text 47"/>
          <p:cNvSpPr/>
          <p:nvPr/>
        </p:nvSpPr>
        <p:spPr>
          <a:xfrm>
            <a:off x="7022592" y="3218688"/>
            <a:ext cx="1828800" cy="274320"/>
          </a:xfrm>
          <a:prstGeom prst="rect">
            <a:avLst/>
          </a:prstGeom>
          <a:noFill/>
          <a:ln/>
        </p:spPr>
        <p:txBody>
          <a:bodyPr wrap="square" rtlCol="0" anchor="t"/>
          <a:lstStyle/>
          <a:p>
            <a:pPr indent="0" marL="0">
              <a:buNone/>
            </a:pPr>
            <a:r>
              <a:rPr lang="en-US" sz="880" dirty="0">
                <a:solidFill>
                  <a:srgbClr val="64748B"/>
                </a:solidFill>
                <a:latin typeface="Calibri" pitchFamily="34" charset="0"/>
                <a:ea typeface="Calibri" pitchFamily="34" charset="-122"/>
                <a:cs typeface="Calibri" pitchFamily="34" charset="-120"/>
              </a:rPr>
              <a:t>→  Fuentes y metodología documentada</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Shape 1"/>
          <p:cNvSpPr/>
          <p:nvPr/>
        </p:nvSpPr>
        <p:spPr>
          <a:xfrm>
            <a:off x="0" y="5079492"/>
            <a:ext cx="9144000" cy="64008"/>
          </a:xfrm>
          <a:prstGeom prst="rect">
            <a:avLst/>
          </a:prstGeom>
          <a:solidFill>
            <a:srgbClr val="C9A84C"/>
          </a:solidFill>
          <a:ln/>
        </p:spPr>
      </p:sp>
      <p:sp>
        <p:nvSpPr>
          <p:cNvPr id="4" name="Text 2"/>
          <p:cNvSpPr/>
          <p:nvPr/>
        </p:nvSpPr>
        <p:spPr>
          <a:xfrm>
            <a:off x="457200" y="128016"/>
            <a:ext cx="8229600" cy="256032"/>
          </a:xfrm>
          <a:prstGeom prst="rect">
            <a:avLst/>
          </a:prstGeom>
          <a:noFill/>
          <a:ln/>
        </p:spPr>
        <p:txBody>
          <a:bodyPr wrap="square" rtlCol="0" anchor="ctr"/>
          <a:lstStyle/>
          <a:p>
            <a:pPr indent="0" marL="0">
              <a:buNone/>
            </a:pPr>
            <a:r>
              <a:rPr lang="en-US" sz="900" b="1" spc="250" kern="0" dirty="0">
                <a:solidFill>
                  <a:srgbClr val="C9A84C"/>
                </a:solidFill>
                <a:latin typeface="Calibri" pitchFamily="34" charset="0"/>
                <a:ea typeface="Calibri" pitchFamily="34" charset="-122"/>
                <a:cs typeface="Calibri" pitchFamily="34" charset="-120"/>
              </a:rPr>
              <a:t>VISIÓN COMUNAL RENGO 2025–2035</a:t>
            </a:r>
            <a:endParaRPr lang="en-US" sz="900" dirty="0"/>
          </a:p>
        </p:txBody>
      </p:sp>
      <p:sp>
        <p:nvSpPr>
          <p:cNvPr id="5" name="Shape 3"/>
          <p:cNvSpPr/>
          <p:nvPr/>
        </p:nvSpPr>
        <p:spPr>
          <a:xfrm>
            <a:off x="365760" y="475488"/>
            <a:ext cx="8412480" cy="1444752"/>
          </a:xfrm>
          <a:prstGeom prst="rect">
            <a:avLst/>
          </a:prstGeom>
          <a:solidFill>
            <a:srgbClr val="162850"/>
          </a:solidFill>
          <a:ln/>
          <a:effectLst>
            <a:outerShdw sx="100000" sy="100000" kx="0" ky="0" algn="bl" rotWithShape="0" blurRad="88900" dist="38100" dir="8100000">
              <a:srgbClr val="000000">
                <a:alpha val="10000"/>
              </a:srgbClr>
            </a:outerShdw>
          </a:effectLst>
        </p:spPr>
      </p:sp>
      <p:sp>
        <p:nvSpPr>
          <p:cNvPr id="6" name="Shape 4"/>
          <p:cNvSpPr/>
          <p:nvPr/>
        </p:nvSpPr>
        <p:spPr>
          <a:xfrm>
            <a:off x="365760" y="475488"/>
            <a:ext cx="109728" cy="1444752"/>
          </a:xfrm>
          <a:prstGeom prst="rect">
            <a:avLst/>
          </a:prstGeom>
          <a:solidFill>
            <a:srgbClr val="C9A84C"/>
          </a:solidFill>
          <a:ln/>
        </p:spPr>
      </p:sp>
      <p:sp>
        <p:nvSpPr>
          <p:cNvPr id="7" name="Text 5"/>
          <p:cNvSpPr/>
          <p:nvPr/>
        </p:nvSpPr>
        <p:spPr>
          <a:xfrm>
            <a:off x="640080" y="566928"/>
            <a:ext cx="8001000" cy="1261872"/>
          </a:xfrm>
          <a:prstGeom prst="rect">
            <a:avLst/>
          </a:prstGeom>
          <a:noFill/>
          <a:ln/>
        </p:spPr>
        <p:txBody>
          <a:bodyPr wrap="square" rtlCol="0" anchor="ctr"/>
          <a:lstStyle/>
          <a:p>
            <a:pPr algn="just" indent="0" marL="0">
              <a:buNone/>
            </a:pPr>
            <a:r>
              <a:rPr lang="en-US" sz="1350" i="1" dirty="0">
                <a:solidFill>
                  <a:srgbClr val="FFFFFF"/>
                </a:solidFill>
                <a:latin typeface="Georgia" pitchFamily="34" charset="0"/>
                <a:ea typeface="Georgia" pitchFamily="34" charset="-122"/>
                <a:cs typeface="Georgia" pitchFamily="34" charset="-120"/>
              </a:rPr>
              <a:t>“Al 2035, Rengo es una ciudad segura, inclusiva y próspera — polo de desarrollo de la Provincia de Cachapoal — con servicios de calidad, gestión municipal transparente y bienestar efectivo para todos sus habitantes, desde el centro urbano hasta el último sector rural de la comuna.”</a:t>
            </a:r>
            <a:endParaRPr lang="en-US" sz="1350" dirty="0"/>
          </a:p>
        </p:txBody>
      </p:sp>
      <p:sp>
        <p:nvSpPr>
          <p:cNvPr id="8" name="Shape 6"/>
          <p:cNvSpPr/>
          <p:nvPr/>
        </p:nvSpPr>
        <p:spPr>
          <a:xfrm>
            <a:off x="365760" y="2057400"/>
            <a:ext cx="2688336" cy="2423160"/>
          </a:xfrm>
          <a:prstGeom prst="rect">
            <a:avLst/>
          </a:prstGeom>
          <a:solidFill>
            <a:srgbClr val="162850"/>
          </a:solidFill>
          <a:ln/>
          <a:effectLst>
            <a:outerShdw sx="100000" sy="100000" kx="0" ky="0" algn="bl" rotWithShape="0" blurRad="88900" dist="38100" dir="8100000">
              <a:srgbClr val="000000">
                <a:alpha val="10000"/>
              </a:srgbClr>
            </a:outerShdw>
          </a:effectLst>
        </p:spPr>
      </p:sp>
      <p:sp>
        <p:nvSpPr>
          <p:cNvPr id="9" name="Shape 7"/>
          <p:cNvSpPr/>
          <p:nvPr/>
        </p:nvSpPr>
        <p:spPr>
          <a:xfrm>
            <a:off x="365760" y="2057400"/>
            <a:ext cx="2688336" cy="59436"/>
          </a:xfrm>
          <a:prstGeom prst="rect">
            <a:avLst/>
          </a:prstGeom>
          <a:solidFill>
            <a:srgbClr val="B83232"/>
          </a:solidFill>
          <a:ln/>
        </p:spPr>
      </p:sp>
      <p:sp>
        <p:nvSpPr>
          <p:cNvPr id="10" name="Shape 8"/>
          <p:cNvSpPr/>
          <p:nvPr/>
        </p:nvSpPr>
        <p:spPr>
          <a:xfrm>
            <a:off x="1389888" y="2112264"/>
            <a:ext cx="640080" cy="640080"/>
          </a:xfrm>
          <a:prstGeom prst="oval">
            <a:avLst/>
          </a:prstGeom>
          <a:solidFill>
            <a:srgbClr val="B83232"/>
          </a:solidFill>
          <a:ln/>
        </p:spPr>
      </p:sp>
      <p:sp>
        <p:nvSpPr>
          <p:cNvPr id="11" name="Text 9"/>
          <p:cNvSpPr/>
          <p:nvPr/>
        </p:nvSpPr>
        <p:spPr>
          <a:xfrm>
            <a:off x="1389888" y="2112264"/>
            <a:ext cx="640080" cy="6400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a:t>
            </a:r>
            <a:endParaRPr lang="en-US" sz="1400" dirty="0"/>
          </a:p>
        </p:txBody>
      </p:sp>
      <p:sp>
        <p:nvSpPr>
          <p:cNvPr id="12" name="Text 10"/>
          <p:cNvSpPr/>
          <p:nvPr/>
        </p:nvSpPr>
        <p:spPr>
          <a:xfrm>
            <a:off x="457200" y="2834640"/>
            <a:ext cx="2505456" cy="502920"/>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Territorio Seguro</a:t>
            </a:r>
            <a:endParaRPr lang="en-US" sz="1050" dirty="0"/>
          </a:p>
          <a:p>
            <a:pPr algn="ctr" indent="0" marL="0">
              <a:buNone/>
            </a:pPr>
            <a:r>
              <a:rPr lang="en-US" sz="1050" b="1" dirty="0">
                <a:solidFill>
                  <a:srgbClr val="FFFFFF"/>
                </a:solidFill>
                <a:latin typeface="Georgia" pitchFamily="34" charset="0"/>
                <a:ea typeface="Georgia" pitchFamily="34" charset="-122"/>
                <a:cs typeface="Georgia" pitchFamily="34" charset="-120"/>
              </a:rPr>
              <a:t>e Inclusivo</a:t>
            </a:r>
            <a:endParaRPr lang="en-US" sz="1050" dirty="0"/>
          </a:p>
        </p:txBody>
      </p:sp>
      <p:sp>
        <p:nvSpPr>
          <p:cNvPr id="13" name="Shape 11"/>
          <p:cNvSpPr/>
          <p:nvPr/>
        </p:nvSpPr>
        <p:spPr>
          <a:xfrm>
            <a:off x="548640" y="3364992"/>
            <a:ext cx="2322576" cy="36576"/>
          </a:xfrm>
          <a:prstGeom prst="rect">
            <a:avLst/>
          </a:prstGeom>
          <a:solidFill>
            <a:srgbClr val="B83232">
              <a:alpha val="50000"/>
            </a:srgbClr>
          </a:solidFill>
          <a:ln/>
        </p:spPr>
      </p:sp>
      <p:sp>
        <p:nvSpPr>
          <p:cNvPr id="14" name="Shape 12"/>
          <p:cNvSpPr/>
          <p:nvPr/>
        </p:nvSpPr>
        <p:spPr>
          <a:xfrm>
            <a:off x="566928" y="3493008"/>
            <a:ext cx="82296" cy="82296"/>
          </a:xfrm>
          <a:prstGeom prst="rect">
            <a:avLst/>
          </a:prstGeom>
          <a:solidFill>
            <a:srgbClr val="B83232"/>
          </a:solidFill>
          <a:ln/>
        </p:spPr>
      </p:sp>
      <p:sp>
        <p:nvSpPr>
          <p:cNvPr id="15" name="Text 13"/>
          <p:cNvSpPr/>
          <p:nvPr/>
        </p:nvSpPr>
        <p:spPr>
          <a:xfrm>
            <a:off x="713232" y="3447288"/>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Seguridad pública: NNA inseguros &lt;25%</a:t>
            </a:r>
            <a:endParaRPr lang="en-US" sz="880" dirty="0"/>
          </a:p>
        </p:txBody>
      </p:sp>
      <p:sp>
        <p:nvSpPr>
          <p:cNvPr id="16" name="Shape 14"/>
          <p:cNvSpPr/>
          <p:nvPr/>
        </p:nvSpPr>
        <p:spPr>
          <a:xfrm>
            <a:off x="566928" y="3749040"/>
            <a:ext cx="82296" cy="82296"/>
          </a:xfrm>
          <a:prstGeom prst="rect">
            <a:avLst/>
          </a:prstGeom>
          <a:solidFill>
            <a:srgbClr val="B83232"/>
          </a:solidFill>
          <a:ln/>
        </p:spPr>
      </p:sp>
      <p:sp>
        <p:nvSpPr>
          <p:cNvPr id="17" name="Text 15"/>
          <p:cNvSpPr/>
          <p:nvPr/>
        </p:nvSpPr>
        <p:spPr>
          <a:xfrm>
            <a:off x="713232" y="3703320"/>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Protección AM, PcD y NNA en riesgo</a:t>
            </a:r>
            <a:endParaRPr lang="en-US" sz="880" dirty="0"/>
          </a:p>
        </p:txBody>
      </p:sp>
      <p:sp>
        <p:nvSpPr>
          <p:cNvPr id="18" name="Shape 16"/>
          <p:cNvSpPr/>
          <p:nvPr/>
        </p:nvSpPr>
        <p:spPr>
          <a:xfrm>
            <a:off x="566928" y="4005072"/>
            <a:ext cx="82296" cy="82296"/>
          </a:xfrm>
          <a:prstGeom prst="rect">
            <a:avLst/>
          </a:prstGeom>
          <a:solidFill>
            <a:srgbClr val="B83232"/>
          </a:solidFill>
          <a:ln/>
        </p:spPr>
      </p:sp>
      <p:sp>
        <p:nvSpPr>
          <p:cNvPr id="19" name="Text 17"/>
          <p:cNvSpPr/>
          <p:nvPr/>
        </p:nvSpPr>
        <p:spPr>
          <a:xfrm>
            <a:off x="713232" y="3959352"/>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Salud y bienestar social territorial</a:t>
            </a:r>
            <a:endParaRPr lang="en-US" sz="880" dirty="0"/>
          </a:p>
        </p:txBody>
      </p:sp>
      <p:sp>
        <p:nvSpPr>
          <p:cNvPr id="20" name="Shape 18"/>
          <p:cNvSpPr/>
          <p:nvPr/>
        </p:nvSpPr>
        <p:spPr>
          <a:xfrm>
            <a:off x="566928" y="4261104"/>
            <a:ext cx="82296" cy="82296"/>
          </a:xfrm>
          <a:prstGeom prst="rect">
            <a:avLst/>
          </a:prstGeom>
          <a:solidFill>
            <a:srgbClr val="B83232"/>
          </a:solidFill>
          <a:ln/>
        </p:spPr>
      </p:sp>
      <p:sp>
        <p:nvSpPr>
          <p:cNvPr id="21" name="Text 19"/>
          <p:cNvSpPr/>
          <p:nvPr/>
        </p:nvSpPr>
        <p:spPr>
          <a:xfrm>
            <a:off x="713232" y="4215384"/>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Prevención temprana del delito y VIF</a:t>
            </a:r>
            <a:endParaRPr lang="en-US" sz="880" dirty="0"/>
          </a:p>
        </p:txBody>
      </p:sp>
      <p:sp>
        <p:nvSpPr>
          <p:cNvPr id="22" name="Shape 20"/>
          <p:cNvSpPr/>
          <p:nvPr/>
        </p:nvSpPr>
        <p:spPr>
          <a:xfrm>
            <a:off x="3182112" y="2057400"/>
            <a:ext cx="2688336" cy="2423160"/>
          </a:xfrm>
          <a:prstGeom prst="rect">
            <a:avLst/>
          </a:prstGeom>
          <a:solidFill>
            <a:srgbClr val="162850"/>
          </a:solidFill>
          <a:ln/>
          <a:effectLst>
            <a:outerShdw sx="100000" sy="100000" kx="0" ky="0" algn="bl" rotWithShape="0" blurRad="88900" dist="38100" dir="8100000">
              <a:srgbClr val="000000">
                <a:alpha val="10000"/>
              </a:srgbClr>
            </a:outerShdw>
          </a:effectLst>
        </p:spPr>
      </p:sp>
      <p:sp>
        <p:nvSpPr>
          <p:cNvPr id="23" name="Shape 21"/>
          <p:cNvSpPr/>
          <p:nvPr/>
        </p:nvSpPr>
        <p:spPr>
          <a:xfrm>
            <a:off x="3182112" y="2057400"/>
            <a:ext cx="2688336" cy="59436"/>
          </a:xfrm>
          <a:prstGeom prst="rect">
            <a:avLst/>
          </a:prstGeom>
          <a:solidFill>
            <a:srgbClr val="1A6B42"/>
          </a:solidFill>
          <a:ln/>
        </p:spPr>
      </p:sp>
      <p:sp>
        <p:nvSpPr>
          <p:cNvPr id="24" name="Shape 22"/>
          <p:cNvSpPr/>
          <p:nvPr/>
        </p:nvSpPr>
        <p:spPr>
          <a:xfrm>
            <a:off x="4206240" y="2112264"/>
            <a:ext cx="640080" cy="640080"/>
          </a:xfrm>
          <a:prstGeom prst="oval">
            <a:avLst/>
          </a:prstGeom>
          <a:solidFill>
            <a:srgbClr val="1A6B42"/>
          </a:solidFill>
          <a:ln/>
        </p:spPr>
      </p:sp>
      <p:sp>
        <p:nvSpPr>
          <p:cNvPr id="25" name="Text 23"/>
          <p:cNvSpPr/>
          <p:nvPr/>
        </p:nvSpPr>
        <p:spPr>
          <a:xfrm>
            <a:off x="4206240" y="2112264"/>
            <a:ext cx="640080" cy="6400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II</a:t>
            </a:r>
            <a:endParaRPr lang="en-US" sz="1400" dirty="0"/>
          </a:p>
        </p:txBody>
      </p:sp>
      <p:sp>
        <p:nvSpPr>
          <p:cNvPr id="26" name="Text 24"/>
          <p:cNvSpPr/>
          <p:nvPr/>
        </p:nvSpPr>
        <p:spPr>
          <a:xfrm>
            <a:off x="3273552" y="2834640"/>
            <a:ext cx="2505456" cy="502920"/>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Economía y</a:t>
            </a:r>
            <a:endParaRPr lang="en-US" sz="1050" dirty="0"/>
          </a:p>
          <a:p>
            <a:pPr algn="ctr" indent="0" marL="0">
              <a:buNone/>
            </a:pPr>
            <a:r>
              <a:rPr lang="en-US" sz="1050" b="1" dirty="0">
                <a:solidFill>
                  <a:srgbClr val="FFFFFF"/>
                </a:solidFill>
                <a:latin typeface="Georgia" pitchFamily="34" charset="0"/>
                <a:ea typeface="Georgia" pitchFamily="34" charset="-122"/>
                <a:cs typeface="Georgia" pitchFamily="34" charset="-120"/>
              </a:rPr>
              <a:t>Desarrollo Sostenible</a:t>
            </a:r>
            <a:endParaRPr lang="en-US" sz="1050" dirty="0"/>
          </a:p>
        </p:txBody>
      </p:sp>
      <p:sp>
        <p:nvSpPr>
          <p:cNvPr id="27" name="Shape 25"/>
          <p:cNvSpPr/>
          <p:nvPr/>
        </p:nvSpPr>
        <p:spPr>
          <a:xfrm>
            <a:off x="3364992" y="3364992"/>
            <a:ext cx="2322576" cy="36576"/>
          </a:xfrm>
          <a:prstGeom prst="rect">
            <a:avLst/>
          </a:prstGeom>
          <a:solidFill>
            <a:srgbClr val="1A6B42">
              <a:alpha val="50000"/>
            </a:srgbClr>
          </a:solidFill>
          <a:ln/>
        </p:spPr>
      </p:sp>
      <p:sp>
        <p:nvSpPr>
          <p:cNvPr id="28" name="Shape 26"/>
          <p:cNvSpPr/>
          <p:nvPr/>
        </p:nvSpPr>
        <p:spPr>
          <a:xfrm>
            <a:off x="3383280" y="3493008"/>
            <a:ext cx="82296" cy="82296"/>
          </a:xfrm>
          <a:prstGeom prst="rect">
            <a:avLst/>
          </a:prstGeom>
          <a:solidFill>
            <a:srgbClr val="1A6B42"/>
          </a:solidFill>
          <a:ln/>
        </p:spPr>
      </p:sp>
      <p:sp>
        <p:nvSpPr>
          <p:cNvPr id="29" name="Text 27"/>
          <p:cNvSpPr/>
          <p:nvPr/>
        </p:nvSpPr>
        <p:spPr>
          <a:xfrm>
            <a:off x="3529584" y="3447288"/>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4.829 empresas: base productiva líder</a:t>
            </a:r>
            <a:endParaRPr lang="en-US" sz="880" dirty="0"/>
          </a:p>
        </p:txBody>
      </p:sp>
      <p:sp>
        <p:nvSpPr>
          <p:cNvPr id="30" name="Shape 28"/>
          <p:cNvSpPr/>
          <p:nvPr/>
        </p:nvSpPr>
        <p:spPr>
          <a:xfrm>
            <a:off x="3383280" y="3749040"/>
            <a:ext cx="82296" cy="82296"/>
          </a:xfrm>
          <a:prstGeom prst="rect">
            <a:avLst/>
          </a:prstGeom>
          <a:solidFill>
            <a:srgbClr val="1A6B42"/>
          </a:solidFill>
          <a:ln/>
        </p:spPr>
      </p:sp>
      <p:sp>
        <p:nvSpPr>
          <p:cNvPr id="31" name="Text 29"/>
          <p:cNvSpPr/>
          <p:nvPr/>
        </p:nvSpPr>
        <p:spPr>
          <a:xfrm>
            <a:off x="3529584" y="3703320"/>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Turismo enológico Valle Apalta</a:t>
            </a:r>
            <a:endParaRPr lang="en-US" sz="880" dirty="0"/>
          </a:p>
        </p:txBody>
      </p:sp>
      <p:sp>
        <p:nvSpPr>
          <p:cNvPr id="32" name="Shape 30"/>
          <p:cNvSpPr/>
          <p:nvPr/>
        </p:nvSpPr>
        <p:spPr>
          <a:xfrm>
            <a:off x="3383280" y="4005072"/>
            <a:ext cx="82296" cy="82296"/>
          </a:xfrm>
          <a:prstGeom prst="rect">
            <a:avLst/>
          </a:prstGeom>
          <a:solidFill>
            <a:srgbClr val="1A6B42"/>
          </a:solidFill>
          <a:ln/>
        </p:spPr>
      </p:sp>
      <p:sp>
        <p:nvSpPr>
          <p:cNvPr id="33" name="Text 31"/>
          <p:cNvSpPr/>
          <p:nvPr/>
        </p:nvSpPr>
        <p:spPr>
          <a:xfrm>
            <a:off x="3529584" y="3959352"/>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Agricultura sustentable – PACCC activo</a:t>
            </a:r>
            <a:endParaRPr lang="en-US" sz="880" dirty="0"/>
          </a:p>
        </p:txBody>
      </p:sp>
      <p:sp>
        <p:nvSpPr>
          <p:cNvPr id="34" name="Shape 32"/>
          <p:cNvSpPr/>
          <p:nvPr/>
        </p:nvSpPr>
        <p:spPr>
          <a:xfrm>
            <a:off x="3383280" y="4261104"/>
            <a:ext cx="82296" cy="82296"/>
          </a:xfrm>
          <a:prstGeom prst="rect">
            <a:avLst/>
          </a:prstGeom>
          <a:solidFill>
            <a:srgbClr val="1A6B42"/>
          </a:solidFill>
          <a:ln/>
        </p:spPr>
      </p:sp>
      <p:sp>
        <p:nvSpPr>
          <p:cNvPr id="35" name="Text 33"/>
          <p:cNvSpPr/>
          <p:nvPr/>
        </p:nvSpPr>
        <p:spPr>
          <a:xfrm>
            <a:off x="3529584" y="4215384"/>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Emprendimiento, OMIL y reconversión laboral</a:t>
            </a:r>
            <a:endParaRPr lang="en-US" sz="880" dirty="0"/>
          </a:p>
        </p:txBody>
      </p:sp>
      <p:sp>
        <p:nvSpPr>
          <p:cNvPr id="36" name="Shape 34"/>
          <p:cNvSpPr/>
          <p:nvPr/>
        </p:nvSpPr>
        <p:spPr>
          <a:xfrm>
            <a:off x="5998464" y="2057400"/>
            <a:ext cx="2688336" cy="2423160"/>
          </a:xfrm>
          <a:prstGeom prst="rect">
            <a:avLst/>
          </a:prstGeom>
          <a:solidFill>
            <a:srgbClr val="162850"/>
          </a:solidFill>
          <a:ln/>
          <a:effectLst>
            <a:outerShdw sx="100000" sy="100000" kx="0" ky="0" algn="bl" rotWithShape="0" blurRad="88900" dist="38100" dir="8100000">
              <a:srgbClr val="000000">
                <a:alpha val="10000"/>
              </a:srgbClr>
            </a:outerShdw>
          </a:effectLst>
        </p:spPr>
      </p:sp>
      <p:sp>
        <p:nvSpPr>
          <p:cNvPr id="37" name="Shape 35"/>
          <p:cNvSpPr/>
          <p:nvPr/>
        </p:nvSpPr>
        <p:spPr>
          <a:xfrm>
            <a:off x="5998464" y="2057400"/>
            <a:ext cx="2688336" cy="59436"/>
          </a:xfrm>
          <a:prstGeom prst="rect">
            <a:avLst/>
          </a:prstGeom>
          <a:solidFill>
            <a:srgbClr val="0A6B65"/>
          </a:solidFill>
          <a:ln/>
        </p:spPr>
      </p:sp>
      <p:sp>
        <p:nvSpPr>
          <p:cNvPr id="38" name="Shape 36"/>
          <p:cNvSpPr/>
          <p:nvPr/>
        </p:nvSpPr>
        <p:spPr>
          <a:xfrm>
            <a:off x="7022592" y="2112264"/>
            <a:ext cx="640080" cy="640080"/>
          </a:xfrm>
          <a:prstGeom prst="oval">
            <a:avLst/>
          </a:prstGeom>
          <a:solidFill>
            <a:srgbClr val="0A6B65"/>
          </a:solidFill>
          <a:ln/>
        </p:spPr>
      </p:sp>
      <p:sp>
        <p:nvSpPr>
          <p:cNvPr id="39" name="Text 37"/>
          <p:cNvSpPr/>
          <p:nvPr/>
        </p:nvSpPr>
        <p:spPr>
          <a:xfrm>
            <a:off x="7022592" y="2112264"/>
            <a:ext cx="640080" cy="6400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III</a:t>
            </a:r>
            <a:endParaRPr lang="en-US" sz="1400" dirty="0"/>
          </a:p>
        </p:txBody>
      </p:sp>
      <p:sp>
        <p:nvSpPr>
          <p:cNvPr id="40" name="Text 38"/>
          <p:cNvSpPr/>
          <p:nvPr/>
        </p:nvSpPr>
        <p:spPr>
          <a:xfrm>
            <a:off x="6089904" y="2834640"/>
            <a:ext cx="2505456" cy="502920"/>
          </a:xfrm>
          <a:prstGeom prst="rect">
            <a:avLst/>
          </a:prstGeom>
          <a:noFill/>
          <a:ln/>
        </p:spPr>
        <p:txBody>
          <a:bodyPr wrap="square" rtlCol="0" anchor="ctr"/>
          <a:lstStyle/>
          <a:p>
            <a:pPr algn="ctr" indent="0" marL="0">
              <a:buNone/>
            </a:pPr>
            <a:r>
              <a:rPr lang="en-US" sz="1050" b="1" dirty="0">
                <a:solidFill>
                  <a:srgbClr val="FFFFFF"/>
                </a:solidFill>
                <a:latin typeface="Georgia" pitchFamily="34" charset="0"/>
                <a:ea typeface="Georgia" pitchFamily="34" charset="-122"/>
                <a:cs typeface="Georgia" pitchFamily="34" charset="-120"/>
              </a:rPr>
              <a:t>Gestión Municipal</a:t>
            </a:r>
            <a:endParaRPr lang="en-US" sz="1050" dirty="0"/>
          </a:p>
          <a:p>
            <a:pPr algn="ctr" indent="0" marL="0">
              <a:buNone/>
            </a:pPr>
            <a:r>
              <a:rPr lang="en-US" sz="1050" b="1" dirty="0">
                <a:solidFill>
                  <a:srgbClr val="FFFFFF"/>
                </a:solidFill>
                <a:latin typeface="Georgia" pitchFamily="34" charset="0"/>
                <a:ea typeface="Georgia" pitchFamily="34" charset="-122"/>
                <a:cs typeface="Georgia" pitchFamily="34" charset="-120"/>
              </a:rPr>
              <a:t>de Excelencia</a:t>
            </a:r>
            <a:endParaRPr lang="en-US" sz="1050" dirty="0"/>
          </a:p>
        </p:txBody>
      </p:sp>
      <p:sp>
        <p:nvSpPr>
          <p:cNvPr id="41" name="Shape 39"/>
          <p:cNvSpPr/>
          <p:nvPr/>
        </p:nvSpPr>
        <p:spPr>
          <a:xfrm>
            <a:off x="6181344" y="3364992"/>
            <a:ext cx="2322576" cy="36576"/>
          </a:xfrm>
          <a:prstGeom prst="rect">
            <a:avLst/>
          </a:prstGeom>
          <a:solidFill>
            <a:srgbClr val="0A6B65">
              <a:alpha val="50000"/>
            </a:srgbClr>
          </a:solidFill>
          <a:ln/>
        </p:spPr>
      </p:sp>
      <p:sp>
        <p:nvSpPr>
          <p:cNvPr id="42" name="Shape 40"/>
          <p:cNvSpPr/>
          <p:nvPr/>
        </p:nvSpPr>
        <p:spPr>
          <a:xfrm>
            <a:off x="6199632" y="3493008"/>
            <a:ext cx="82296" cy="82296"/>
          </a:xfrm>
          <a:prstGeom prst="rect">
            <a:avLst/>
          </a:prstGeom>
          <a:solidFill>
            <a:srgbClr val="0A6B65"/>
          </a:solidFill>
          <a:ln/>
        </p:spPr>
      </p:sp>
      <p:sp>
        <p:nvSpPr>
          <p:cNvPr id="43" name="Text 41"/>
          <p:cNvSpPr/>
          <p:nvPr/>
        </p:nvSpPr>
        <p:spPr>
          <a:xfrm>
            <a:off x="6345936" y="3447288"/>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ERP Municipal + unidad de M&amp;E PLADECO</a:t>
            </a:r>
            <a:endParaRPr lang="en-US" sz="880" dirty="0"/>
          </a:p>
        </p:txBody>
      </p:sp>
      <p:sp>
        <p:nvSpPr>
          <p:cNvPr id="44" name="Shape 42"/>
          <p:cNvSpPr/>
          <p:nvPr/>
        </p:nvSpPr>
        <p:spPr>
          <a:xfrm>
            <a:off x="6199632" y="3749040"/>
            <a:ext cx="82296" cy="82296"/>
          </a:xfrm>
          <a:prstGeom prst="rect">
            <a:avLst/>
          </a:prstGeom>
          <a:solidFill>
            <a:srgbClr val="0A6B65"/>
          </a:solidFill>
          <a:ln/>
        </p:spPr>
      </p:sp>
      <p:sp>
        <p:nvSpPr>
          <p:cNvPr id="45" name="Text 43"/>
          <p:cNvSpPr/>
          <p:nvPr/>
        </p:nvSpPr>
        <p:spPr>
          <a:xfrm>
            <a:off x="6345936" y="3703320"/>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Transparencia: meta 99% CPLT al 2028</a:t>
            </a:r>
            <a:endParaRPr lang="en-US" sz="880" dirty="0"/>
          </a:p>
        </p:txBody>
      </p:sp>
      <p:sp>
        <p:nvSpPr>
          <p:cNvPr id="46" name="Shape 44"/>
          <p:cNvSpPr/>
          <p:nvPr/>
        </p:nvSpPr>
        <p:spPr>
          <a:xfrm>
            <a:off x="6199632" y="4005072"/>
            <a:ext cx="82296" cy="82296"/>
          </a:xfrm>
          <a:prstGeom prst="rect">
            <a:avLst/>
          </a:prstGeom>
          <a:solidFill>
            <a:srgbClr val="0A6B65"/>
          </a:solidFill>
          <a:ln/>
        </p:spPr>
      </p:sp>
      <p:sp>
        <p:nvSpPr>
          <p:cNvPr id="47" name="Text 45"/>
          <p:cNvSpPr/>
          <p:nvPr/>
        </p:nvSpPr>
        <p:spPr>
          <a:xfrm>
            <a:off x="6345936" y="3959352"/>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Captación fondos externos ≥13% (2035)</a:t>
            </a:r>
            <a:endParaRPr lang="en-US" sz="880" dirty="0"/>
          </a:p>
        </p:txBody>
      </p:sp>
      <p:sp>
        <p:nvSpPr>
          <p:cNvPr id="48" name="Shape 46"/>
          <p:cNvSpPr/>
          <p:nvPr/>
        </p:nvSpPr>
        <p:spPr>
          <a:xfrm>
            <a:off x="6199632" y="4261104"/>
            <a:ext cx="82296" cy="82296"/>
          </a:xfrm>
          <a:prstGeom prst="rect">
            <a:avLst/>
          </a:prstGeom>
          <a:solidFill>
            <a:srgbClr val="0A6B65"/>
          </a:solidFill>
          <a:ln/>
        </p:spPr>
      </p:sp>
      <p:sp>
        <p:nvSpPr>
          <p:cNvPr id="49" name="Text 47"/>
          <p:cNvSpPr/>
          <p:nvPr/>
        </p:nvSpPr>
        <p:spPr>
          <a:xfrm>
            <a:off x="6345936" y="4215384"/>
            <a:ext cx="2231136" cy="237744"/>
          </a:xfrm>
          <a:prstGeom prst="rect">
            <a:avLst/>
          </a:prstGeom>
          <a:noFill/>
          <a:ln/>
        </p:spPr>
        <p:txBody>
          <a:bodyPr wrap="square" lIns="0" tIns="0" rIns="0" bIns="0" rtlCol="0" anchor="ctr"/>
          <a:lstStyle/>
          <a:p>
            <a:pPr indent="0" marL="0">
              <a:buNone/>
            </a:pPr>
            <a:r>
              <a:rPr lang="en-US" sz="880" dirty="0">
                <a:solidFill>
                  <a:srgbClr val="E8ECF0"/>
                </a:solidFill>
                <a:latin typeface="Calibri" pitchFamily="34" charset="0"/>
                <a:ea typeface="Calibri" pitchFamily="34" charset="-122"/>
                <a:cs typeface="Calibri" pitchFamily="34" charset="-120"/>
              </a:rPr>
              <a:t>Rendición trimestral al Concejo Municipal</a:t>
            </a:r>
            <a:endParaRPr lang="en-US" sz="880" dirty="0"/>
          </a:p>
        </p:txBody>
      </p:sp>
      <p:sp>
        <p:nvSpPr>
          <p:cNvPr id="50" name="Shape 48"/>
          <p:cNvSpPr/>
          <p:nvPr/>
        </p:nvSpPr>
        <p:spPr>
          <a:xfrm>
            <a:off x="365760" y="4636008"/>
            <a:ext cx="8412480" cy="374904"/>
          </a:xfrm>
          <a:prstGeom prst="rect">
            <a:avLst/>
          </a:prstGeom>
          <a:solidFill>
            <a:srgbClr val="C9A84C"/>
          </a:solidFill>
          <a:ln/>
        </p:spPr>
      </p:sp>
      <p:sp>
        <p:nvSpPr>
          <p:cNvPr id="51" name="Text 49"/>
          <p:cNvSpPr/>
          <p:nvPr/>
        </p:nvSpPr>
        <p:spPr>
          <a:xfrm>
            <a:off x="502920" y="4654296"/>
            <a:ext cx="1645920" cy="338328"/>
          </a:xfrm>
          <a:prstGeom prst="rect">
            <a:avLst/>
          </a:prstGeom>
          <a:noFill/>
          <a:ln/>
        </p:spPr>
        <p:txBody>
          <a:bodyPr wrap="square" rtlCol="0" anchor="ctr"/>
          <a:lstStyle/>
          <a:p>
            <a:pPr algn="l" indent="0" marL="0">
              <a:buNone/>
            </a:pPr>
            <a:r>
              <a:rPr lang="en-US" sz="800" b="1" dirty="0">
                <a:solidFill>
                  <a:srgbClr val="1F3864"/>
                </a:solidFill>
                <a:latin typeface="Calibri" pitchFamily="34" charset="0"/>
                <a:ea typeface="Calibri" pitchFamily="34" charset="-122"/>
                <a:cs typeface="Calibri" pitchFamily="34" charset="-120"/>
              </a:rPr>
              <a:t>MISIÓN MUNICIPAL · </a:t>
            </a:r>
            <a:endParaRPr lang="en-US" sz="800" dirty="0"/>
          </a:p>
        </p:txBody>
      </p:sp>
      <p:sp>
        <p:nvSpPr>
          <p:cNvPr id="52" name="Text 50"/>
          <p:cNvSpPr/>
          <p:nvPr/>
        </p:nvSpPr>
        <p:spPr>
          <a:xfrm>
            <a:off x="2057400" y="4654296"/>
            <a:ext cx="6583680" cy="338328"/>
          </a:xfrm>
          <a:prstGeom prst="rect">
            <a:avLst/>
          </a:prstGeom>
          <a:noFill/>
          <a:ln/>
        </p:spPr>
        <p:txBody>
          <a:bodyPr wrap="square" rtlCol="0" anchor="ctr"/>
          <a:lstStyle/>
          <a:p>
            <a:pPr algn="just" indent="0" marL="0">
              <a:buNone/>
            </a:pPr>
            <a:r>
              <a:rPr lang="en-US" sz="850" dirty="0">
                <a:solidFill>
                  <a:srgbClr val="1F3864"/>
                </a:solidFill>
                <a:latin typeface="Calibri" pitchFamily="34" charset="0"/>
                <a:ea typeface="Calibri" pitchFamily="34" charset="-122"/>
                <a:cs typeface="Calibri" pitchFamily="34" charset="-120"/>
              </a:rPr>
              <a:t>La Municipalidad de Rengo impulsa el desarrollo integral y sostenible de la comuna, articulando instituciones, recursos y ciudadanía para reducir brechas territoriales, mejorar la calidad de vida y posicionar a Rengo como referente de gestión pública de excelencia en la Región de O’Higgins.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Metodología: cómo se construyó este diagnóstico</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Cuatro fases de trabajo integradas · 12 fuentes estadísticas oficiales · proceso participativo más amplio de la historia comunal</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798064" cy="354787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798064" cy="59436"/>
          </a:xfrm>
          <a:prstGeom prst="rect">
            <a:avLst/>
          </a:prstGeom>
          <a:solidFill>
            <a:srgbClr val="1F3864"/>
          </a:solidFill>
          <a:ln/>
        </p:spPr>
      </p:sp>
      <p:sp>
        <p:nvSpPr>
          <p:cNvPr id="10" name="Shape 8"/>
          <p:cNvSpPr/>
          <p:nvPr/>
        </p:nvSpPr>
        <p:spPr>
          <a:xfrm>
            <a:off x="1353312" y="1024128"/>
            <a:ext cx="640080" cy="640080"/>
          </a:xfrm>
          <a:prstGeom prst="oval">
            <a:avLst/>
          </a:prstGeom>
          <a:solidFill>
            <a:srgbClr val="1F3864"/>
          </a:solidFill>
          <a:ln/>
        </p:spPr>
      </p:sp>
      <p:sp>
        <p:nvSpPr>
          <p:cNvPr id="11" name="Text 9"/>
          <p:cNvSpPr/>
          <p:nvPr/>
        </p:nvSpPr>
        <p:spPr>
          <a:xfrm>
            <a:off x="1353312" y="1024128"/>
            <a:ext cx="640080" cy="64008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2" name="Text 10"/>
          <p:cNvSpPr/>
          <p:nvPr/>
        </p:nvSpPr>
        <p:spPr>
          <a:xfrm>
            <a:off x="384048" y="1737360"/>
            <a:ext cx="2578608" cy="182880"/>
          </a:xfrm>
          <a:prstGeom prst="rect">
            <a:avLst/>
          </a:prstGeom>
          <a:noFill/>
          <a:ln/>
        </p:spPr>
        <p:txBody>
          <a:bodyPr wrap="square" rtlCol="0" anchor="ctr"/>
          <a:lstStyle/>
          <a:p>
            <a:pPr algn="ctr" indent="0" marL="0">
              <a:buNone/>
            </a:pPr>
            <a:r>
              <a:rPr lang="en-US" sz="800" b="1" spc="100" kern="0" dirty="0">
                <a:solidFill>
                  <a:srgbClr val="1F3864"/>
                </a:solidFill>
                <a:latin typeface="Calibri" pitchFamily="34" charset="0"/>
                <a:ea typeface="Calibri" pitchFamily="34" charset="-122"/>
                <a:cs typeface="Calibri" pitchFamily="34" charset="-120"/>
              </a:rPr>
              <a:t>FASE 1</a:t>
            </a:r>
            <a:endParaRPr lang="en-US" sz="800" dirty="0"/>
          </a:p>
        </p:txBody>
      </p:sp>
      <p:sp>
        <p:nvSpPr>
          <p:cNvPr id="13" name="Text 11"/>
          <p:cNvSpPr/>
          <p:nvPr/>
        </p:nvSpPr>
        <p:spPr>
          <a:xfrm>
            <a:off x="365760" y="1920240"/>
            <a:ext cx="2615184" cy="384048"/>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Levantamiento de información</a:t>
            </a:r>
            <a:endParaRPr lang="en-US" sz="1050" dirty="0"/>
          </a:p>
        </p:txBody>
      </p:sp>
      <p:sp>
        <p:nvSpPr>
          <p:cNvPr id="14" name="Shape 12"/>
          <p:cNvSpPr/>
          <p:nvPr/>
        </p:nvSpPr>
        <p:spPr>
          <a:xfrm>
            <a:off x="411480" y="2340864"/>
            <a:ext cx="2523744" cy="36576"/>
          </a:xfrm>
          <a:prstGeom prst="rect">
            <a:avLst/>
          </a:prstGeom>
          <a:solidFill>
            <a:srgbClr val="1F3864">
              <a:alpha val="50000"/>
            </a:srgbClr>
          </a:solidFill>
          <a:ln/>
        </p:spPr>
      </p:sp>
      <p:sp>
        <p:nvSpPr>
          <p:cNvPr id="15" name="Shape 13"/>
          <p:cNvSpPr/>
          <p:nvPr/>
        </p:nvSpPr>
        <p:spPr>
          <a:xfrm>
            <a:off x="475488" y="2560320"/>
            <a:ext cx="109728" cy="109728"/>
          </a:xfrm>
          <a:prstGeom prst="rect">
            <a:avLst/>
          </a:prstGeom>
          <a:solidFill>
            <a:srgbClr val="1F3864"/>
          </a:solidFill>
          <a:ln/>
        </p:spPr>
      </p:sp>
      <p:sp>
        <p:nvSpPr>
          <p:cNvPr id="16" name="Text 14"/>
          <p:cNvSpPr/>
          <p:nvPr/>
        </p:nvSpPr>
        <p:spPr>
          <a:xfrm>
            <a:off x="658368" y="246888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SII: padrón de 4.829 empresas formales</a:t>
            </a:r>
            <a:endParaRPr lang="en-US" sz="980" dirty="0"/>
          </a:p>
        </p:txBody>
      </p:sp>
      <p:sp>
        <p:nvSpPr>
          <p:cNvPr id="17" name="Shape 15"/>
          <p:cNvSpPr/>
          <p:nvPr/>
        </p:nvSpPr>
        <p:spPr>
          <a:xfrm>
            <a:off x="475488" y="2907792"/>
            <a:ext cx="109728" cy="109728"/>
          </a:xfrm>
          <a:prstGeom prst="rect">
            <a:avLst/>
          </a:prstGeom>
          <a:solidFill>
            <a:srgbClr val="1F3864"/>
          </a:solidFill>
          <a:ln/>
        </p:spPr>
      </p:sp>
      <p:sp>
        <p:nvSpPr>
          <p:cNvPr id="18" name="Text 16"/>
          <p:cNvSpPr/>
          <p:nvPr/>
        </p:nvSpPr>
        <p:spPr>
          <a:xfrm>
            <a:off x="658368" y="2816352"/>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SINIM: finanzas municipales 2012–2024</a:t>
            </a:r>
            <a:endParaRPr lang="en-US" sz="980" dirty="0"/>
          </a:p>
        </p:txBody>
      </p:sp>
      <p:sp>
        <p:nvSpPr>
          <p:cNvPr id="19" name="Shape 17"/>
          <p:cNvSpPr/>
          <p:nvPr/>
        </p:nvSpPr>
        <p:spPr>
          <a:xfrm>
            <a:off x="475488" y="3255264"/>
            <a:ext cx="109728" cy="109728"/>
          </a:xfrm>
          <a:prstGeom prst="rect">
            <a:avLst/>
          </a:prstGeom>
          <a:solidFill>
            <a:srgbClr val="1F3864"/>
          </a:solidFill>
          <a:ln/>
        </p:spPr>
      </p:sp>
      <p:sp>
        <p:nvSpPr>
          <p:cNvPr id="20" name="Text 18"/>
          <p:cNvSpPr/>
          <p:nvPr/>
        </p:nvSpPr>
        <p:spPr>
          <a:xfrm>
            <a:off x="658368" y="3163824"/>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INE: Censos 2002, 2017 y 2024 (71.793 hab.)</a:t>
            </a:r>
            <a:endParaRPr lang="en-US" sz="980" dirty="0"/>
          </a:p>
        </p:txBody>
      </p:sp>
      <p:sp>
        <p:nvSpPr>
          <p:cNvPr id="21" name="Shape 19"/>
          <p:cNvSpPr/>
          <p:nvPr/>
        </p:nvSpPr>
        <p:spPr>
          <a:xfrm>
            <a:off x="475488" y="3602736"/>
            <a:ext cx="109728" cy="109728"/>
          </a:xfrm>
          <a:prstGeom prst="rect">
            <a:avLst/>
          </a:prstGeom>
          <a:solidFill>
            <a:srgbClr val="1F3864"/>
          </a:solidFill>
          <a:ln/>
        </p:spPr>
      </p:sp>
      <p:sp>
        <p:nvSpPr>
          <p:cNvPr id="22" name="Text 20"/>
          <p:cNvSpPr/>
          <p:nvPr/>
        </p:nvSpPr>
        <p:spPr>
          <a:xfrm>
            <a:off x="658368" y="3511296"/>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CPLT: índice transparencia 97,89%</a:t>
            </a:r>
            <a:endParaRPr lang="en-US" sz="980" dirty="0"/>
          </a:p>
        </p:txBody>
      </p:sp>
      <p:sp>
        <p:nvSpPr>
          <p:cNvPr id="23" name="Shape 21"/>
          <p:cNvSpPr/>
          <p:nvPr/>
        </p:nvSpPr>
        <p:spPr>
          <a:xfrm>
            <a:off x="475488" y="3950208"/>
            <a:ext cx="109728" cy="109728"/>
          </a:xfrm>
          <a:prstGeom prst="rect">
            <a:avLst/>
          </a:prstGeom>
          <a:solidFill>
            <a:srgbClr val="1F3864"/>
          </a:solidFill>
          <a:ln/>
        </p:spPr>
      </p:sp>
      <p:sp>
        <p:nvSpPr>
          <p:cNvPr id="24" name="Text 22"/>
          <p:cNvSpPr/>
          <p:nvPr/>
        </p:nvSpPr>
        <p:spPr>
          <a:xfrm>
            <a:off x="658368" y="3858768"/>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CEAD: estadísticas delictuales 20 años</a:t>
            </a:r>
            <a:endParaRPr lang="en-US" sz="980" dirty="0"/>
          </a:p>
        </p:txBody>
      </p:sp>
      <p:sp>
        <p:nvSpPr>
          <p:cNvPr id="25" name="Shape 23"/>
          <p:cNvSpPr/>
          <p:nvPr/>
        </p:nvSpPr>
        <p:spPr>
          <a:xfrm>
            <a:off x="475488" y="4297680"/>
            <a:ext cx="109728" cy="109728"/>
          </a:xfrm>
          <a:prstGeom prst="rect">
            <a:avLst/>
          </a:prstGeom>
          <a:solidFill>
            <a:srgbClr val="1F3864"/>
          </a:solidFill>
          <a:ln/>
        </p:spPr>
      </p:sp>
      <p:sp>
        <p:nvSpPr>
          <p:cNvPr id="26" name="Text 24"/>
          <p:cNvSpPr/>
          <p:nvPr/>
        </p:nvSpPr>
        <p:spPr>
          <a:xfrm>
            <a:off x="658368" y="420624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BIP: cartera proyectos 2014–2025 (5 proyectos)</a:t>
            </a:r>
            <a:endParaRPr lang="en-US" sz="980" dirty="0"/>
          </a:p>
        </p:txBody>
      </p:sp>
      <p:sp>
        <p:nvSpPr>
          <p:cNvPr id="27" name="Shape 25"/>
          <p:cNvSpPr/>
          <p:nvPr/>
        </p:nvSpPr>
        <p:spPr>
          <a:xfrm>
            <a:off x="3218688" y="960120"/>
            <a:ext cx="2798064" cy="354787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8" name="Shape 26"/>
          <p:cNvSpPr/>
          <p:nvPr/>
        </p:nvSpPr>
        <p:spPr>
          <a:xfrm>
            <a:off x="3218688" y="960120"/>
            <a:ext cx="2798064" cy="59436"/>
          </a:xfrm>
          <a:prstGeom prst="rect">
            <a:avLst/>
          </a:prstGeom>
          <a:solidFill>
            <a:srgbClr val="0A6B65"/>
          </a:solidFill>
          <a:ln/>
        </p:spPr>
      </p:sp>
      <p:sp>
        <p:nvSpPr>
          <p:cNvPr id="29" name="Shape 27"/>
          <p:cNvSpPr/>
          <p:nvPr/>
        </p:nvSpPr>
        <p:spPr>
          <a:xfrm>
            <a:off x="4297680" y="1024128"/>
            <a:ext cx="640080" cy="640080"/>
          </a:xfrm>
          <a:prstGeom prst="oval">
            <a:avLst/>
          </a:prstGeom>
          <a:solidFill>
            <a:srgbClr val="0A6B65"/>
          </a:solidFill>
          <a:ln/>
        </p:spPr>
      </p:sp>
      <p:sp>
        <p:nvSpPr>
          <p:cNvPr id="30" name="Text 28"/>
          <p:cNvSpPr/>
          <p:nvPr/>
        </p:nvSpPr>
        <p:spPr>
          <a:xfrm>
            <a:off x="4297680" y="1024128"/>
            <a:ext cx="640080" cy="64008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31" name="Text 29"/>
          <p:cNvSpPr/>
          <p:nvPr/>
        </p:nvSpPr>
        <p:spPr>
          <a:xfrm>
            <a:off x="3328416" y="1737360"/>
            <a:ext cx="2578608" cy="182880"/>
          </a:xfrm>
          <a:prstGeom prst="rect">
            <a:avLst/>
          </a:prstGeom>
          <a:noFill/>
          <a:ln/>
        </p:spPr>
        <p:txBody>
          <a:bodyPr wrap="square" rtlCol="0" anchor="ctr"/>
          <a:lstStyle/>
          <a:p>
            <a:pPr algn="ctr" indent="0" marL="0">
              <a:buNone/>
            </a:pPr>
            <a:r>
              <a:rPr lang="en-US" sz="800" b="1" spc="100" kern="0" dirty="0">
                <a:solidFill>
                  <a:srgbClr val="0A6B65"/>
                </a:solidFill>
                <a:latin typeface="Calibri" pitchFamily="34" charset="0"/>
                <a:ea typeface="Calibri" pitchFamily="34" charset="-122"/>
                <a:cs typeface="Calibri" pitchFamily="34" charset="-120"/>
              </a:rPr>
              <a:t>FASE 2</a:t>
            </a:r>
            <a:endParaRPr lang="en-US" sz="800" dirty="0"/>
          </a:p>
        </p:txBody>
      </p:sp>
      <p:sp>
        <p:nvSpPr>
          <p:cNvPr id="32" name="Text 30"/>
          <p:cNvSpPr/>
          <p:nvPr/>
        </p:nvSpPr>
        <p:spPr>
          <a:xfrm>
            <a:off x="3310128" y="1920240"/>
            <a:ext cx="2615184" cy="384048"/>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Diagnóstico participativo</a:t>
            </a:r>
            <a:endParaRPr lang="en-US" sz="1050" dirty="0"/>
          </a:p>
        </p:txBody>
      </p:sp>
      <p:sp>
        <p:nvSpPr>
          <p:cNvPr id="33" name="Shape 31"/>
          <p:cNvSpPr/>
          <p:nvPr/>
        </p:nvSpPr>
        <p:spPr>
          <a:xfrm>
            <a:off x="3355848" y="2340864"/>
            <a:ext cx="2523744" cy="36576"/>
          </a:xfrm>
          <a:prstGeom prst="rect">
            <a:avLst/>
          </a:prstGeom>
          <a:solidFill>
            <a:srgbClr val="0A6B65">
              <a:alpha val="50000"/>
            </a:srgbClr>
          </a:solidFill>
          <a:ln/>
        </p:spPr>
      </p:sp>
      <p:sp>
        <p:nvSpPr>
          <p:cNvPr id="34" name="Shape 32"/>
          <p:cNvSpPr/>
          <p:nvPr/>
        </p:nvSpPr>
        <p:spPr>
          <a:xfrm>
            <a:off x="3419856" y="2560320"/>
            <a:ext cx="109728" cy="109728"/>
          </a:xfrm>
          <a:prstGeom prst="rect">
            <a:avLst/>
          </a:prstGeom>
          <a:solidFill>
            <a:srgbClr val="0A6B65"/>
          </a:solidFill>
          <a:ln/>
        </p:spPr>
      </p:sp>
      <p:sp>
        <p:nvSpPr>
          <p:cNvPr id="35" name="Text 33"/>
          <p:cNvSpPr/>
          <p:nvPr/>
        </p:nvSpPr>
        <p:spPr>
          <a:xfrm>
            <a:off x="3602736" y="246888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+300 personas consultadas en el proceso</a:t>
            </a:r>
            <a:endParaRPr lang="en-US" sz="980" dirty="0"/>
          </a:p>
        </p:txBody>
      </p:sp>
      <p:sp>
        <p:nvSpPr>
          <p:cNvPr id="36" name="Shape 34"/>
          <p:cNvSpPr/>
          <p:nvPr/>
        </p:nvSpPr>
        <p:spPr>
          <a:xfrm>
            <a:off x="3419856" y="2907792"/>
            <a:ext cx="109728" cy="109728"/>
          </a:xfrm>
          <a:prstGeom prst="rect">
            <a:avLst/>
          </a:prstGeom>
          <a:solidFill>
            <a:srgbClr val="0A6B65"/>
          </a:solidFill>
          <a:ln/>
        </p:spPr>
      </p:sp>
      <p:sp>
        <p:nvSpPr>
          <p:cNvPr id="37" name="Text 35"/>
          <p:cNvSpPr/>
          <p:nvPr/>
        </p:nvSpPr>
        <p:spPr>
          <a:xfrm>
            <a:off x="3602736" y="2816352"/>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77 juntas de vecinos incluidas</a:t>
            </a:r>
            <a:endParaRPr lang="en-US" sz="980" dirty="0"/>
          </a:p>
        </p:txBody>
      </p:sp>
      <p:sp>
        <p:nvSpPr>
          <p:cNvPr id="38" name="Shape 36"/>
          <p:cNvSpPr/>
          <p:nvPr/>
        </p:nvSpPr>
        <p:spPr>
          <a:xfrm>
            <a:off x="3419856" y="3255264"/>
            <a:ext cx="109728" cy="109728"/>
          </a:xfrm>
          <a:prstGeom prst="rect">
            <a:avLst/>
          </a:prstGeom>
          <a:solidFill>
            <a:srgbClr val="0A6B65"/>
          </a:solidFill>
          <a:ln/>
        </p:spPr>
      </p:sp>
      <p:sp>
        <p:nvSpPr>
          <p:cNvPr id="39" name="Text 37"/>
          <p:cNvSpPr/>
          <p:nvPr/>
        </p:nvSpPr>
        <p:spPr>
          <a:xfrm>
            <a:off x="3602736" y="3163824"/>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40 entrevistas en profundidad con actores clave</a:t>
            </a:r>
            <a:endParaRPr lang="en-US" sz="980" dirty="0"/>
          </a:p>
        </p:txBody>
      </p:sp>
      <p:sp>
        <p:nvSpPr>
          <p:cNvPr id="40" name="Shape 38"/>
          <p:cNvSpPr/>
          <p:nvPr/>
        </p:nvSpPr>
        <p:spPr>
          <a:xfrm>
            <a:off x="3419856" y="3602736"/>
            <a:ext cx="109728" cy="109728"/>
          </a:xfrm>
          <a:prstGeom prst="rect">
            <a:avLst/>
          </a:prstGeom>
          <a:solidFill>
            <a:srgbClr val="0A6B65"/>
          </a:solidFill>
          <a:ln/>
        </p:spPr>
      </p:sp>
      <p:sp>
        <p:nvSpPr>
          <p:cNvPr id="41" name="Text 39"/>
          <p:cNvSpPr/>
          <p:nvPr/>
        </p:nvSpPr>
        <p:spPr>
          <a:xfrm>
            <a:off x="3602736" y="3511296"/>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9 UV urbanas diagnosticadas en terreno</a:t>
            </a:r>
            <a:endParaRPr lang="en-US" sz="980" dirty="0"/>
          </a:p>
        </p:txBody>
      </p:sp>
      <p:sp>
        <p:nvSpPr>
          <p:cNvPr id="42" name="Shape 40"/>
          <p:cNvSpPr/>
          <p:nvPr/>
        </p:nvSpPr>
        <p:spPr>
          <a:xfrm>
            <a:off x="3419856" y="3950208"/>
            <a:ext cx="109728" cy="109728"/>
          </a:xfrm>
          <a:prstGeom prst="rect">
            <a:avLst/>
          </a:prstGeom>
          <a:solidFill>
            <a:srgbClr val="0A6B65"/>
          </a:solidFill>
          <a:ln/>
        </p:spPr>
      </p:sp>
      <p:sp>
        <p:nvSpPr>
          <p:cNvPr id="43" name="Text 41"/>
          <p:cNvSpPr/>
          <p:nvPr/>
        </p:nvSpPr>
        <p:spPr>
          <a:xfrm>
            <a:off x="3602736" y="3858768"/>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12 sectores rurales relevados</a:t>
            </a:r>
            <a:endParaRPr lang="en-US" sz="980" dirty="0"/>
          </a:p>
        </p:txBody>
      </p:sp>
      <p:sp>
        <p:nvSpPr>
          <p:cNvPr id="44" name="Shape 42"/>
          <p:cNvSpPr/>
          <p:nvPr/>
        </p:nvSpPr>
        <p:spPr>
          <a:xfrm>
            <a:off x="3419856" y="4297680"/>
            <a:ext cx="109728" cy="109728"/>
          </a:xfrm>
          <a:prstGeom prst="rect">
            <a:avLst/>
          </a:prstGeom>
          <a:solidFill>
            <a:srgbClr val="0A6B65"/>
          </a:solidFill>
          <a:ln/>
        </p:spPr>
      </p:sp>
      <p:sp>
        <p:nvSpPr>
          <p:cNvPr id="45" name="Text 43"/>
          <p:cNvSpPr/>
          <p:nvPr/>
        </p:nvSpPr>
        <p:spPr>
          <a:xfrm>
            <a:off x="3602736" y="420624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Cabildos y talleres temáticos sectoriales</a:t>
            </a:r>
            <a:endParaRPr lang="en-US" sz="980" dirty="0"/>
          </a:p>
        </p:txBody>
      </p:sp>
      <p:sp>
        <p:nvSpPr>
          <p:cNvPr id="46" name="Shape 44"/>
          <p:cNvSpPr/>
          <p:nvPr/>
        </p:nvSpPr>
        <p:spPr>
          <a:xfrm>
            <a:off x="6163056" y="960120"/>
            <a:ext cx="2798064" cy="354787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7" name="Shape 45"/>
          <p:cNvSpPr/>
          <p:nvPr/>
        </p:nvSpPr>
        <p:spPr>
          <a:xfrm>
            <a:off x="6163056" y="960120"/>
            <a:ext cx="2798064" cy="59436"/>
          </a:xfrm>
          <a:prstGeom prst="rect">
            <a:avLst/>
          </a:prstGeom>
          <a:solidFill>
            <a:srgbClr val="1A6B42"/>
          </a:solidFill>
          <a:ln/>
        </p:spPr>
      </p:sp>
      <p:sp>
        <p:nvSpPr>
          <p:cNvPr id="48" name="Shape 46"/>
          <p:cNvSpPr/>
          <p:nvPr/>
        </p:nvSpPr>
        <p:spPr>
          <a:xfrm>
            <a:off x="7242048" y="1024128"/>
            <a:ext cx="640080" cy="640080"/>
          </a:xfrm>
          <a:prstGeom prst="oval">
            <a:avLst/>
          </a:prstGeom>
          <a:solidFill>
            <a:srgbClr val="1A6B42"/>
          </a:solidFill>
          <a:ln/>
        </p:spPr>
      </p:sp>
      <p:sp>
        <p:nvSpPr>
          <p:cNvPr id="49" name="Text 47"/>
          <p:cNvSpPr/>
          <p:nvPr/>
        </p:nvSpPr>
        <p:spPr>
          <a:xfrm>
            <a:off x="7242048" y="1024128"/>
            <a:ext cx="640080" cy="64008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50" name="Text 48"/>
          <p:cNvSpPr/>
          <p:nvPr/>
        </p:nvSpPr>
        <p:spPr>
          <a:xfrm>
            <a:off x="6272784" y="1737360"/>
            <a:ext cx="2578608" cy="182880"/>
          </a:xfrm>
          <a:prstGeom prst="rect">
            <a:avLst/>
          </a:prstGeom>
          <a:noFill/>
          <a:ln/>
        </p:spPr>
        <p:txBody>
          <a:bodyPr wrap="square" rtlCol="0" anchor="ctr"/>
          <a:lstStyle/>
          <a:p>
            <a:pPr algn="ctr" indent="0" marL="0">
              <a:buNone/>
            </a:pPr>
            <a:r>
              <a:rPr lang="en-US" sz="800" b="1" spc="100" kern="0" dirty="0">
                <a:solidFill>
                  <a:srgbClr val="1A6B42"/>
                </a:solidFill>
                <a:latin typeface="Calibri" pitchFamily="34" charset="0"/>
                <a:ea typeface="Calibri" pitchFamily="34" charset="-122"/>
                <a:cs typeface="Calibri" pitchFamily="34" charset="-120"/>
              </a:rPr>
              <a:t>FASE 3</a:t>
            </a:r>
            <a:endParaRPr lang="en-US" sz="800" dirty="0"/>
          </a:p>
        </p:txBody>
      </p:sp>
      <p:sp>
        <p:nvSpPr>
          <p:cNvPr id="51" name="Text 49"/>
          <p:cNvSpPr/>
          <p:nvPr/>
        </p:nvSpPr>
        <p:spPr>
          <a:xfrm>
            <a:off x="6254496" y="1920240"/>
            <a:ext cx="2615184" cy="384048"/>
          </a:xfrm>
          <a:prstGeom prst="rect">
            <a:avLst/>
          </a:prstGeom>
          <a:noFill/>
          <a:ln/>
        </p:spPr>
        <p:txBody>
          <a:bodyPr wrap="square" rtlCol="0" anchor="ctr"/>
          <a:lstStyle/>
          <a:p>
            <a:pPr algn="ctr" indent="0" marL="0">
              <a:buNone/>
            </a:pPr>
            <a:r>
              <a:rPr lang="en-US" sz="1050" b="1" dirty="0">
                <a:solidFill>
                  <a:srgbClr val="1F3864"/>
                </a:solidFill>
                <a:latin typeface="Georgia" pitchFamily="34" charset="0"/>
                <a:ea typeface="Georgia" pitchFamily="34" charset="-122"/>
                <a:cs typeface="Georgia" pitchFamily="34" charset="-120"/>
              </a:rPr>
              <a:t>Análisis técnico-estratégico</a:t>
            </a:r>
            <a:endParaRPr lang="en-US" sz="1050" dirty="0"/>
          </a:p>
        </p:txBody>
      </p:sp>
      <p:sp>
        <p:nvSpPr>
          <p:cNvPr id="52" name="Shape 50"/>
          <p:cNvSpPr/>
          <p:nvPr/>
        </p:nvSpPr>
        <p:spPr>
          <a:xfrm>
            <a:off x="6300216" y="2340864"/>
            <a:ext cx="2523744" cy="36576"/>
          </a:xfrm>
          <a:prstGeom prst="rect">
            <a:avLst/>
          </a:prstGeom>
          <a:solidFill>
            <a:srgbClr val="1A6B42">
              <a:alpha val="50000"/>
            </a:srgbClr>
          </a:solidFill>
          <a:ln/>
        </p:spPr>
      </p:sp>
      <p:sp>
        <p:nvSpPr>
          <p:cNvPr id="53" name="Shape 51"/>
          <p:cNvSpPr/>
          <p:nvPr/>
        </p:nvSpPr>
        <p:spPr>
          <a:xfrm>
            <a:off x="6364224" y="2560320"/>
            <a:ext cx="109728" cy="109728"/>
          </a:xfrm>
          <a:prstGeom prst="rect">
            <a:avLst/>
          </a:prstGeom>
          <a:solidFill>
            <a:srgbClr val="1A6B42"/>
          </a:solidFill>
          <a:ln/>
        </p:spPr>
      </p:sp>
      <p:sp>
        <p:nvSpPr>
          <p:cNvPr id="54" name="Text 52"/>
          <p:cNvSpPr/>
          <p:nvPr/>
        </p:nvSpPr>
        <p:spPr>
          <a:xfrm>
            <a:off x="6547104" y="246888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80 elementos FODA con fuente verificable</a:t>
            </a:r>
            <a:endParaRPr lang="en-US" sz="980" dirty="0"/>
          </a:p>
        </p:txBody>
      </p:sp>
      <p:sp>
        <p:nvSpPr>
          <p:cNvPr id="55" name="Shape 53"/>
          <p:cNvSpPr/>
          <p:nvPr/>
        </p:nvSpPr>
        <p:spPr>
          <a:xfrm>
            <a:off x="6364224" y="2907792"/>
            <a:ext cx="109728" cy="109728"/>
          </a:xfrm>
          <a:prstGeom prst="rect">
            <a:avLst/>
          </a:prstGeom>
          <a:solidFill>
            <a:srgbClr val="1A6B42"/>
          </a:solidFill>
          <a:ln/>
        </p:spPr>
      </p:sp>
      <p:sp>
        <p:nvSpPr>
          <p:cNvPr id="56" name="Text 54"/>
          <p:cNvSpPr/>
          <p:nvPr/>
        </p:nvSpPr>
        <p:spPr>
          <a:xfrm>
            <a:off x="6547104" y="2816352"/>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Análisis CAME articulado al FODA</a:t>
            </a:r>
            <a:endParaRPr lang="en-US" sz="980" dirty="0"/>
          </a:p>
        </p:txBody>
      </p:sp>
      <p:sp>
        <p:nvSpPr>
          <p:cNvPr id="57" name="Shape 55"/>
          <p:cNvSpPr/>
          <p:nvPr/>
        </p:nvSpPr>
        <p:spPr>
          <a:xfrm>
            <a:off x="6364224" y="3255264"/>
            <a:ext cx="109728" cy="109728"/>
          </a:xfrm>
          <a:prstGeom prst="rect">
            <a:avLst/>
          </a:prstGeom>
          <a:solidFill>
            <a:srgbClr val="1A6B42"/>
          </a:solidFill>
          <a:ln/>
        </p:spPr>
      </p:sp>
      <p:sp>
        <p:nvSpPr>
          <p:cNvPr id="58" name="Text 56"/>
          <p:cNvSpPr/>
          <p:nvPr/>
        </p:nvSpPr>
        <p:spPr>
          <a:xfrm>
            <a:off x="6547104" y="3163824"/>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Matriz de 10 indicadores (KPIs)</a:t>
            </a:r>
            <a:endParaRPr lang="en-US" sz="980" dirty="0"/>
          </a:p>
        </p:txBody>
      </p:sp>
      <p:sp>
        <p:nvSpPr>
          <p:cNvPr id="59" name="Shape 57"/>
          <p:cNvSpPr/>
          <p:nvPr/>
        </p:nvSpPr>
        <p:spPr>
          <a:xfrm>
            <a:off x="6364224" y="3602736"/>
            <a:ext cx="109728" cy="109728"/>
          </a:xfrm>
          <a:prstGeom prst="rect">
            <a:avLst/>
          </a:prstGeom>
          <a:solidFill>
            <a:srgbClr val="1A6B42"/>
          </a:solidFill>
          <a:ln/>
        </p:spPr>
      </p:sp>
      <p:sp>
        <p:nvSpPr>
          <p:cNvPr id="60" name="Text 58"/>
          <p:cNvSpPr/>
          <p:nvPr/>
        </p:nvSpPr>
        <p:spPr>
          <a:xfrm>
            <a:off x="6547104" y="3511296"/>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Hoja de ruta en 3 horizontes (0–24 meses)</a:t>
            </a:r>
            <a:endParaRPr lang="en-US" sz="980" dirty="0"/>
          </a:p>
        </p:txBody>
      </p:sp>
      <p:sp>
        <p:nvSpPr>
          <p:cNvPr id="61" name="Shape 59"/>
          <p:cNvSpPr/>
          <p:nvPr/>
        </p:nvSpPr>
        <p:spPr>
          <a:xfrm>
            <a:off x="6364224" y="3950208"/>
            <a:ext cx="109728" cy="109728"/>
          </a:xfrm>
          <a:prstGeom prst="rect">
            <a:avLst/>
          </a:prstGeom>
          <a:solidFill>
            <a:srgbClr val="1A6B42"/>
          </a:solidFill>
          <a:ln/>
        </p:spPr>
      </p:sp>
      <p:sp>
        <p:nvSpPr>
          <p:cNvPr id="62" name="Text 60"/>
          <p:cNvSpPr/>
          <p:nvPr/>
        </p:nvSpPr>
        <p:spPr>
          <a:xfrm>
            <a:off x="6547104" y="3858768"/>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Articulación con ERD O’Higgins 2030</a:t>
            </a:r>
            <a:endParaRPr lang="en-US" sz="980" dirty="0"/>
          </a:p>
        </p:txBody>
      </p:sp>
      <p:sp>
        <p:nvSpPr>
          <p:cNvPr id="63" name="Shape 61"/>
          <p:cNvSpPr/>
          <p:nvPr/>
        </p:nvSpPr>
        <p:spPr>
          <a:xfrm>
            <a:off x="6364224" y="4297680"/>
            <a:ext cx="109728" cy="109728"/>
          </a:xfrm>
          <a:prstGeom prst="rect">
            <a:avLst/>
          </a:prstGeom>
          <a:solidFill>
            <a:srgbClr val="1A6B42"/>
          </a:solidFill>
          <a:ln/>
        </p:spPr>
      </p:sp>
      <p:sp>
        <p:nvSpPr>
          <p:cNvPr id="64" name="Text 62"/>
          <p:cNvSpPr/>
          <p:nvPr/>
        </p:nvSpPr>
        <p:spPr>
          <a:xfrm>
            <a:off x="6547104" y="4206240"/>
            <a:ext cx="2286000" cy="329184"/>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Integración PACCC, PRC y Ley 21.807</a:t>
            </a:r>
            <a:endParaRPr lang="en-US" sz="980" dirty="0"/>
          </a:p>
        </p:txBody>
      </p:sp>
      <p:sp>
        <p:nvSpPr>
          <p:cNvPr id="65" name="Shape 63"/>
          <p:cNvSpPr/>
          <p:nvPr/>
        </p:nvSpPr>
        <p:spPr>
          <a:xfrm>
            <a:off x="274320" y="4645152"/>
            <a:ext cx="8595360" cy="347472"/>
          </a:xfrm>
          <a:prstGeom prst="rect">
            <a:avLst/>
          </a:prstGeom>
          <a:solidFill>
            <a:srgbClr val="1F3864"/>
          </a:solidFill>
          <a:ln/>
        </p:spPr>
      </p:sp>
      <p:sp>
        <p:nvSpPr>
          <p:cNvPr id="66" name="Text 64"/>
          <p:cNvSpPr/>
          <p:nvPr/>
        </p:nvSpPr>
        <p:spPr>
          <a:xfrm>
            <a:off x="47548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12</a:t>
            </a:r>
            <a:endParaRPr lang="en-US" sz="1200" dirty="0"/>
          </a:p>
        </p:txBody>
      </p:sp>
      <p:sp>
        <p:nvSpPr>
          <p:cNvPr id="67" name="Text 65"/>
          <p:cNvSpPr/>
          <p:nvPr/>
        </p:nvSpPr>
        <p:spPr>
          <a:xfrm>
            <a:off x="47548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fuentes oficiales</a:t>
            </a:r>
            <a:endParaRPr lang="en-US" sz="750" dirty="0"/>
          </a:p>
        </p:txBody>
      </p:sp>
      <p:sp>
        <p:nvSpPr>
          <p:cNvPr id="68" name="Text 66"/>
          <p:cNvSpPr/>
          <p:nvPr/>
        </p:nvSpPr>
        <p:spPr>
          <a:xfrm>
            <a:off x="189280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80</a:t>
            </a:r>
            <a:endParaRPr lang="en-US" sz="1200" dirty="0"/>
          </a:p>
        </p:txBody>
      </p:sp>
      <p:sp>
        <p:nvSpPr>
          <p:cNvPr id="69" name="Text 67"/>
          <p:cNvSpPr/>
          <p:nvPr/>
        </p:nvSpPr>
        <p:spPr>
          <a:xfrm>
            <a:off x="189280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elementos con evidencia</a:t>
            </a:r>
            <a:endParaRPr lang="en-US" sz="750" dirty="0"/>
          </a:p>
        </p:txBody>
      </p:sp>
      <p:sp>
        <p:nvSpPr>
          <p:cNvPr id="70" name="Text 68"/>
          <p:cNvSpPr/>
          <p:nvPr/>
        </p:nvSpPr>
        <p:spPr>
          <a:xfrm>
            <a:off x="331012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+300</a:t>
            </a:r>
            <a:endParaRPr lang="en-US" sz="1200" dirty="0"/>
          </a:p>
        </p:txBody>
      </p:sp>
      <p:sp>
        <p:nvSpPr>
          <p:cNvPr id="71" name="Text 69"/>
          <p:cNvSpPr/>
          <p:nvPr/>
        </p:nvSpPr>
        <p:spPr>
          <a:xfrm>
            <a:off x="331012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personas consultadas</a:t>
            </a:r>
            <a:endParaRPr lang="en-US" sz="750" dirty="0"/>
          </a:p>
        </p:txBody>
      </p:sp>
      <p:sp>
        <p:nvSpPr>
          <p:cNvPr id="72" name="Text 70"/>
          <p:cNvSpPr/>
          <p:nvPr/>
        </p:nvSpPr>
        <p:spPr>
          <a:xfrm>
            <a:off x="472744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77</a:t>
            </a:r>
            <a:endParaRPr lang="en-US" sz="1200" dirty="0"/>
          </a:p>
        </p:txBody>
      </p:sp>
      <p:sp>
        <p:nvSpPr>
          <p:cNvPr id="73" name="Text 71"/>
          <p:cNvSpPr/>
          <p:nvPr/>
        </p:nvSpPr>
        <p:spPr>
          <a:xfrm>
            <a:off x="472744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juntas de vecinos</a:t>
            </a:r>
            <a:endParaRPr lang="en-US" sz="750" dirty="0"/>
          </a:p>
        </p:txBody>
      </p:sp>
      <p:sp>
        <p:nvSpPr>
          <p:cNvPr id="74" name="Text 72"/>
          <p:cNvSpPr/>
          <p:nvPr/>
        </p:nvSpPr>
        <p:spPr>
          <a:xfrm>
            <a:off x="614476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40</a:t>
            </a:r>
            <a:endParaRPr lang="en-US" sz="1200" dirty="0"/>
          </a:p>
        </p:txBody>
      </p:sp>
      <p:sp>
        <p:nvSpPr>
          <p:cNvPr id="75" name="Text 73"/>
          <p:cNvSpPr/>
          <p:nvPr/>
        </p:nvSpPr>
        <p:spPr>
          <a:xfrm>
            <a:off x="614476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entrevistas profundas</a:t>
            </a:r>
            <a:endParaRPr lang="en-US" sz="750" dirty="0"/>
          </a:p>
        </p:txBody>
      </p:sp>
      <p:sp>
        <p:nvSpPr>
          <p:cNvPr id="76" name="Text 74"/>
          <p:cNvSpPr/>
          <p:nvPr/>
        </p:nvSpPr>
        <p:spPr>
          <a:xfrm>
            <a:off x="7562088" y="4645152"/>
            <a:ext cx="1280160" cy="182880"/>
          </a:xfrm>
          <a:prstGeom prst="rect">
            <a:avLst/>
          </a:prstGeom>
          <a:noFill/>
          <a:ln/>
        </p:spPr>
        <p:txBody>
          <a:bodyPr wrap="square" rtlCol="0" anchor="ctr"/>
          <a:lstStyle/>
          <a:p>
            <a:pPr algn="ctr" indent="0" marL="0">
              <a:buNone/>
            </a:pPr>
            <a:r>
              <a:rPr lang="en-US" sz="1200" b="1" dirty="0">
                <a:solidFill>
                  <a:srgbClr val="C9A84C"/>
                </a:solidFill>
                <a:latin typeface="Georgia" pitchFamily="34" charset="0"/>
                <a:ea typeface="Georgia" pitchFamily="34" charset="-122"/>
                <a:cs typeface="Georgia" pitchFamily="34" charset="-120"/>
              </a:rPr>
              <a:t>21</a:t>
            </a:r>
            <a:endParaRPr lang="en-US" sz="1200" dirty="0"/>
          </a:p>
        </p:txBody>
      </p:sp>
      <p:sp>
        <p:nvSpPr>
          <p:cNvPr id="77" name="Text 75"/>
          <p:cNvSpPr/>
          <p:nvPr/>
        </p:nvSpPr>
        <p:spPr>
          <a:xfrm>
            <a:off x="7562088" y="4828032"/>
            <a:ext cx="1280160" cy="146304"/>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sectores territoriales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C9A84C"/>
          </a:solidFill>
          <a:ln/>
        </p:spPr>
      </p:sp>
      <p:sp>
        <p:nvSpPr>
          <p:cNvPr id="3" name="Shape 1"/>
          <p:cNvSpPr/>
          <p:nvPr/>
        </p:nvSpPr>
        <p:spPr>
          <a:xfrm>
            <a:off x="347472" y="2423160"/>
            <a:ext cx="8796528" cy="50292"/>
          </a:xfrm>
          <a:prstGeom prst="rect">
            <a:avLst/>
          </a:prstGeom>
          <a:solidFill>
            <a:srgbClr val="C9A84C">
              <a:alpha val="40000"/>
            </a:srgbClr>
          </a:solidFill>
          <a:ln/>
        </p:spPr>
      </p:sp>
      <p:sp>
        <p:nvSpPr>
          <p:cNvPr id="4" name="Text 2"/>
          <p:cNvSpPr/>
          <p:nvPr/>
        </p:nvSpPr>
        <p:spPr>
          <a:xfrm>
            <a:off x="658368" y="1627632"/>
            <a:ext cx="7772400" cy="347472"/>
          </a:xfrm>
          <a:prstGeom prst="rect">
            <a:avLst/>
          </a:prstGeom>
          <a:noFill/>
          <a:ln/>
        </p:spPr>
        <p:txBody>
          <a:bodyPr wrap="square"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SECCIÓN 01</a:t>
            </a:r>
            <a:endParaRPr lang="en-US" sz="1100" dirty="0"/>
          </a:p>
        </p:txBody>
      </p:sp>
      <p:sp>
        <p:nvSpPr>
          <p:cNvPr id="5" name="Text 3"/>
          <p:cNvSpPr/>
          <p:nvPr/>
        </p:nvSpPr>
        <p:spPr>
          <a:xfrm>
            <a:off x="658368" y="1965960"/>
            <a:ext cx="7772400" cy="109728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Diagnóstico del Territorio</a:t>
            </a:r>
            <a:endParaRPr lang="en-US" sz="3800" dirty="0"/>
          </a:p>
        </p:txBody>
      </p:sp>
      <p:sp>
        <p:nvSpPr>
          <p:cNvPr id="6" name="Text 4"/>
          <p:cNvSpPr/>
          <p:nvPr/>
        </p:nvSpPr>
        <p:spPr>
          <a:xfrm>
            <a:off x="658368" y="3154680"/>
            <a:ext cx="7772400" cy="320040"/>
          </a:xfrm>
          <a:prstGeom prst="rect">
            <a:avLst/>
          </a:prstGeom>
          <a:noFill/>
          <a:ln/>
        </p:spPr>
        <p:txBody>
          <a:bodyPr wrap="square"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Fortalezas, paradojas, brechas, oportunidades y amenazas con evidencia documental</a:t>
            </a:r>
            <a:endParaRPr lang="en-US" sz="1150" dirty="0"/>
          </a:p>
        </p:txBody>
      </p:sp>
      <p:sp>
        <p:nvSpPr>
          <p:cNvPr id="7" name="Shape 5"/>
          <p:cNvSpPr/>
          <p:nvPr/>
        </p:nvSpPr>
        <p:spPr>
          <a:xfrm>
            <a:off x="0" y="5070348"/>
            <a:ext cx="9144000" cy="73152"/>
          </a:xfrm>
          <a:prstGeom prst="rect">
            <a:avLst/>
          </a:prstGeom>
          <a:solidFill>
            <a:srgbClr val="162850"/>
          </a:solidFill>
          <a:ln/>
        </p:spPr>
      </p:sp>
      <p:sp>
        <p:nvSpPr>
          <p:cNvPr id="8" name="Text 6"/>
          <p:cNvSpPr/>
          <p:nvPr/>
        </p:nvSpPr>
        <p:spPr>
          <a:xfrm>
            <a:off x="411480" y="5073091"/>
            <a:ext cx="4572000" cy="68580"/>
          </a:xfrm>
          <a:prstGeom prst="rect">
            <a:avLst/>
          </a:prstGeom>
          <a:noFill/>
          <a:ln/>
        </p:spPr>
        <p:txBody>
          <a:bodyPr wrap="square" lIns="0" tIns="0" rIns="0" bIns="0" rtlCol="0" anchor="ctr"/>
          <a:lstStyle/>
          <a:p>
            <a:pPr indent="0" marL="0">
              <a:buNone/>
            </a:pPr>
            <a:r>
              <a:rPr lang="en-US" sz="650" dirty="0">
                <a:solidFill>
                  <a:srgbClr val="C9A84C"/>
                </a:solidFill>
                <a:latin typeface="Calibri" pitchFamily="34" charset="0"/>
                <a:ea typeface="Calibri" pitchFamily="34" charset="-122"/>
                <a:cs typeface="Calibri" pitchFamily="34" charset="-120"/>
              </a:rPr>
              <a:t>PLADECO Rengo 2025–2035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La pregunta que este plan no puede eludir</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El punto de partida que da sentido a todo el argumentario estratégico</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365760" y="960120"/>
            <a:ext cx="8412480" cy="2331720"/>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9" name="Shape 7"/>
          <p:cNvSpPr/>
          <p:nvPr/>
        </p:nvSpPr>
        <p:spPr>
          <a:xfrm>
            <a:off x="365760" y="960120"/>
            <a:ext cx="8412480" cy="59436"/>
          </a:xfrm>
          <a:prstGeom prst="rect">
            <a:avLst/>
          </a:prstGeom>
          <a:solidFill>
            <a:srgbClr val="C9A84C"/>
          </a:solidFill>
          <a:ln/>
        </p:spPr>
      </p:sp>
      <p:sp>
        <p:nvSpPr>
          <p:cNvPr id="10" name="Text 8"/>
          <p:cNvSpPr/>
          <p:nvPr/>
        </p:nvSpPr>
        <p:spPr>
          <a:xfrm>
            <a:off x="594360" y="1078992"/>
            <a:ext cx="7955280" cy="2084832"/>
          </a:xfrm>
          <a:prstGeom prst="rect">
            <a:avLst/>
          </a:prstGeom>
          <a:noFill/>
          <a:ln/>
        </p:spPr>
        <p:txBody>
          <a:bodyPr wrap="square" rtlCol="0" anchor="ctr"/>
          <a:lstStyle/>
          <a:p>
            <a:pPr algn="just" indent="0" marL="0">
              <a:buNone/>
            </a:pPr>
            <a:r>
              <a:rPr lang="en-US" sz="1200" dirty="0">
                <a:solidFill>
                  <a:srgbClr val="FFFFFF"/>
                </a:solidFill>
                <a:latin typeface="Georgia" pitchFamily="34" charset="0"/>
                <a:ea typeface="Georgia" pitchFamily="34" charset="-122"/>
                <a:cs typeface="Georgia" pitchFamily="34" charset="-120"/>
              </a:rPr>
              <a:t>Hay una pregunta que este PLADECO no puede eludir, y no es técnica. </a:t>
            </a:r>
            <a:pPr algn="just" indent="0" marL="0">
              <a:buNone/>
            </a:pPr>
            <a:r>
              <a:rPr lang="en-US" sz="1200" i="1" dirty="0">
                <a:solidFill>
                  <a:srgbClr val="C9A84C"/>
                </a:solidFill>
                <a:latin typeface="Georgia" pitchFamily="34" charset="0"/>
                <a:ea typeface="Georgia" pitchFamily="34" charset="-122"/>
                <a:cs typeface="Georgia" pitchFamily="34" charset="-120"/>
              </a:rPr>
              <a:t>Es la pregunta que se hace una madre en Rosario cuando lleva a su hijo al consultorio y descubre que está a cuarenta minutos en micro. </a:t>
            </a:r>
            <a:pPr algn="just" indent="0" marL="0">
              <a:buNone/>
            </a:pPr>
            <a:r>
              <a:rPr lang="en-US" sz="1200" dirty="0">
                <a:solidFill>
                  <a:srgbClr val="FFFFFF"/>
                </a:solidFill>
                <a:latin typeface="Georgia" pitchFamily="34" charset="0"/>
                <a:ea typeface="Georgia" pitchFamily="34" charset="-122"/>
                <a:cs typeface="Georgia" pitchFamily="34" charset="-120"/>
              </a:rPr>
              <a:t>Es la que se hace un adulto mayor cuando anochece sin iluminación en su calle. Es la que se hacen los jóvenes de Rengo —</a:t>
            </a:r>
            <a:pPr algn="just" indent="0" marL="0">
              <a:buNone/>
            </a:pPr>
            <a:r>
              <a:rPr lang="en-US" sz="1200" b="1" dirty="0">
                <a:solidFill>
                  <a:srgbClr val="C9A84C"/>
                </a:solidFill>
                <a:latin typeface="Georgia" pitchFamily="34" charset="0"/>
                <a:ea typeface="Georgia" pitchFamily="34" charset="-122"/>
                <a:cs typeface="Georgia" pitchFamily="34" charset="-120"/>
              </a:rPr>
              <a:t>el cien por ciento de ellos—</a:t>
            </a:r>
            <a:pPr algn="just" indent="0" marL="0">
              <a:buNone/>
            </a:pPr>
            <a:r>
              <a:rPr lang="en-US" sz="1200" dirty="0">
                <a:solidFill>
                  <a:srgbClr val="FFFFFF"/>
                </a:solidFill>
                <a:latin typeface="Georgia" pitchFamily="34" charset="0"/>
                <a:ea typeface="Georgia" pitchFamily="34" charset="-122"/>
                <a:cs typeface="Georgia" pitchFamily="34" charset="-120"/>
              </a:rPr>
              <a:t> cuando no encuentran nada positivo que decir de la ciudad donde nacieron.</a:t>
            </a:r>
            <a:endParaRPr lang="en-US" sz="1200" dirty="0"/>
          </a:p>
        </p:txBody>
      </p:sp>
      <p:sp>
        <p:nvSpPr>
          <p:cNvPr id="11" name="Shape 9"/>
          <p:cNvSpPr/>
          <p:nvPr/>
        </p:nvSpPr>
        <p:spPr>
          <a:xfrm>
            <a:off x="365760" y="3429000"/>
            <a:ext cx="4069080" cy="14173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2" name="Shape 10"/>
          <p:cNvSpPr/>
          <p:nvPr/>
        </p:nvSpPr>
        <p:spPr>
          <a:xfrm>
            <a:off x="365760" y="3429000"/>
            <a:ext cx="4069080" cy="59436"/>
          </a:xfrm>
          <a:prstGeom prst="rect">
            <a:avLst/>
          </a:prstGeom>
          <a:solidFill>
            <a:srgbClr val="B83232"/>
          </a:solidFill>
          <a:ln/>
        </p:spPr>
      </p:sp>
      <p:sp>
        <p:nvSpPr>
          <p:cNvPr id="13" name="Text 11"/>
          <p:cNvSpPr/>
          <p:nvPr/>
        </p:nvSpPr>
        <p:spPr>
          <a:xfrm>
            <a:off x="502920" y="3520440"/>
            <a:ext cx="3794760" cy="274320"/>
          </a:xfrm>
          <a:prstGeom prst="rect">
            <a:avLst/>
          </a:prstGeom>
          <a:noFill/>
          <a:ln/>
        </p:spPr>
        <p:txBody>
          <a:bodyPr wrap="square" lIns="0" tIns="0" rIns="0" bIns="0" rtlCol="0" anchor="ctr"/>
          <a:lstStyle/>
          <a:p>
            <a:pPr indent="0" marL="0">
              <a:buNone/>
            </a:pPr>
            <a:r>
              <a:rPr lang="en-US" sz="1000" b="1" dirty="0">
                <a:solidFill>
                  <a:srgbClr val="B83232"/>
                </a:solidFill>
                <a:latin typeface="Georgia" pitchFamily="34" charset="0"/>
                <a:ea typeface="Georgia" pitchFamily="34" charset="-122"/>
                <a:cs typeface="Georgia" pitchFamily="34" charset="-120"/>
              </a:rPr>
              <a:t>La tensión central</a:t>
            </a:r>
            <a:endParaRPr lang="en-US" sz="1000" dirty="0"/>
          </a:p>
        </p:txBody>
      </p:sp>
      <p:sp>
        <p:nvSpPr>
          <p:cNvPr id="14" name="Text 12"/>
          <p:cNvSpPr/>
          <p:nvPr/>
        </p:nvSpPr>
        <p:spPr>
          <a:xfrm>
            <a:off x="502920" y="3822192"/>
            <a:ext cx="3794760" cy="932688"/>
          </a:xfrm>
          <a:prstGeom prst="rect">
            <a:avLst/>
          </a:prstGeom>
          <a:noFill/>
          <a:ln/>
        </p:spPr>
        <p:txBody>
          <a:bodyPr wrap="square" lIns="508" tIns="508" rIns="508" bIns="508" rtlCol="0" anchor="t"/>
          <a:lstStyle/>
          <a:p>
            <a:pPr algn="just" indent="0" marL="0">
              <a:buNone/>
            </a:pPr>
            <a:r>
              <a:rPr lang="en-US" sz="1000" dirty="0">
                <a:solidFill>
                  <a:srgbClr val="2C3E50"/>
                </a:solidFill>
                <a:latin typeface="Calibri" pitchFamily="34" charset="0"/>
                <a:ea typeface="Calibri" pitchFamily="34" charset="-122"/>
                <a:cs typeface="Calibri" pitchFamily="34" charset="-120"/>
              </a:rPr>
              <a:t>Rengo lidera en indicadores institucionales regionales, pero el 100% de sus NNA evaluó negativamente la comuna como lugar para vivir. El liderazgo formal no está produciendo bienestar percibido. Esa es la brecha que el PLADECO debe cerrar.</a:t>
            </a:r>
            <a:endParaRPr lang="en-US" sz="1000" dirty="0"/>
          </a:p>
        </p:txBody>
      </p:sp>
      <p:sp>
        <p:nvSpPr>
          <p:cNvPr id="15" name="Shape 13"/>
          <p:cNvSpPr/>
          <p:nvPr/>
        </p:nvSpPr>
        <p:spPr>
          <a:xfrm>
            <a:off x="4709160" y="3429000"/>
            <a:ext cx="4069080" cy="14173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4709160" y="3429000"/>
            <a:ext cx="4069080" cy="59436"/>
          </a:xfrm>
          <a:prstGeom prst="rect">
            <a:avLst/>
          </a:prstGeom>
          <a:solidFill>
            <a:srgbClr val="1F3864"/>
          </a:solidFill>
          <a:ln/>
        </p:spPr>
      </p:sp>
      <p:sp>
        <p:nvSpPr>
          <p:cNvPr id="17" name="Text 15"/>
          <p:cNvSpPr/>
          <p:nvPr/>
        </p:nvSpPr>
        <p:spPr>
          <a:xfrm>
            <a:off x="4846320" y="3520440"/>
            <a:ext cx="3794760" cy="274320"/>
          </a:xfrm>
          <a:prstGeom prst="rect">
            <a:avLst/>
          </a:prstGeom>
          <a:noFill/>
          <a:ln/>
        </p:spPr>
        <p:txBody>
          <a:bodyPr wrap="square" lIns="0" tIns="0" rIns="0" bIns="0" rtlCol="0" anchor="ctr"/>
          <a:lstStyle/>
          <a:p>
            <a:pPr indent="0" marL="0">
              <a:buNone/>
            </a:pPr>
            <a:r>
              <a:rPr lang="en-US" sz="1000" b="1" dirty="0">
                <a:solidFill>
                  <a:srgbClr val="1F3864"/>
                </a:solidFill>
                <a:latin typeface="Georgia" pitchFamily="34" charset="0"/>
                <a:ea typeface="Georgia" pitchFamily="34" charset="-122"/>
                <a:cs typeface="Georgia" pitchFamily="34" charset="-120"/>
              </a:rPr>
              <a:t>La pregunta real</a:t>
            </a:r>
            <a:endParaRPr lang="en-US" sz="1000" dirty="0"/>
          </a:p>
        </p:txBody>
      </p:sp>
      <p:sp>
        <p:nvSpPr>
          <p:cNvPr id="18" name="Text 16"/>
          <p:cNvSpPr/>
          <p:nvPr/>
        </p:nvSpPr>
        <p:spPr>
          <a:xfrm>
            <a:off x="4846320" y="3822192"/>
            <a:ext cx="3794760" cy="932688"/>
          </a:xfrm>
          <a:prstGeom prst="rect">
            <a:avLst/>
          </a:prstGeom>
          <a:noFill/>
          <a:ln/>
        </p:spPr>
        <p:txBody>
          <a:bodyPr wrap="square" lIns="508" tIns="508" rIns="508" bIns="508" rtlCol="0" anchor="t"/>
          <a:lstStyle/>
          <a:p>
            <a:pPr algn="just" indent="0" marL="0">
              <a:buNone/>
            </a:pPr>
            <a:r>
              <a:rPr lang="en-US" sz="1000" dirty="0">
                <a:solidFill>
                  <a:srgbClr val="2C3E50"/>
                </a:solidFill>
                <a:latin typeface="Calibri" pitchFamily="34" charset="0"/>
                <a:ea typeface="Calibri" pitchFamily="34" charset="-122"/>
                <a:cs typeface="Calibri" pitchFamily="34" charset="-120"/>
              </a:rPr>
              <a:t>¿Por qué una comuna que lidera en casi todos los indicadores institucionales de la región no logra que sus propios habitantes sientan orgullo de vivir en ella? Eso es exactamente lo que este plan debe cambiar en los próximos diez años.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Lo que tenemos a favor: una base real y verificable</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Rengo no parte de cero — lidera en los indicadores que importan para el desarrollo institucional provincial</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1965960" cy="15087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1965960" cy="59436"/>
          </a:xfrm>
          <a:prstGeom prst="rect">
            <a:avLst/>
          </a:prstGeom>
          <a:solidFill>
            <a:srgbClr val="1F3864"/>
          </a:solidFill>
          <a:ln/>
        </p:spPr>
      </p:sp>
      <p:sp>
        <p:nvSpPr>
          <p:cNvPr id="10" name="Text 8"/>
          <p:cNvSpPr/>
          <p:nvPr/>
        </p:nvSpPr>
        <p:spPr>
          <a:xfrm>
            <a:off x="274320" y="1033272"/>
            <a:ext cx="1965960" cy="829818"/>
          </a:xfrm>
          <a:prstGeom prst="rect">
            <a:avLst/>
          </a:prstGeom>
          <a:noFill/>
          <a:ln/>
        </p:spPr>
        <p:txBody>
          <a:bodyPr wrap="square" lIns="0" tIns="0" rIns="0" bIns="0" rtlCol="0" anchor="ctr"/>
          <a:lstStyle/>
          <a:p>
            <a:pPr algn="ctr" indent="0" marL="0">
              <a:buNone/>
            </a:pPr>
            <a:r>
              <a:rPr lang="en-US" sz="2600" b="1" dirty="0">
                <a:solidFill>
                  <a:srgbClr val="1F3864"/>
                </a:solidFill>
                <a:latin typeface="Georgia" pitchFamily="34" charset="0"/>
                <a:ea typeface="Georgia" pitchFamily="34" charset="-122"/>
                <a:cs typeface="Georgia" pitchFamily="34" charset="-120"/>
              </a:rPr>
              <a:t>4.829</a:t>
            </a:r>
            <a:endParaRPr lang="en-US" sz="2600" dirty="0"/>
          </a:p>
        </p:txBody>
      </p:sp>
      <p:sp>
        <p:nvSpPr>
          <p:cNvPr id="11" name="Text 9"/>
          <p:cNvSpPr/>
          <p:nvPr/>
        </p:nvSpPr>
        <p:spPr>
          <a:xfrm>
            <a:off x="347472" y="1865376"/>
            <a:ext cx="1819656" cy="55824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Empresas formales</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1.ª de la Región de O’Higgins</a:t>
            </a:r>
            <a:endParaRPr lang="en-US" sz="900" dirty="0"/>
          </a:p>
        </p:txBody>
      </p:sp>
      <p:sp>
        <p:nvSpPr>
          <p:cNvPr id="12" name="Shape 10"/>
          <p:cNvSpPr/>
          <p:nvPr/>
        </p:nvSpPr>
        <p:spPr>
          <a:xfrm>
            <a:off x="2404872" y="960120"/>
            <a:ext cx="1965960" cy="15087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3" name="Shape 11"/>
          <p:cNvSpPr/>
          <p:nvPr/>
        </p:nvSpPr>
        <p:spPr>
          <a:xfrm>
            <a:off x="2404872" y="960120"/>
            <a:ext cx="1965960" cy="59436"/>
          </a:xfrm>
          <a:prstGeom prst="rect">
            <a:avLst/>
          </a:prstGeom>
          <a:solidFill>
            <a:srgbClr val="1A6B42"/>
          </a:solidFill>
          <a:ln/>
        </p:spPr>
      </p:sp>
      <p:sp>
        <p:nvSpPr>
          <p:cNvPr id="14" name="Text 12"/>
          <p:cNvSpPr/>
          <p:nvPr/>
        </p:nvSpPr>
        <p:spPr>
          <a:xfrm>
            <a:off x="2404872" y="1033272"/>
            <a:ext cx="1965960" cy="829818"/>
          </a:xfrm>
          <a:prstGeom prst="rect">
            <a:avLst/>
          </a:prstGeom>
          <a:noFill/>
          <a:ln/>
        </p:spPr>
        <p:txBody>
          <a:bodyPr wrap="square" lIns="0" tIns="0" rIns="0" bIns="0" rtlCol="0" anchor="ctr"/>
          <a:lstStyle/>
          <a:p>
            <a:pPr algn="ctr" indent="0" marL="0">
              <a:buNone/>
            </a:pPr>
            <a:r>
              <a:rPr lang="en-US" sz="2600" b="1" dirty="0">
                <a:solidFill>
                  <a:srgbClr val="1A6B42"/>
                </a:solidFill>
                <a:latin typeface="Georgia" pitchFamily="34" charset="0"/>
                <a:ea typeface="Georgia" pitchFamily="34" charset="-122"/>
                <a:cs typeface="Georgia" pitchFamily="34" charset="-120"/>
              </a:rPr>
              <a:t>+744%</a:t>
            </a:r>
            <a:endParaRPr lang="en-US" sz="2600" dirty="0"/>
          </a:p>
        </p:txBody>
      </p:sp>
      <p:sp>
        <p:nvSpPr>
          <p:cNvPr id="15" name="Text 13"/>
          <p:cNvSpPr/>
          <p:nvPr/>
        </p:nvSpPr>
        <p:spPr>
          <a:xfrm>
            <a:off x="2478024" y="1865376"/>
            <a:ext cx="1819656" cy="55824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Crecimiento patrimonial</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2012 → 2023</a:t>
            </a:r>
            <a:endParaRPr lang="en-US" sz="900" dirty="0"/>
          </a:p>
        </p:txBody>
      </p:sp>
      <p:sp>
        <p:nvSpPr>
          <p:cNvPr id="16" name="Shape 14"/>
          <p:cNvSpPr/>
          <p:nvPr/>
        </p:nvSpPr>
        <p:spPr>
          <a:xfrm>
            <a:off x="4535424" y="960120"/>
            <a:ext cx="1965960" cy="15087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7" name="Shape 15"/>
          <p:cNvSpPr/>
          <p:nvPr/>
        </p:nvSpPr>
        <p:spPr>
          <a:xfrm>
            <a:off x="4535424" y="960120"/>
            <a:ext cx="1965960" cy="59436"/>
          </a:xfrm>
          <a:prstGeom prst="rect">
            <a:avLst/>
          </a:prstGeom>
          <a:solidFill>
            <a:srgbClr val="0A6B65"/>
          </a:solidFill>
          <a:ln/>
        </p:spPr>
      </p:sp>
      <p:sp>
        <p:nvSpPr>
          <p:cNvPr id="18" name="Text 16"/>
          <p:cNvSpPr/>
          <p:nvPr/>
        </p:nvSpPr>
        <p:spPr>
          <a:xfrm>
            <a:off x="4535424" y="1033272"/>
            <a:ext cx="1965960" cy="829818"/>
          </a:xfrm>
          <a:prstGeom prst="rect">
            <a:avLst/>
          </a:prstGeom>
          <a:noFill/>
          <a:ln/>
        </p:spPr>
        <p:txBody>
          <a:bodyPr wrap="square" lIns="0" tIns="0" rIns="0" bIns="0" rtlCol="0" anchor="ctr"/>
          <a:lstStyle/>
          <a:p>
            <a:pPr algn="ctr" indent="0" marL="0">
              <a:buNone/>
            </a:pPr>
            <a:r>
              <a:rPr lang="en-US" sz="2600" b="1" dirty="0">
                <a:solidFill>
                  <a:srgbClr val="0A6B65"/>
                </a:solidFill>
                <a:latin typeface="Georgia" pitchFamily="34" charset="0"/>
                <a:ea typeface="Georgia" pitchFamily="34" charset="-122"/>
                <a:cs typeface="Georgia" pitchFamily="34" charset="-120"/>
              </a:rPr>
              <a:t>97,89%</a:t>
            </a:r>
            <a:endParaRPr lang="en-US" sz="2600" dirty="0"/>
          </a:p>
        </p:txBody>
      </p:sp>
      <p:sp>
        <p:nvSpPr>
          <p:cNvPr id="19" name="Text 17"/>
          <p:cNvSpPr/>
          <p:nvPr/>
        </p:nvSpPr>
        <p:spPr>
          <a:xfrm>
            <a:off x="4608576" y="1865376"/>
            <a:ext cx="1819656" cy="55824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Transparencia CPLT</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+15,85 pp sobre media nacional</a:t>
            </a:r>
            <a:endParaRPr lang="en-US" sz="900" dirty="0"/>
          </a:p>
        </p:txBody>
      </p:sp>
      <p:sp>
        <p:nvSpPr>
          <p:cNvPr id="20" name="Shape 18"/>
          <p:cNvSpPr/>
          <p:nvPr/>
        </p:nvSpPr>
        <p:spPr>
          <a:xfrm>
            <a:off x="6665976" y="960120"/>
            <a:ext cx="1965960" cy="15087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6665976" y="960120"/>
            <a:ext cx="1965960" cy="59436"/>
          </a:xfrm>
          <a:prstGeom prst="rect">
            <a:avLst/>
          </a:prstGeom>
          <a:solidFill>
            <a:srgbClr val="C9A84C"/>
          </a:solidFill>
          <a:ln/>
        </p:spPr>
      </p:sp>
      <p:sp>
        <p:nvSpPr>
          <p:cNvPr id="22" name="Text 20"/>
          <p:cNvSpPr/>
          <p:nvPr/>
        </p:nvSpPr>
        <p:spPr>
          <a:xfrm>
            <a:off x="6665976" y="1033272"/>
            <a:ext cx="1965960" cy="829818"/>
          </a:xfrm>
          <a:prstGeom prst="rect">
            <a:avLst/>
          </a:prstGeom>
          <a:noFill/>
          <a:ln/>
        </p:spPr>
        <p:txBody>
          <a:bodyPr wrap="square" lIns="0" tIns="0" rIns="0" bIns="0"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6,4%</a:t>
            </a:r>
            <a:endParaRPr lang="en-US" sz="2600" dirty="0"/>
          </a:p>
        </p:txBody>
      </p:sp>
      <p:sp>
        <p:nvSpPr>
          <p:cNvPr id="23" name="Text 21"/>
          <p:cNvSpPr/>
          <p:nvPr/>
        </p:nvSpPr>
        <p:spPr>
          <a:xfrm>
            <a:off x="6739128" y="1865376"/>
            <a:ext cx="1819656" cy="55824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Comunas con PACCC</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Rengo: única de Cachapoal</a:t>
            </a:r>
            <a:endParaRPr lang="en-US" sz="900" dirty="0"/>
          </a:p>
        </p:txBody>
      </p:sp>
      <p:sp>
        <p:nvSpPr>
          <p:cNvPr id="24" name="Shape 22"/>
          <p:cNvSpPr/>
          <p:nvPr/>
        </p:nvSpPr>
        <p:spPr>
          <a:xfrm>
            <a:off x="274320" y="2606040"/>
            <a:ext cx="8595360" cy="226771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5" name="Shape 23"/>
          <p:cNvSpPr/>
          <p:nvPr/>
        </p:nvSpPr>
        <p:spPr>
          <a:xfrm>
            <a:off x="274320" y="2606040"/>
            <a:ext cx="8595360" cy="59436"/>
          </a:xfrm>
          <a:prstGeom prst="rect">
            <a:avLst/>
          </a:prstGeom>
          <a:solidFill>
            <a:srgbClr val="1F3864"/>
          </a:solidFill>
          <a:ln/>
        </p:spPr>
      </p:sp>
      <p:sp>
        <p:nvSpPr>
          <p:cNvPr id="26" name="Shape 24"/>
          <p:cNvSpPr/>
          <p:nvPr/>
        </p:nvSpPr>
        <p:spPr>
          <a:xfrm>
            <a:off x="274320" y="2606040"/>
            <a:ext cx="82296" cy="2267712"/>
          </a:xfrm>
          <a:prstGeom prst="rect">
            <a:avLst/>
          </a:prstGeom>
          <a:solidFill>
            <a:srgbClr val="1F3864"/>
          </a:solidFill>
          <a:ln/>
        </p:spPr>
      </p:sp>
      <p:sp>
        <p:nvSpPr>
          <p:cNvPr id="27" name="Text 25"/>
          <p:cNvSpPr/>
          <p:nvPr/>
        </p:nvSpPr>
        <p:spPr>
          <a:xfrm>
            <a:off x="457200" y="2697480"/>
            <a:ext cx="8275320" cy="2084832"/>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Rengo llega al 2025 con activos que la mayoría de los municipios de la provincia nunca ha tenido. Con 4.829 empresas formales lidera en manufactura, comercio, construcción y salud social simultáneamente, superando incluso a comunas de mayor tamaño poblacional en la región. Su patrimonio pasó de una deuda de más de mil cuatrocientos millones a un superávit superior a los nueve mil millones en once años —un crecimiento del 744% sin paralelo en O’Higgins.</a:t>
            </a:r>
            <a:endParaRPr lang="en-US" sz="1050" dirty="0"/>
          </a:p>
          <a:p>
            <a:pPr algn="just" indent="0" marL="0">
              <a:buNone/>
            </a:pPr>
            <a:endParaRPr lang="en-US" sz="1050" dirty="0"/>
          </a:p>
          <a:p>
            <a:pPr algn="just" indent="0" marL="0">
              <a:buNone/>
            </a:pPr>
            <a:r>
              <a:rPr lang="en-US" sz="1050" dirty="0">
                <a:solidFill>
                  <a:srgbClr val="2C3E50"/>
                </a:solidFill>
                <a:latin typeface="Calibri" pitchFamily="34" charset="0"/>
                <a:ea typeface="Calibri" pitchFamily="34" charset="-122"/>
                <a:cs typeface="Calibri" pitchFamily="34" charset="-120"/>
              </a:rPr>
              <a:t>Con el índice de transparencia CPLT más alto de la región —casi dieciséis puntos sobre el promedio nacional— y el Plan de Acción Comunal de Cambio Climático aprobado —el único de la Provincia de Cachapoal—, Rengo tiene acceso a financiamiento climático internacional del que ninguna otra comuna vecina puede beneficiarse hoy. Estos activos no son logros simbólicos: son la plataforma desde la cual este PLADECO puede construir algo duradero. Un diagnóstico que solo enumera brechas sin reconocer esta base produce planes defensivos cuando debería producir planes de transformación.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La paradoja: liderazgo sin efectividad percibida</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El dato más revelador del diagnóstico: la distancia entre los indicadores formales y el bienestar real</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4160520" cy="391363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4160520" cy="384048"/>
          </a:xfrm>
          <a:prstGeom prst="rect">
            <a:avLst/>
          </a:prstGeom>
          <a:solidFill>
            <a:srgbClr val="1A6B42"/>
          </a:solidFill>
          <a:ln/>
          <a:effectLst>
            <a:outerShdw sx="100000" sy="100000" kx="0" ky="0" algn="bl" rotWithShape="0" blurRad="88900" dist="38100" dir="8100000">
              <a:srgbClr val="000000">
                <a:alpha val="10000"/>
              </a:srgbClr>
            </a:outerShdw>
          </a:effectLst>
        </p:spPr>
      </p:sp>
      <p:sp>
        <p:nvSpPr>
          <p:cNvPr id="10" name="Text 8"/>
          <p:cNvSpPr/>
          <p:nvPr/>
        </p:nvSpPr>
        <p:spPr>
          <a:xfrm>
            <a:off x="274320" y="960120"/>
            <a:ext cx="416052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 QUE DICEN LOS INDICADORES</a:t>
            </a:r>
            <a:endParaRPr lang="en-US" sz="900" dirty="0"/>
          </a:p>
        </p:txBody>
      </p:sp>
      <p:sp>
        <p:nvSpPr>
          <p:cNvPr id="11" name="Text 9"/>
          <p:cNvSpPr/>
          <p:nvPr/>
        </p:nvSpPr>
        <p:spPr>
          <a:xfrm>
            <a:off x="320040" y="1435608"/>
            <a:ext cx="4069080" cy="566928"/>
          </a:xfrm>
          <a:prstGeom prst="rect">
            <a:avLst/>
          </a:prstGeom>
          <a:noFill/>
          <a:ln/>
        </p:spPr>
        <p:txBody>
          <a:bodyPr wrap="square" rtlCol="0" anchor="ctr"/>
          <a:lstStyle/>
          <a:p>
            <a:pPr algn="ctr" indent="0" marL="0">
              <a:buNone/>
            </a:pPr>
            <a:r>
              <a:rPr lang="en-US" sz="2800" b="1" dirty="0">
                <a:solidFill>
                  <a:srgbClr val="1A6B42"/>
                </a:solidFill>
                <a:latin typeface="Georgia" pitchFamily="34" charset="0"/>
                <a:ea typeface="Georgia" pitchFamily="34" charset="-122"/>
                <a:cs typeface="Georgia" pitchFamily="34" charset="-120"/>
              </a:rPr>
              <a:t>97,89%</a:t>
            </a:r>
            <a:endParaRPr lang="en-US" sz="2800" dirty="0"/>
          </a:p>
        </p:txBody>
      </p:sp>
      <p:sp>
        <p:nvSpPr>
          <p:cNvPr id="12" name="Text 10"/>
          <p:cNvSpPr/>
          <p:nvPr/>
        </p:nvSpPr>
        <p:spPr>
          <a:xfrm>
            <a:off x="411480" y="2002536"/>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Índice CPLT — más alto de la región</a:t>
            </a:r>
            <a:endParaRPr lang="en-US" sz="950" dirty="0"/>
          </a:p>
        </p:txBody>
      </p:sp>
      <p:sp>
        <p:nvSpPr>
          <p:cNvPr id="13" name="Text 11"/>
          <p:cNvSpPr/>
          <p:nvPr/>
        </p:nvSpPr>
        <p:spPr>
          <a:xfrm>
            <a:off x="320040" y="2551176"/>
            <a:ext cx="4069080" cy="566928"/>
          </a:xfrm>
          <a:prstGeom prst="rect">
            <a:avLst/>
          </a:prstGeom>
          <a:noFill/>
          <a:ln/>
        </p:spPr>
        <p:txBody>
          <a:bodyPr wrap="square" rtlCol="0" anchor="ctr"/>
          <a:lstStyle/>
          <a:p>
            <a:pPr algn="ctr" indent="0" marL="0">
              <a:buNone/>
            </a:pPr>
            <a:r>
              <a:rPr lang="en-US" sz="2800" b="1" dirty="0">
                <a:solidFill>
                  <a:srgbClr val="1A6B42"/>
                </a:solidFill>
                <a:latin typeface="Georgia" pitchFamily="34" charset="0"/>
                <a:ea typeface="Georgia" pitchFamily="34" charset="-122"/>
                <a:cs typeface="Georgia" pitchFamily="34" charset="-120"/>
              </a:rPr>
              <a:t>+744%</a:t>
            </a:r>
            <a:endParaRPr lang="en-US" sz="2800" dirty="0"/>
          </a:p>
        </p:txBody>
      </p:sp>
      <p:sp>
        <p:nvSpPr>
          <p:cNvPr id="14" name="Text 12"/>
          <p:cNvSpPr/>
          <p:nvPr/>
        </p:nvSpPr>
        <p:spPr>
          <a:xfrm>
            <a:off x="411480" y="3118104"/>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Crecimiento patrimonial 2012–2023</a:t>
            </a:r>
            <a:endParaRPr lang="en-US" sz="950" dirty="0"/>
          </a:p>
        </p:txBody>
      </p:sp>
      <p:sp>
        <p:nvSpPr>
          <p:cNvPr id="15" name="Text 13"/>
          <p:cNvSpPr/>
          <p:nvPr/>
        </p:nvSpPr>
        <p:spPr>
          <a:xfrm>
            <a:off x="320040" y="3666744"/>
            <a:ext cx="4069080" cy="566928"/>
          </a:xfrm>
          <a:prstGeom prst="rect">
            <a:avLst/>
          </a:prstGeom>
          <a:noFill/>
          <a:ln/>
        </p:spPr>
        <p:txBody>
          <a:bodyPr wrap="square" rtlCol="0" anchor="ctr"/>
          <a:lstStyle/>
          <a:p>
            <a:pPr algn="ctr" indent="0" marL="0">
              <a:buNone/>
            </a:pPr>
            <a:r>
              <a:rPr lang="en-US" sz="2800" b="1" dirty="0">
                <a:solidFill>
                  <a:srgbClr val="1A6B42"/>
                </a:solidFill>
                <a:latin typeface="Georgia" pitchFamily="34" charset="0"/>
                <a:ea typeface="Georgia" pitchFamily="34" charset="-122"/>
                <a:cs typeface="Georgia" pitchFamily="34" charset="-120"/>
              </a:rPr>
              <a:t>12</a:t>
            </a:r>
            <a:endParaRPr lang="en-US" sz="2800" dirty="0"/>
          </a:p>
        </p:txBody>
      </p:sp>
      <p:sp>
        <p:nvSpPr>
          <p:cNvPr id="16" name="Text 14"/>
          <p:cNvSpPr/>
          <p:nvPr/>
        </p:nvSpPr>
        <p:spPr>
          <a:xfrm>
            <a:off x="411480" y="4233672"/>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Instrumentos de gestión en decreto</a:t>
            </a:r>
            <a:endParaRPr lang="en-US" sz="950" dirty="0"/>
          </a:p>
        </p:txBody>
      </p:sp>
      <p:sp>
        <p:nvSpPr>
          <p:cNvPr id="17" name="Shape 15"/>
          <p:cNvSpPr/>
          <p:nvPr/>
        </p:nvSpPr>
        <p:spPr>
          <a:xfrm>
            <a:off x="4709160" y="960120"/>
            <a:ext cx="4160520" cy="391363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8" name="Shape 16"/>
          <p:cNvSpPr/>
          <p:nvPr/>
        </p:nvSpPr>
        <p:spPr>
          <a:xfrm>
            <a:off x="4709160" y="960120"/>
            <a:ext cx="4160520" cy="384048"/>
          </a:xfrm>
          <a:prstGeom prst="rect">
            <a:avLst/>
          </a:prstGeom>
          <a:solidFill>
            <a:srgbClr val="B83232"/>
          </a:solidFill>
          <a:ln/>
          <a:effectLst>
            <a:outerShdw sx="100000" sy="100000" kx="0" ky="0" algn="bl" rotWithShape="0" blurRad="88900" dist="38100" dir="8100000">
              <a:srgbClr val="000000">
                <a:alpha val="10000"/>
              </a:srgbClr>
            </a:outerShdw>
          </a:effectLst>
        </p:spPr>
      </p:sp>
      <p:sp>
        <p:nvSpPr>
          <p:cNvPr id="19" name="Text 17"/>
          <p:cNvSpPr/>
          <p:nvPr/>
        </p:nvSpPr>
        <p:spPr>
          <a:xfrm>
            <a:off x="4709160" y="960120"/>
            <a:ext cx="416052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 QUE OCURRE EN LA PRÁCTICA</a:t>
            </a:r>
            <a:endParaRPr lang="en-US" sz="900" dirty="0"/>
          </a:p>
        </p:txBody>
      </p:sp>
      <p:sp>
        <p:nvSpPr>
          <p:cNvPr id="20" name="Text 18"/>
          <p:cNvSpPr/>
          <p:nvPr/>
        </p:nvSpPr>
        <p:spPr>
          <a:xfrm>
            <a:off x="4754880" y="1435608"/>
            <a:ext cx="4069080" cy="566928"/>
          </a:xfrm>
          <a:prstGeom prst="rect">
            <a:avLst/>
          </a:prstGeom>
          <a:noFill/>
          <a:ln/>
        </p:spPr>
        <p:txBody>
          <a:bodyPr wrap="square" rtlCol="0" anchor="ctr"/>
          <a:lstStyle/>
          <a:p>
            <a:pPr algn="ctr" indent="0" marL="0">
              <a:buNone/>
            </a:pPr>
            <a:r>
              <a:rPr lang="en-US" sz="2800" b="1" dirty="0">
                <a:solidFill>
                  <a:srgbClr val="B83232"/>
                </a:solidFill>
                <a:latin typeface="Georgia" pitchFamily="34" charset="0"/>
                <a:ea typeface="Georgia" pitchFamily="34" charset="-122"/>
                <a:cs typeface="Georgia" pitchFamily="34" charset="-120"/>
              </a:rPr>
              <a:t>50%</a:t>
            </a:r>
            <a:endParaRPr lang="en-US" sz="2800" dirty="0"/>
          </a:p>
        </p:txBody>
      </p:sp>
      <p:sp>
        <p:nvSpPr>
          <p:cNvPr id="21" name="Text 19"/>
          <p:cNvSpPr/>
          <p:nvPr/>
        </p:nvSpPr>
        <p:spPr>
          <a:xfrm>
            <a:off x="4846320" y="2002536"/>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Instrumentos solo en papel — sin implementación verificable</a:t>
            </a:r>
            <a:endParaRPr lang="en-US" sz="950" dirty="0"/>
          </a:p>
        </p:txBody>
      </p:sp>
      <p:sp>
        <p:nvSpPr>
          <p:cNvPr id="22" name="Text 20"/>
          <p:cNvSpPr/>
          <p:nvPr/>
        </p:nvSpPr>
        <p:spPr>
          <a:xfrm>
            <a:off x="4754880" y="2551176"/>
            <a:ext cx="4069080" cy="566928"/>
          </a:xfrm>
          <a:prstGeom prst="rect">
            <a:avLst/>
          </a:prstGeom>
          <a:noFill/>
          <a:ln/>
        </p:spPr>
        <p:txBody>
          <a:bodyPr wrap="square" rtlCol="0" anchor="ctr"/>
          <a:lstStyle/>
          <a:p>
            <a:pPr algn="ctr" indent="0" marL="0">
              <a:buNone/>
            </a:pPr>
            <a:r>
              <a:rPr lang="en-US" sz="2800" b="1" dirty="0">
                <a:solidFill>
                  <a:srgbClr val="B83232"/>
                </a:solidFill>
                <a:latin typeface="Georgia" pitchFamily="34" charset="0"/>
                <a:ea typeface="Georgia" pitchFamily="34" charset="-122"/>
                <a:cs typeface="Georgia" pitchFamily="34" charset="-120"/>
              </a:rPr>
              <a:t>30,7%</a:t>
            </a:r>
            <a:endParaRPr lang="en-US" sz="2800" dirty="0"/>
          </a:p>
        </p:txBody>
      </p:sp>
      <p:sp>
        <p:nvSpPr>
          <p:cNvPr id="23" name="Text 21"/>
          <p:cNvSpPr/>
          <p:nvPr/>
        </p:nvSpPr>
        <p:spPr>
          <a:xfrm>
            <a:off x="4846320" y="3118104"/>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Tasa de materialización de inversión (cayó desde el 49,4%)</a:t>
            </a:r>
            <a:endParaRPr lang="en-US" sz="950" dirty="0"/>
          </a:p>
        </p:txBody>
      </p:sp>
      <p:sp>
        <p:nvSpPr>
          <p:cNvPr id="24" name="Text 22"/>
          <p:cNvSpPr/>
          <p:nvPr/>
        </p:nvSpPr>
        <p:spPr>
          <a:xfrm>
            <a:off x="4754880" y="3666744"/>
            <a:ext cx="4069080" cy="566928"/>
          </a:xfrm>
          <a:prstGeom prst="rect">
            <a:avLst/>
          </a:prstGeom>
          <a:noFill/>
          <a:ln/>
        </p:spPr>
        <p:txBody>
          <a:bodyPr wrap="square" rtlCol="0" anchor="ctr"/>
          <a:lstStyle/>
          <a:p>
            <a:pPr algn="ctr" indent="0" marL="0">
              <a:buNone/>
            </a:pPr>
            <a:r>
              <a:rPr lang="en-US" sz="2800" b="1" dirty="0">
                <a:solidFill>
                  <a:srgbClr val="B83232"/>
                </a:solidFill>
                <a:latin typeface="Georgia" pitchFamily="34" charset="0"/>
                <a:ea typeface="Georgia" pitchFamily="34" charset="-122"/>
                <a:cs typeface="Georgia" pitchFamily="34" charset="-120"/>
              </a:rPr>
              <a:t>100%</a:t>
            </a:r>
            <a:endParaRPr lang="en-US" sz="2800" dirty="0"/>
          </a:p>
        </p:txBody>
      </p:sp>
      <p:sp>
        <p:nvSpPr>
          <p:cNvPr id="25" name="Text 23"/>
          <p:cNvSpPr/>
          <p:nvPr/>
        </p:nvSpPr>
        <p:spPr>
          <a:xfrm>
            <a:off x="4846320" y="4233672"/>
            <a:ext cx="3886200" cy="438912"/>
          </a:xfrm>
          <a:prstGeom prst="rect">
            <a:avLst/>
          </a:prstGeom>
          <a:noFill/>
          <a:ln/>
        </p:spPr>
        <p:txBody>
          <a:bodyPr wrap="square" rtlCol="0" anchor="t"/>
          <a:lstStyle/>
          <a:p>
            <a:pPr algn="ctr" indent="0" marL="0">
              <a:buNone/>
            </a:pPr>
            <a:r>
              <a:rPr lang="en-US" sz="950" dirty="0">
                <a:solidFill>
                  <a:srgbClr val="64748B"/>
                </a:solidFill>
                <a:latin typeface="Calibri" pitchFamily="34" charset="0"/>
                <a:ea typeface="Calibri" pitchFamily="34" charset="-122"/>
                <a:cs typeface="Calibri" pitchFamily="34" charset="-120"/>
              </a:rPr>
              <a:t>de NNA evaluó negativamente a Rengo como lugar para vivir</a:t>
            </a:r>
            <a:endParaRPr lang="en-US" sz="950" dirty="0"/>
          </a:p>
        </p:txBody>
      </p:sp>
      <p:sp>
        <p:nvSpPr>
          <p:cNvPr id="26" name="Shape 24"/>
          <p:cNvSpPr/>
          <p:nvPr/>
        </p:nvSpPr>
        <p:spPr>
          <a:xfrm>
            <a:off x="4206240" y="2514600"/>
            <a:ext cx="731520" cy="731520"/>
          </a:xfrm>
          <a:prstGeom prst="oval">
            <a:avLst/>
          </a:prstGeom>
          <a:solidFill>
            <a:srgbClr val="C9A84C"/>
          </a:solidFill>
          <a:ln/>
          <a:effectLst>
            <a:outerShdw sx="100000" sy="100000" kx="0" ky="0" algn="bl" rotWithShape="0" blurRad="88900" dist="38100" dir="8100000">
              <a:srgbClr val="000000">
                <a:alpha val="10000"/>
              </a:srgbClr>
            </a:outerShdw>
          </a:effectLst>
        </p:spPr>
      </p:sp>
      <p:sp>
        <p:nvSpPr>
          <p:cNvPr id="27" name="Text 25"/>
          <p:cNvSpPr/>
          <p:nvPr/>
        </p:nvSpPr>
        <p:spPr>
          <a:xfrm>
            <a:off x="4206240" y="2514600"/>
            <a:ext cx="731520" cy="7315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Lo que debemos corregir con urgencia</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4 brechas verificables · solución técnica disponible · ejecutables en 90 días sin inversión significativa</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4023360" cy="1664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4023360" cy="59436"/>
          </a:xfrm>
          <a:prstGeom prst="rect">
            <a:avLst/>
          </a:prstGeom>
          <a:solidFill>
            <a:srgbClr val="B83232"/>
          </a:solidFill>
          <a:ln/>
        </p:spPr>
      </p:sp>
      <p:sp>
        <p:nvSpPr>
          <p:cNvPr id="10" name="Text 8"/>
          <p:cNvSpPr/>
          <p:nvPr/>
        </p:nvSpPr>
        <p:spPr>
          <a:xfrm>
            <a:off x="274320" y="1051560"/>
            <a:ext cx="4023360" cy="731520"/>
          </a:xfrm>
          <a:prstGeom prst="rect">
            <a:avLst/>
          </a:prstGeom>
          <a:noFill/>
          <a:ln/>
        </p:spPr>
        <p:txBody>
          <a:bodyPr wrap="square" rtlCol="0" anchor="ctr"/>
          <a:lstStyle/>
          <a:p>
            <a:pPr algn="ctr" indent="0" marL="0">
              <a:buNone/>
            </a:pPr>
            <a:r>
              <a:rPr lang="en-US" sz="3400" b="1" dirty="0">
                <a:solidFill>
                  <a:srgbClr val="B83232"/>
                </a:solidFill>
                <a:latin typeface="Georgia" pitchFamily="34" charset="0"/>
                <a:ea typeface="Georgia" pitchFamily="34" charset="-122"/>
                <a:cs typeface="Georgia" pitchFamily="34" charset="-120"/>
              </a:rPr>
              <a:t>6</a:t>
            </a:r>
            <a:endParaRPr lang="en-US" sz="3400" dirty="0"/>
          </a:p>
        </p:txBody>
      </p:sp>
      <p:sp>
        <p:nvSpPr>
          <p:cNvPr id="11" name="Text 9"/>
          <p:cNvSpPr/>
          <p:nvPr/>
        </p:nvSpPr>
        <p:spPr>
          <a:xfrm>
            <a:off x="411480" y="1801368"/>
            <a:ext cx="3749040" cy="256032"/>
          </a:xfrm>
          <a:prstGeom prst="rect">
            <a:avLst/>
          </a:prstGeom>
          <a:noFill/>
          <a:ln/>
        </p:spPr>
        <p:txBody>
          <a:bodyPr wrap="square" lIns="0" tIns="0" rIns="0" bIns="0" rtlCol="0" anchor="ctr"/>
          <a:lstStyle/>
          <a:p>
            <a:pPr indent="0" marL="0">
              <a:buNone/>
            </a:pPr>
            <a:r>
              <a:rPr lang="en-US" sz="1050" b="1" dirty="0">
                <a:solidFill>
                  <a:srgbClr val="1F3864"/>
                </a:solidFill>
                <a:latin typeface="Georgia" pitchFamily="34" charset="0"/>
                <a:ea typeface="Georgia" pitchFamily="34" charset="-122"/>
                <a:cs typeface="Georgia" pitchFamily="34" charset="-120"/>
              </a:rPr>
              <a:t>Brechas Ley Karin activas</a:t>
            </a:r>
            <a:endParaRPr lang="en-US" sz="1050" dirty="0"/>
          </a:p>
        </p:txBody>
      </p:sp>
      <p:sp>
        <p:nvSpPr>
          <p:cNvPr id="12" name="Text 10"/>
          <p:cNvSpPr/>
          <p:nvPr/>
        </p:nvSpPr>
        <p:spPr>
          <a:xfrm>
            <a:off x="411480" y="2075688"/>
            <a:ext cx="3749040" cy="484632"/>
          </a:xfrm>
          <a:prstGeom prst="rect">
            <a:avLst/>
          </a:prstGeom>
          <a:noFill/>
          <a:ln/>
        </p:spPr>
        <p:txBody>
          <a:bodyPr wrap="square" lIns="0" tIns="0" rIns="0" bIns="0"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Sin cumplir desde agosto 2024. Expone al municipio a multas de hasta 100 UTM por infracción. Solución: protocolo de denuncia, capacitación 100% dotación y canal formal en 30 días.</a:t>
            </a:r>
            <a:endParaRPr lang="en-US" sz="950" dirty="0"/>
          </a:p>
        </p:txBody>
      </p:sp>
      <p:sp>
        <p:nvSpPr>
          <p:cNvPr id="13" name="Shape 11"/>
          <p:cNvSpPr/>
          <p:nvPr/>
        </p:nvSpPr>
        <p:spPr>
          <a:xfrm>
            <a:off x="4617720" y="960120"/>
            <a:ext cx="4023360" cy="1664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4" name="Shape 12"/>
          <p:cNvSpPr/>
          <p:nvPr/>
        </p:nvSpPr>
        <p:spPr>
          <a:xfrm>
            <a:off x="4617720" y="960120"/>
            <a:ext cx="4023360" cy="59436"/>
          </a:xfrm>
          <a:prstGeom prst="rect">
            <a:avLst/>
          </a:prstGeom>
          <a:solidFill>
            <a:srgbClr val="B83232"/>
          </a:solidFill>
          <a:ln/>
        </p:spPr>
      </p:sp>
      <p:sp>
        <p:nvSpPr>
          <p:cNvPr id="15" name="Text 13"/>
          <p:cNvSpPr/>
          <p:nvPr/>
        </p:nvSpPr>
        <p:spPr>
          <a:xfrm>
            <a:off x="4617720" y="1051560"/>
            <a:ext cx="4023360" cy="731520"/>
          </a:xfrm>
          <a:prstGeom prst="rect">
            <a:avLst/>
          </a:prstGeom>
          <a:noFill/>
          <a:ln/>
        </p:spPr>
        <p:txBody>
          <a:bodyPr wrap="square" rtlCol="0" anchor="ctr"/>
          <a:lstStyle/>
          <a:p>
            <a:pPr algn="ctr" indent="0" marL="0">
              <a:buNone/>
            </a:pPr>
            <a:r>
              <a:rPr lang="en-US" sz="3400" b="1" dirty="0">
                <a:solidFill>
                  <a:srgbClr val="B83232"/>
                </a:solidFill>
                <a:latin typeface="Georgia" pitchFamily="34" charset="0"/>
                <a:ea typeface="Georgia" pitchFamily="34" charset="-122"/>
                <a:cs typeface="Georgia" pitchFamily="34" charset="-120"/>
              </a:rPr>
              <a:t>0</a:t>
            </a:r>
            <a:endParaRPr lang="en-US" sz="3400" dirty="0"/>
          </a:p>
        </p:txBody>
      </p:sp>
      <p:sp>
        <p:nvSpPr>
          <p:cNvPr id="16" name="Text 14"/>
          <p:cNvSpPr/>
          <p:nvPr/>
        </p:nvSpPr>
        <p:spPr>
          <a:xfrm>
            <a:off x="4754880" y="1801368"/>
            <a:ext cx="3749040" cy="256032"/>
          </a:xfrm>
          <a:prstGeom prst="rect">
            <a:avLst/>
          </a:prstGeom>
          <a:noFill/>
          <a:ln/>
        </p:spPr>
        <p:txBody>
          <a:bodyPr wrap="square" lIns="0" tIns="0" rIns="0" bIns="0" rtlCol="0" anchor="ctr"/>
          <a:lstStyle/>
          <a:p>
            <a:pPr indent="0" marL="0">
              <a:buNone/>
            </a:pPr>
            <a:r>
              <a:rPr lang="en-US" sz="1050" b="1" dirty="0">
                <a:solidFill>
                  <a:srgbClr val="1F3864"/>
                </a:solidFill>
                <a:latin typeface="Georgia" pitchFamily="34" charset="0"/>
                <a:ea typeface="Georgia" pitchFamily="34" charset="-122"/>
                <a:cs typeface="Georgia" pitchFamily="34" charset="-120"/>
              </a:rPr>
              <a:t>COSOC inoperativo</a:t>
            </a:r>
            <a:endParaRPr lang="en-US" sz="1050" dirty="0"/>
          </a:p>
        </p:txBody>
      </p:sp>
      <p:sp>
        <p:nvSpPr>
          <p:cNvPr id="17" name="Text 15"/>
          <p:cNvSpPr/>
          <p:nvPr/>
        </p:nvSpPr>
        <p:spPr>
          <a:xfrm>
            <a:off x="4754880" y="2075688"/>
            <a:ext cx="3749040" cy="484632"/>
          </a:xfrm>
          <a:prstGeom prst="rect">
            <a:avLst/>
          </a:prstGeom>
          <a:noFill/>
          <a:ln/>
        </p:spPr>
        <p:txBody>
          <a:bodyPr wrap="square" lIns="0" tIns="0" rIns="0" bIns="0"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El organismo de participación ciudadana no sesiona. Expone la legitimidad jurídica del PLADECO ante cualquier impugnación. Solución: convocatoria formal en 15 días.</a:t>
            </a:r>
            <a:endParaRPr lang="en-US" sz="950" dirty="0"/>
          </a:p>
        </p:txBody>
      </p:sp>
      <p:sp>
        <p:nvSpPr>
          <p:cNvPr id="18" name="Shape 16"/>
          <p:cNvSpPr/>
          <p:nvPr/>
        </p:nvSpPr>
        <p:spPr>
          <a:xfrm>
            <a:off x="274320" y="2852928"/>
            <a:ext cx="4023360" cy="1664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9" name="Shape 17"/>
          <p:cNvSpPr/>
          <p:nvPr/>
        </p:nvSpPr>
        <p:spPr>
          <a:xfrm>
            <a:off x="274320" y="2852928"/>
            <a:ext cx="4023360" cy="59436"/>
          </a:xfrm>
          <a:prstGeom prst="rect">
            <a:avLst/>
          </a:prstGeom>
          <a:solidFill>
            <a:srgbClr val="9B6B0A"/>
          </a:solidFill>
          <a:ln/>
        </p:spPr>
      </p:sp>
      <p:sp>
        <p:nvSpPr>
          <p:cNvPr id="20" name="Text 18"/>
          <p:cNvSpPr/>
          <p:nvPr/>
        </p:nvSpPr>
        <p:spPr>
          <a:xfrm>
            <a:off x="274320" y="2944368"/>
            <a:ext cx="4023360" cy="731520"/>
          </a:xfrm>
          <a:prstGeom prst="rect">
            <a:avLst/>
          </a:prstGeom>
          <a:noFill/>
          <a:ln/>
        </p:spPr>
        <p:txBody>
          <a:bodyPr wrap="square" rtlCol="0" anchor="ctr"/>
          <a:lstStyle/>
          <a:p>
            <a:pPr algn="ctr" indent="0" marL="0">
              <a:buNone/>
            </a:pPr>
            <a:r>
              <a:rPr lang="en-US" sz="3400" b="1" dirty="0">
                <a:solidFill>
                  <a:srgbClr val="9B6B0A"/>
                </a:solidFill>
                <a:latin typeface="Georgia" pitchFamily="34" charset="0"/>
                <a:ea typeface="Georgia" pitchFamily="34" charset="-122"/>
                <a:cs typeface="Georgia" pitchFamily="34" charset="-120"/>
              </a:rPr>
              <a:t>50%</a:t>
            </a:r>
            <a:endParaRPr lang="en-US" sz="3400" dirty="0"/>
          </a:p>
        </p:txBody>
      </p:sp>
      <p:sp>
        <p:nvSpPr>
          <p:cNvPr id="21" name="Text 19"/>
          <p:cNvSpPr/>
          <p:nvPr/>
        </p:nvSpPr>
        <p:spPr>
          <a:xfrm>
            <a:off x="411480" y="3694176"/>
            <a:ext cx="3749040" cy="256032"/>
          </a:xfrm>
          <a:prstGeom prst="rect">
            <a:avLst/>
          </a:prstGeom>
          <a:noFill/>
          <a:ln/>
        </p:spPr>
        <p:txBody>
          <a:bodyPr wrap="square" lIns="0" tIns="0" rIns="0" bIns="0" rtlCol="0" anchor="ctr"/>
          <a:lstStyle/>
          <a:p>
            <a:pPr indent="0" marL="0">
              <a:buNone/>
            </a:pPr>
            <a:r>
              <a:rPr lang="en-US" sz="1050" b="1" dirty="0">
                <a:solidFill>
                  <a:srgbClr val="1F3864"/>
                </a:solidFill>
                <a:latin typeface="Georgia" pitchFamily="34" charset="0"/>
                <a:ea typeface="Georgia" pitchFamily="34" charset="-122"/>
                <a:cs typeface="Georgia" pitchFamily="34" charset="-120"/>
              </a:rPr>
              <a:t>Instrumentos solo en papel</a:t>
            </a:r>
            <a:endParaRPr lang="en-US" sz="1050" dirty="0"/>
          </a:p>
        </p:txBody>
      </p:sp>
      <p:sp>
        <p:nvSpPr>
          <p:cNvPr id="22" name="Text 20"/>
          <p:cNvSpPr/>
          <p:nvPr/>
        </p:nvSpPr>
        <p:spPr>
          <a:xfrm>
            <a:off x="411480" y="3968496"/>
            <a:ext cx="3749040" cy="484632"/>
          </a:xfrm>
          <a:prstGeom prst="rect">
            <a:avLst/>
          </a:prstGeom>
          <a:noFill/>
          <a:ln/>
        </p:spPr>
        <p:txBody>
          <a:bodyPr wrap="square" lIns="0" tIns="0" rIns="0" bIns="0"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6 de 12 instrumentos formalizados en decreto sin indicadores de implementación, sin presupuesto asignado y sin responsable ejecutor identificado. Solución: tablero de seguimiento.</a:t>
            </a:r>
            <a:endParaRPr lang="en-US" sz="950" dirty="0"/>
          </a:p>
        </p:txBody>
      </p:sp>
      <p:sp>
        <p:nvSpPr>
          <p:cNvPr id="23" name="Shape 21"/>
          <p:cNvSpPr/>
          <p:nvPr/>
        </p:nvSpPr>
        <p:spPr>
          <a:xfrm>
            <a:off x="4617720" y="2852928"/>
            <a:ext cx="4023360" cy="1664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4" name="Shape 22"/>
          <p:cNvSpPr/>
          <p:nvPr/>
        </p:nvSpPr>
        <p:spPr>
          <a:xfrm>
            <a:off x="4617720" y="2852928"/>
            <a:ext cx="4023360" cy="59436"/>
          </a:xfrm>
          <a:prstGeom prst="rect">
            <a:avLst/>
          </a:prstGeom>
          <a:solidFill>
            <a:srgbClr val="9B6B0A"/>
          </a:solidFill>
          <a:ln/>
        </p:spPr>
      </p:sp>
      <p:sp>
        <p:nvSpPr>
          <p:cNvPr id="25" name="Text 23"/>
          <p:cNvSpPr/>
          <p:nvPr/>
        </p:nvSpPr>
        <p:spPr>
          <a:xfrm>
            <a:off x="4617720" y="2944368"/>
            <a:ext cx="4023360" cy="731520"/>
          </a:xfrm>
          <a:prstGeom prst="rect">
            <a:avLst/>
          </a:prstGeom>
          <a:noFill/>
          <a:ln/>
        </p:spPr>
        <p:txBody>
          <a:bodyPr wrap="square" rtlCol="0" anchor="ctr"/>
          <a:lstStyle/>
          <a:p>
            <a:pPr algn="ctr" indent="0" marL="0">
              <a:buNone/>
            </a:pPr>
            <a:r>
              <a:rPr lang="en-US" sz="3400" b="1" dirty="0">
                <a:solidFill>
                  <a:srgbClr val="9B6B0A"/>
                </a:solidFill>
                <a:latin typeface="Georgia" pitchFamily="34" charset="0"/>
                <a:ea typeface="Georgia" pitchFamily="34" charset="-122"/>
                <a:cs typeface="Georgia" pitchFamily="34" charset="-120"/>
              </a:rPr>
              <a:t>30,7%</a:t>
            </a:r>
            <a:endParaRPr lang="en-US" sz="3400" dirty="0"/>
          </a:p>
        </p:txBody>
      </p:sp>
      <p:sp>
        <p:nvSpPr>
          <p:cNvPr id="26" name="Text 24"/>
          <p:cNvSpPr/>
          <p:nvPr/>
        </p:nvSpPr>
        <p:spPr>
          <a:xfrm>
            <a:off x="4754880" y="3694176"/>
            <a:ext cx="3749040" cy="256032"/>
          </a:xfrm>
          <a:prstGeom prst="rect">
            <a:avLst/>
          </a:prstGeom>
          <a:noFill/>
          <a:ln/>
        </p:spPr>
        <p:txBody>
          <a:bodyPr wrap="square" lIns="0" tIns="0" rIns="0" bIns="0" rtlCol="0" anchor="ctr"/>
          <a:lstStyle/>
          <a:p>
            <a:pPr indent="0" marL="0">
              <a:buNone/>
            </a:pPr>
            <a:r>
              <a:rPr lang="en-US" sz="1050" b="1" dirty="0">
                <a:solidFill>
                  <a:srgbClr val="1F3864"/>
                </a:solidFill>
                <a:latin typeface="Georgia" pitchFamily="34" charset="0"/>
                <a:ea typeface="Georgia" pitchFamily="34" charset="-122"/>
                <a:cs typeface="Georgia" pitchFamily="34" charset="-120"/>
              </a:rPr>
              <a:t>Tasa de materialización de inversión</a:t>
            </a:r>
            <a:endParaRPr lang="en-US" sz="1050" dirty="0"/>
          </a:p>
        </p:txBody>
      </p:sp>
      <p:sp>
        <p:nvSpPr>
          <p:cNvPr id="27" name="Text 25"/>
          <p:cNvSpPr/>
          <p:nvPr/>
        </p:nvSpPr>
        <p:spPr>
          <a:xfrm>
            <a:off x="4754880" y="3968496"/>
            <a:ext cx="3749040" cy="484632"/>
          </a:xfrm>
          <a:prstGeom prst="rect">
            <a:avLst/>
          </a:prstGeom>
          <a:noFill/>
          <a:ln/>
        </p:spPr>
        <p:txBody>
          <a:bodyPr wrap="square" lIns="0" tIns="0" rIns="0" bIns="0"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Por cada $100 comprometidos, $69,3 no llegan a la comunidad. Cayó desde el 49,4% de la década anterior. BIP registra solo 5 proyectos comunales en 2014–2025.</a:t>
            </a:r>
            <a:endParaRPr lang="en-US" sz="950" dirty="0"/>
          </a:p>
        </p:txBody>
      </p:sp>
      <p:sp>
        <p:nvSpPr>
          <p:cNvPr id="28" name="Shape 26"/>
          <p:cNvSpPr/>
          <p:nvPr/>
        </p:nvSpPr>
        <p:spPr>
          <a:xfrm>
            <a:off x="274320" y="4599432"/>
            <a:ext cx="8595360" cy="365760"/>
          </a:xfrm>
          <a:prstGeom prst="rect">
            <a:avLst/>
          </a:prstGeom>
          <a:solidFill>
            <a:srgbClr val="1F3864"/>
          </a:solidFill>
          <a:ln/>
        </p:spPr>
      </p:sp>
      <p:sp>
        <p:nvSpPr>
          <p:cNvPr id="29" name="Text 27"/>
          <p:cNvSpPr/>
          <p:nvPr/>
        </p:nvSpPr>
        <p:spPr>
          <a:xfrm>
            <a:off x="457200" y="4626864"/>
            <a:ext cx="8229600" cy="310896"/>
          </a:xfrm>
          <a:prstGeom prst="rect">
            <a:avLst/>
          </a:prstGeom>
          <a:noFill/>
          <a:ln/>
        </p:spPr>
        <p:txBody>
          <a:bodyPr wrap="square" lIns="508" tIns="508" rIns="508" bIns="508"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El costo de omitir estas brechas —legal, reputacional y político— supera estructuralmente el costo de corregirlas. Ninguna requiere inversión significativa. Todas crecen en riesgo cada mes que pasan sin acción.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El desafío financiero: estructura, no ingresos</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Captación externa, dependencia FCM e ingresos propios proyectados 2024–2035</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896112"/>
            <a:ext cx="8595360" cy="347472"/>
          </a:xfrm>
          <a:prstGeom prst="rect">
            <a:avLst/>
          </a:prstGeom>
          <a:solidFill>
            <a:srgbClr val="E8ECF0"/>
          </a:solidFill>
          <a:ln/>
        </p:spPr>
      </p:sp>
      <p:sp>
        <p:nvSpPr>
          <p:cNvPr id="9" name="Text 7"/>
          <p:cNvSpPr/>
          <p:nvPr/>
        </p:nvSpPr>
        <p:spPr>
          <a:xfrm>
            <a:off x="411480" y="932688"/>
            <a:ext cx="8229600" cy="274320"/>
          </a:xfrm>
          <a:prstGeom prst="rect">
            <a:avLst/>
          </a:prstGeom>
          <a:noFill/>
          <a:ln/>
        </p:spPr>
        <p:txBody>
          <a:bodyPr wrap="square" lIns="508" tIns="508" rIns="508" bIns="508" rtlCol="0" anchor="ctr"/>
          <a:lstStyle/>
          <a:p>
            <a:pPr algn="l" indent="0" marL="0">
              <a:buNone/>
            </a:pPr>
            <a:r>
              <a:rPr lang="en-US" sz="950" b="1" dirty="0">
                <a:solidFill>
                  <a:srgbClr val="1F3864"/>
                </a:solidFill>
                <a:latin typeface="Calibri" pitchFamily="34" charset="0"/>
                <a:ea typeface="Calibri" pitchFamily="34" charset="-122"/>
                <a:cs typeface="Calibri" pitchFamily="34" charset="-120"/>
              </a:rPr>
              <a:t>Captación fondos externos / presupuesto total — Rengo vs. promedio regional O’Higgins</a:t>
            </a:r>
            <a:endParaRPr lang="en-US" sz="950" dirty="0"/>
          </a:p>
        </p:txBody>
      </p:sp>
      <p:sp>
        <p:nvSpPr>
          <p:cNvPr id="10" name="Shape 8"/>
          <p:cNvSpPr/>
          <p:nvPr/>
        </p:nvSpPr>
        <p:spPr>
          <a:xfrm>
            <a:off x="274320" y="1344168"/>
            <a:ext cx="8595360" cy="566928"/>
          </a:xfrm>
          <a:prstGeom prst="rect">
            <a:avLst/>
          </a:prstGeom>
          <a:solidFill>
            <a:srgbClr val="E8ECF0"/>
          </a:solidFill>
          <a:ln/>
        </p:spPr>
      </p:sp>
      <p:sp>
        <p:nvSpPr>
          <p:cNvPr id="11" name="Shape 9"/>
          <p:cNvSpPr/>
          <p:nvPr/>
        </p:nvSpPr>
        <p:spPr>
          <a:xfrm>
            <a:off x="274320" y="1344168"/>
            <a:ext cx="2697480" cy="566928"/>
          </a:xfrm>
          <a:prstGeom prst="rect">
            <a:avLst/>
          </a:prstGeom>
          <a:solidFill>
            <a:srgbClr val="B83232"/>
          </a:solidFill>
          <a:ln/>
        </p:spPr>
      </p:sp>
      <p:sp>
        <p:nvSpPr>
          <p:cNvPr id="12" name="Text 10"/>
          <p:cNvSpPr/>
          <p:nvPr/>
        </p:nvSpPr>
        <p:spPr>
          <a:xfrm>
            <a:off x="411480" y="1408176"/>
            <a:ext cx="2560320" cy="438912"/>
          </a:xfrm>
          <a:prstGeom prst="rect">
            <a:avLst/>
          </a:prstGeom>
          <a:noFill/>
          <a:ln/>
        </p:spPr>
        <p:txBody>
          <a:bodyPr wrap="square" lIns="508" tIns="508" rIns="508" bIns="508"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Rengo  6,28%</a:t>
            </a:r>
            <a:endParaRPr lang="en-US" sz="1300" dirty="0"/>
          </a:p>
        </p:txBody>
      </p:sp>
      <p:sp>
        <p:nvSpPr>
          <p:cNvPr id="13" name="Text 11"/>
          <p:cNvSpPr/>
          <p:nvPr/>
        </p:nvSpPr>
        <p:spPr>
          <a:xfrm>
            <a:off x="3063240" y="1463040"/>
            <a:ext cx="2286000" cy="256032"/>
          </a:xfrm>
          <a:prstGeom prst="rect">
            <a:avLst/>
          </a:prstGeom>
          <a:noFill/>
          <a:ln/>
        </p:spPr>
        <p:txBody>
          <a:bodyPr wrap="square" lIns="508" tIns="508" rIns="508" bIns="508" rtlCol="0" anchor="ctr"/>
          <a:lstStyle/>
          <a:p>
            <a:pPr algn="l" indent="0" marL="0">
              <a:buNone/>
            </a:pPr>
            <a:r>
              <a:rPr lang="en-US" sz="900" dirty="0">
                <a:solidFill>
                  <a:srgbClr val="B83232"/>
                </a:solidFill>
                <a:latin typeface="Calibri" pitchFamily="34" charset="0"/>
                <a:ea typeface="Calibri" pitchFamily="34" charset="-122"/>
                <a:cs typeface="Calibri" pitchFamily="34" charset="-120"/>
              </a:rPr>
              <a:t>Punto actual</a:t>
            </a:r>
            <a:endParaRPr lang="en-US" sz="900" dirty="0"/>
          </a:p>
        </p:txBody>
      </p:sp>
      <p:sp>
        <p:nvSpPr>
          <p:cNvPr id="14" name="Shape 12"/>
          <p:cNvSpPr/>
          <p:nvPr/>
        </p:nvSpPr>
        <p:spPr>
          <a:xfrm>
            <a:off x="274320" y="2011680"/>
            <a:ext cx="8595360" cy="566928"/>
          </a:xfrm>
          <a:prstGeom prst="rect">
            <a:avLst/>
          </a:prstGeom>
          <a:solidFill>
            <a:srgbClr val="E8ECF0"/>
          </a:solidFill>
          <a:ln/>
        </p:spPr>
      </p:sp>
      <p:sp>
        <p:nvSpPr>
          <p:cNvPr id="15" name="Shape 13"/>
          <p:cNvSpPr/>
          <p:nvPr/>
        </p:nvSpPr>
        <p:spPr>
          <a:xfrm>
            <a:off x="274320" y="2011680"/>
            <a:ext cx="5971032" cy="566928"/>
          </a:xfrm>
          <a:prstGeom prst="rect">
            <a:avLst/>
          </a:prstGeom>
          <a:solidFill>
            <a:srgbClr val="1A6B42"/>
          </a:solidFill>
          <a:ln/>
        </p:spPr>
      </p:sp>
      <p:sp>
        <p:nvSpPr>
          <p:cNvPr id="16" name="Text 14"/>
          <p:cNvSpPr/>
          <p:nvPr/>
        </p:nvSpPr>
        <p:spPr>
          <a:xfrm>
            <a:off x="411480" y="2075688"/>
            <a:ext cx="5029200" cy="438912"/>
          </a:xfrm>
          <a:prstGeom prst="rect">
            <a:avLst/>
          </a:prstGeom>
          <a:noFill/>
          <a:ln/>
        </p:spPr>
        <p:txBody>
          <a:bodyPr wrap="square" lIns="508" tIns="508" rIns="508" bIns="508"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Promedio regional  13,89%</a:t>
            </a:r>
            <a:endParaRPr lang="en-US" sz="1300" dirty="0"/>
          </a:p>
        </p:txBody>
      </p:sp>
      <p:sp>
        <p:nvSpPr>
          <p:cNvPr id="17" name="Shape 15"/>
          <p:cNvSpPr/>
          <p:nvPr/>
        </p:nvSpPr>
        <p:spPr>
          <a:xfrm>
            <a:off x="2971800" y="1344168"/>
            <a:ext cx="3273552" cy="1234440"/>
          </a:xfrm>
          <a:prstGeom prst="rect">
            <a:avLst/>
          </a:prstGeom>
          <a:solidFill>
            <a:srgbClr val="C9A84C">
              <a:alpha val="20000"/>
            </a:srgbClr>
          </a:solidFill>
          <a:ln/>
        </p:spPr>
      </p:sp>
      <p:sp>
        <p:nvSpPr>
          <p:cNvPr id="18" name="Text 16"/>
          <p:cNvSpPr/>
          <p:nvPr/>
        </p:nvSpPr>
        <p:spPr>
          <a:xfrm>
            <a:off x="2926080" y="1764792"/>
            <a:ext cx="1828800" cy="347472"/>
          </a:xfrm>
          <a:prstGeom prst="rect">
            <a:avLst/>
          </a:prstGeom>
          <a:noFill/>
          <a:ln/>
        </p:spPr>
        <p:txBody>
          <a:bodyPr wrap="square" rtlCol="0" anchor="ctr"/>
          <a:lstStyle/>
          <a:p>
            <a:pPr algn="ctr" indent="0" marL="0">
              <a:buNone/>
            </a:pPr>
            <a:r>
              <a:rPr lang="en-US" sz="900" b="1" dirty="0">
                <a:solidFill>
                  <a:srgbClr val="9B6B0A"/>
                </a:solidFill>
                <a:latin typeface="Calibri" pitchFamily="34" charset="0"/>
                <a:ea typeface="Calibri" pitchFamily="34" charset="-122"/>
                <a:cs typeface="Calibri" pitchFamily="34" charset="-120"/>
              </a:rPr>
              <a:t>Brecha: 7,61 pp</a:t>
            </a:r>
            <a:endParaRPr lang="en-US" sz="900" dirty="0"/>
          </a:p>
        </p:txBody>
      </p:sp>
      <p:sp>
        <p:nvSpPr>
          <p:cNvPr id="19" name="Shape 17"/>
          <p:cNvSpPr/>
          <p:nvPr/>
        </p:nvSpPr>
        <p:spPr>
          <a:xfrm>
            <a:off x="274320" y="2761488"/>
            <a:ext cx="26517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0" name="Shape 18"/>
          <p:cNvSpPr/>
          <p:nvPr/>
        </p:nvSpPr>
        <p:spPr>
          <a:xfrm>
            <a:off x="274320" y="2761488"/>
            <a:ext cx="2651760" cy="59436"/>
          </a:xfrm>
          <a:prstGeom prst="rect">
            <a:avLst/>
          </a:prstGeom>
          <a:solidFill>
            <a:srgbClr val="64748B"/>
          </a:solidFill>
          <a:ln/>
        </p:spPr>
      </p:sp>
      <p:sp>
        <p:nvSpPr>
          <p:cNvPr id="21" name="Text 19"/>
          <p:cNvSpPr/>
          <p:nvPr/>
        </p:nvSpPr>
        <p:spPr>
          <a:xfrm>
            <a:off x="274320" y="2834640"/>
            <a:ext cx="2651760" cy="566928"/>
          </a:xfrm>
          <a:prstGeom prst="rect">
            <a:avLst/>
          </a:prstGeom>
          <a:noFill/>
          <a:ln/>
        </p:spPr>
        <p:txBody>
          <a:bodyPr wrap="square" rtlCol="0" anchor="ctr"/>
          <a:lstStyle/>
          <a:p>
            <a:pPr algn="ctr" indent="0" marL="0">
              <a:buNone/>
            </a:pPr>
            <a:r>
              <a:rPr lang="en-US" sz="2200" b="1" dirty="0">
                <a:solidFill>
                  <a:srgbClr val="64748B"/>
                </a:solidFill>
                <a:latin typeface="Georgia" pitchFamily="34" charset="0"/>
                <a:ea typeface="Georgia" pitchFamily="34" charset="-122"/>
                <a:cs typeface="Georgia" pitchFamily="34" charset="-120"/>
              </a:rPr>
              <a:t>$6.155M</a:t>
            </a:r>
            <a:endParaRPr lang="en-US" sz="2200" dirty="0"/>
          </a:p>
        </p:txBody>
      </p:sp>
      <p:sp>
        <p:nvSpPr>
          <p:cNvPr id="22" name="Text 20"/>
          <p:cNvSpPr/>
          <p:nvPr/>
        </p:nvSpPr>
        <p:spPr>
          <a:xfrm>
            <a:off x="365760" y="3419856"/>
            <a:ext cx="2468880" cy="402336"/>
          </a:xfrm>
          <a:prstGeom prst="rect">
            <a:avLst/>
          </a:prstGeom>
          <a:noFill/>
          <a:ln/>
        </p:spPr>
        <p:txBody>
          <a:bodyPr wrap="square"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IPP 2024</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(base)</a:t>
            </a:r>
            <a:endParaRPr lang="en-US" sz="900" dirty="0"/>
          </a:p>
        </p:txBody>
      </p:sp>
      <p:sp>
        <p:nvSpPr>
          <p:cNvPr id="23" name="Shape 21"/>
          <p:cNvSpPr/>
          <p:nvPr/>
        </p:nvSpPr>
        <p:spPr>
          <a:xfrm>
            <a:off x="3108960" y="2761488"/>
            <a:ext cx="26517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4" name="Shape 22"/>
          <p:cNvSpPr/>
          <p:nvPr/>
        </p:nvSpPr>
        <p:spPr>
          <a:xfrm>
            <a:off x="3108960" y="2761488"/>
            <a:ext cx="2651760" cy="59436"/>
          </a:xfrm>
          <a:prstGeom prst="rect">
            <a:avLst/>
          </a:prstGeom>
          <a:solidFill>
            <a:srgbClr val="0A6B65"/>
          </a:solidFill>
          <a:ln/>
        </p:spPr>
      </p:sp>
      <p:sp>
        <p:nvSpPr>
          <p:cNvPr id="25" name="Text 23"/>
          <p:cNvSpPr/>
          <p:nvPr/>
        </p:nvSpPr>
        <p:spPr>
          <a:xfrm>
            <a:off x="3108960" y="2834640"/>
            <a:ext cx="2651760" cy="566928"/>
          </a:xfrm>
          <a:prstGeom prst="rect">
            <a:avLst/>
          </a:prstGeom>
          <a:noFill/>
          <a:ln/>
        </p:spPr>
        <p:txBody>
          <a:bodyPr wrap="square" rtlCol="0" anchor="ctr"/>
          <a:lstStyle/>
          <a:p>
            <a:pPr algn="ctr" indent="0" marL="0">
              <a:buNone/>
            </a:pPr>
            <a:r>
              <a:rPr lang="en-US" sz="2200" b="1" dirty="0">
                <a:solidFill>
                  <a:srgbClr val="0A6B65"/>
                </a:solidFill>
                <a:latin typeface="Georgia" pitchFamily="34" charset="0"/>
                <a:ea typeface="Georgia" pitchFamily="34" charset="-122"/>
                <a:cs typeface="Georgia" pitchFamily="34" charset="-120"/>
              </a:rPr>
              <a:t>$7.310M</a:t>
            </a:r>
            <a:endParaRPr lang="en-US" sz="2200" dirty="0"/>
          </a:p>
        </p:txBody>
      </p:sp>
      <p:sp>
        <p:nvSpPr>
          <p:cNvPr id="26" name="Text 24"/>
          <p:cNvSpPr/>
          <p:nvPr/>
        </p:nvSpPr>
        <p:spPr>
          <a:xfrm>
            <a:off x="3200400" y="3419856"/>
            <a:ext cx="2468880" cy="402336"/>
          </a:xfrm>
          <a:prstGeom prst="rect">
            <a:avLst/>
          </a:prstGeom>
          <a:noFill/>
          <a:ln/>
        </p:spPr>
        <p:txBody>
          <a:bodyPr wrap="square"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IPP 2028</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(meta)</a:t>
            </a:r>
            <a:endParaRPr lang="en-US" sz="900" dirty="0"/>
          </a:p>
        </p:txBody>
      </p:sp>
      <p:sp>
        <p:nvSpPr>
          <p:cNvPr id="27" name="Shape 25"/>
          <p:cNvSpPr/>
          <p:nvPr/>
        </p:nvSpPr>
        <p:spPr>
          <a:xfrm>
            <a:off x="5943600" y="2761488"/>
            <a:ext cx="26517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8" name="Shape 26"/>
          <p:cNvSpPr/>
          <p:nvPr/>
        </p:nvSpPr>
        <p:spPr>
          <a:xfrm>
            <a:off x="5943600" y="2761488"/>
            <a:ext cx="2651760" cy="59436"/>
          </a:xfrm>
          <a:prstGeom prst="rect">
            <a:avLst/>
          </a:prstGeom>
          <a:solidFill>
            <a:srgbClr val="1A6B42"/>
          </a:solidFill>
          <a:ln/>
        </p:spPr>
      </p:sp>
      <p:sp>
        <p:nvSpPr>
          <p:cNvPr id="29" name="Text 27"/>
          <p:cNvSpPr/>
          <p:nvPr/>
        </p:nvSpPr>
        <p:spPr>
          <a:xfrm>
            <a:off x="5943600" y="2834640"/>
            <a:ext cx="2651760" cy="566928"/>
          </a:xfrm>
          <a:prstGeom prst="rect">
            <a:avLst/>
          </a:prstGeom>
          <a:noFill/>
          <a:ln/>
        </p:spPr>
        <p:txBody>
          <a:bodyPr wrap="square" rtlCol="0" anchor="ctr"/>
          <a:lstStyle/>
          <a:p>
            <a:pPr algn="ctr" indent="0" marL="0">
              <a:buNone/>
            </a:pPr>
            <a:r>
              <a:rPr lang="en-US" sz="2200" b="1" dirty="0">
                <a:solidFill>
                  <a:srgbClr val="1A6B42"/>
                </a:solidFill>
                <a:latin typeface="Georgia" pitchFamily="34" charset="0"/>
                <a:ea typeface="Georgia" pitchFamily="34" charset="-122"/>
                <a:cs typeface="Georgia" pitchFamily="34" charset="-120"/>
              </a:rPr>
              <a:t>$9.620M</a:t>
            </a:r>
            <a:endParaRPr lang="en-US" sz="2200" dirty="0"/>
          </a:p>
        </p:txBody>
      </p:sp>
      <p:sp>
        <p:nvSpPr>
          <p:cNvPr id="30" name="Text 28"/>
          <p:cNvSpPr/>
          <p:nvPr/>
        </p:nvSpPr>
        <p:spPr>
          <a:xfrm>
            <a:off x="6035040" y="3419856"/>
            <a:ext cx="2468880" cy="402336"/>
          </a:xfrm>
          <a:prstGeom prst="rect">
            <a:avLst/>
          </a:prstGeom>
          <a:noFill/>
          <a:ln/>
        </p:spPr>
        <p:txBody>
          <a:bodyPr wrap="square"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IPP 2035</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(meta)</a:t>
            </a:r>
            <a:endParaRPr lang="en-US" sz="900" dirty="0"/>
          </a:p>
        </p:txBody>
      </p:sp>
      <p:sp>
        <p:nvSpPr>
          <p:cNvPr id="31" name="Text 29"/>
          <p:cNvSpPr/>
          <p:nvPr/>
        </p:nvSpPr>
        <p:spPr>
          <a:xfrm>
            <a:off x="274320" y="3913632"/>
            <a:ext cx="8321040" cy="256032"/>
          </a:xfrm>
          <a:prstGeom prst="rect">
            <a:avLst/>
          </a:prstGeom>
          <a:noFill/>
          <a:ln/>
        </p:spPr>
        <p:txBody>
          <a:bodyPr wrap="square" rtlCol="0" anchor="ctr"/>
          <a:lstStyle/>
          <a:p>
            <a:pPr algn="ctr" indent="0" marL="0">
              <a:buNone/>
            </a:pPr>
            <a:r>
              <a:rPr lang="en-US" sz="1050" b="1" dirty="0">
                <a:solidFill>
                  <a:srgbClr val="1A6B42"/>
                </a:solidFill>
                <a:latin typeface="Georgia" pitchFamily="34" charset="0"/>
                <a:ea typeface="Georgia" pitchFamily="34" charset="-122"/>
                <a:cs typeface="Georgia" pitchFamily="34" charset="-120"/>
              </a:rPr>
              <a:t>+56% crecimiento IPP real hacia 2035</a:t>
            </a:r>
            <a:endParaRPr lang="en-US" sz="1050" dirty="0"/>
          </a:p>
        </p:txBody>
      </p:sp>
      <p:sp>
        <p:nvSpPr>
          <p:cNvPr id="32" name="Shape 30"/>
          <p:cNvSpPr/>
          <p:nvPr/>
        </p:nvSpPr>
        <p:spPr>
          <a:xfrm>
            <a:off x="274320" y="4224528"/>
            <a:ext cx="8595360" cy="731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3" name="Shape 31"/>
          <p:cNvSpPr/>
          <p:nvPr/>
        </p:nvSpPr>
        <p:spPr>
          <a:xfrm>
            <a:off x="274320" y="4224528"/>
            <a:ext cx="8595360" cy="59436"/>
          </a:xfrm>
          <a:prstGeom prst="rect">
            <a:avLst/>
          </a:prstGeom>
          <a:solidFill>
            <a:srgbClr val="1F3864"/>
          </a:solidFill>
          <a:ln/>
        </p:spPr>
      </p:sp>
      <p:sp>
        <p:nvSpPr>
          <p:cNvPr id="34" name="Shape 32"/>
          <p:cNvSpPr/>
          <p:nvPr/>
        </p:nvSpPr>
        <p:spPr>
          <a:xfrm>
            <a:off x="274320" y="4224528"/>
            <a:ext cx="82296" cy="731520"/>
          </a:xfrm>
          <a:prstGeom prst="rect">
            <a:avLst/>
          </a:prstGeom>
          <a:solidFill>
            <a:srgbClr val="1F3864"/>
          </a:solidFill>
          <a:ln/>
        </p:spPr>
      </p:sp>
      <p:sp>
        <p:nvSpPr>
          <p:cNvPr id="35" name="Text 33"/>
          <p:cNvSpPr/>
          <p:nvPr/>
        </p:nvSpPr>
        <p:spPr>
          <a:xfrm>
            <a:off x="475488" y="4315968"/>
            <a:ext cx="8229600"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Rengo no tiene un problema de ingresos: tiene un problema de arquitectura financiera. Con un FCM que representa el 61,72% del ingreso total y una captación externa de apenas el 6,28%, la dependencia estructural limita la autonomía de gestión. La proyección IPP establece un crecimiento del 56% hacia 2035 con estrategias concretas: actualización de av alúo fiscal (ERP), catastro de patentes y mayor captación de fondos externos. Una unidad técnica de formulación de proyectos puede cerrar esta brecha: cada año sin ella son ~$1.200 millones financiando servicios en otros municipios.</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Lo que podemos aprovechar del entorno</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Tres palancas estratégicas con ventana de oportunidad abierta en 2025–2027</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87552"/>
            <a:ext cx="8595360" cy="121615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87552"/>
            <a:ext cx="8595360" cy="59436"/>
          </a:xfrm>
          <a:prstGeom prst="rect">
            <a:avLst/>
          </a:prstGeom>
          <a:solidFill>
            <a:srgbClr val="0A6B65"/>
          </a:solidFill>
          <a:ln/>
        </p:spPr>
      </p:sp>
      <p:sp>
        <p:nvSpPr>
          <p:cNvPr id="10" name="Shape 8"/>
          <p:cNvSpPr/>
          <p:nvPr/>
        </p:nvSpPr>
        <p:spPr>
          <a:xfrm>
            <a:off x="475488" y="1261872"/>
            <a:ext cx="594360" cy="594360"/>
          </a:xfrm>
          <a:prstGeom prst="oval">
            <a:avLst/>
          </a:prstGeom>
          <a:solidFill>
            <a:srgbClr val="0A6B65"/>
          </a:solidFill>
          <a:ln/>
        </p:spPr>
      </p:sp>
      <p:sp>
        <p:nvSpPr>
          <p:cNvPr id="11" name="Text 9"/>
          <p:cNvSpPr/>
          <p:nvPr/>
        </p:nvSpPr>
        <p:spPr>
          <a:xfrm>
            <a:off x="475488" y="126187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2" name="Text 10"/>
          <p:cNvSpPr/>
          <p:nvPr/>
        </p:nvSpPr>
        <p:spPr>
          <a:xfrm>
            <a:off x="1207008" y="1078992"/>
            <a:ext cx="7516368" cy="329184"/>
          </a:xfrm>
          <a:prstGeom prst="rect">
            <a:avLst/>
          </a:prstGeom>
          <a:noFill/>
          <a:ln/>
        </p:spPr>
        <p:txBody>
          <a:bodyPr wrap="square" lIns="0" tIns="0" rIns="0" bIns="0" rtlCol="0" anchor="ctr"/>
          <a:lstStyle/>
          <a:p>
            <a:pPr indent="0" marL="0">
              <a:buNone/>
            </a:pPr>
            <a:r>
              <a:rPr lang="en-US" sz="1100" b="1" dirty="0">
                <a:solidFill>
                  <a:srgbClr val="1F3864"/>
                </a:solidFill>
                <a:latin typeface="Georgia" pitchFamily="34" charset="0"/>
                <a:ea typeface="Georgia" pitchFamily="34" charset="-122"/>
                <a:cs typeface="Georgia" pitchFamily="34" charset="-120"/>
              </a:rPr>
              <a:t>ERD identifica a Rengo como nodo provincial prioritario</a:t>
            </a:r>
            <a:endParaRPr lang="en-US" sz="1100" dirty="0"/>
          </a:p>
        </p:txBody>
      </p:sp>
      <p:sp>
        <p:nvSpPr>
          <p:cNvPr id="13" name="Text 11"/>
          <p:cNvSpPr/>
          <p:nvPr/>
        </p:nvSpPr>
        <p:spPr>
          <a:xfrm>
            <a:off x="1207008" y="1444752"/>
            <a:ext cx="7516368" cy="694944"/>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La Estrategia Regional de Desarrollo O’Higgins 2030 habilita 13 articulaciones de nivel alto para canalizar recursos FNDR hacia Rengo. El municipio está identificado como nodo prioritario de la Provincia de Cachapoal. El financiamiento regional está disponible: necesitamos los proyectos alineados para acceder antes de que cierren las ventanas de postulación.</a:t>
            </a:r>
            <a:endParaRPr lang="en-US" sz="1050" dirty="0"/>
          </a:p>
        </p:txBody>
      </p:sp>
      <p:sp>
        <p:nvSpPr>
          <p:cNvPr id="14" name="Shape 12"/>
          <p:cNvSpPr/>
          <p:nvPr/>
        </p:nvSpPr>
        <p:spPr>
          <a:xfrm>
            <a:off x="274320" y="2331720"/>
            <a:ext cx="8595360" cy="121615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274320" y="2331720"/>
            <a:ext cx="8595360" cy="59436"/>
          </a:xfrm>
          <a:prstGeom prst="rect">
            <a:avLst/>
          </a:prstGeom>
          <a:solidFill>
            <a:srgbClr val="1F3864"/>
          </a:solidFill>
          <a:ln/>
        </p:spPr>
      </p:sp>
      <p:sp>
        <p:nvSpPr>
          <p:cNvPr id="16" name="Shape 14"/>
          <p:cNvSpPr/>
          <p:nvPr/>
        </p:nvSpPr>
        <p:spPr>
          <a:xfrm>
            <a:off x="475488" y="2606040"/>
            <a:ext cx="594360" cy="594360"/>
          </a:xfrm>
          <a:prstGeom prst="oval">
            <a:avLst/>
          </a:prstGeom>
          <a:solidFill>
            <a:srgbClr val="1F3864"/>
          </a:solidFill>
          <a:ln/>
        </p:spPr>
      </p:sp>
      <p:sp>
        <p:nvSpPr>
          <p:cNvPr id="17" name="Text 15"/>
          <p:cNvSpPr/>
          <p:nvPr/>
        </p:nvSpPr>
        <p:spPr>
          <a:xfrm>
            <a:off x="475488" y="2606040"/>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8" name="Text 16"/>
          <p:cNvSpPr/>
          <p:nvPr/>
        </p:nvSpPr>
        <p:spPr>
          <a:xfrm>
            <a:off x="1207008" y="2423160"/>
            <a:ext cx="7516368" cy="329184"/>
          </a:xfrm>
          <a:prstGeom prst="rect">
            <a:avLst/>
          </a:prstGeom>
          <a:noFill/>
          <a:ln/>
        </p:spPr>
        <p:txBody>
          <a:bodyPr wrap="square" lIns="0" tIns="0" rIns="0" bIns="0" rtlCol="0" anchor="ctr"/>
          <a:lstStyle/>
          <a:p>
            <a:pPr indent="0" marL="0">
              <a:buNone/>
            </a:pPr>
            <a:r>
              <a:rPr lang="en-US" sz="1100" b="1" dirty="0">
                <a:solidFill>
                  <a:srgbClr val="1F3864"/>
                </a:solidFill>
                <a:latin typeface="Georgia" pitchFamily="34" charset="0"/>
                <a:ea typeface="Georgia" pitchFamily="34" charset="-122"/>
                <a:cs typeface="Georgia" pitchFamily="34" charset="-120"/>
              </a:rPr>
              <a:t>Ley 21.807: el PACCC como llave de financiamiento climático</a:t>
            </a:r>
            <a:endParaRPr lang="en-US" sz="1100" dirty="0"/>
          </a:p>
        </p:txBody>
      </p:sp>
      <p:sp>
        <p:nvSpPr>
          <p:cNvPr id="19" name="Text 17"/>
          <p:cNvSpPr/>
          <p:nvPr/>
        </p:nvSpPr>
        <p:spPr>
          <a:xfrm>
            <a:off x="1207008" y="2788920"/>
            <a:ext cx="7516368" cy="694944"/>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La ley obliga a articular PLADECO, Plan Regulador Comunal y PACCC. Los municipios que logran esa articulación acceden a fondos internacionales de adaptación climática. Rengo tiene el PACCC aprobado —el único de la Provincia de Cachapoal— y solo necesita el plan que lo active como palanca de captación. Ninguna otra comuna de la provincia puede decir lo mismo.</a:t>
            </a:r>
            <a:endParaRPr lang="en-US" sz="1050" dirty="0"/>
          </a:p>
        </p:txBody>
      </p:sp>
      <p:sp>
        <p:nvSpPr>
          <p:cNvPr id="20" name="Shape 18"/>
          <p:cNvSpPr/>
          <p:nvPr/>
        </p:nvSpPr>
        <p:spPr>
          <a:xfrm>
            <a:off x="274320" y="3675888"/>
            <a:ext cx="8595360" cy="121615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274320" y="3675888"/>
            <a:ext cx="8595360" cy="59436"/>
          </a:xfrm>
          <a:prstGeom prst="rect">
            <a:avLst/>
          </a:prstGeom>
          <a:solidFill>
            <a:srgbClr val="C9A84C"/>
          </a:solidFill>
          <a:ln/>
        </p:spPr>
      </p:sp>
      <p:sp>
        <p:nvSpPr>
          <p:cNvPr id="22" name="Shape 20"/>
          <p:cNvSpPr/>
          <p:nvPr/>
        </p:nvSpPr>
        <p:spPr>
          <a:xfrm>
            <a:off x="475488" y="3950208"/>
            <a:ext cx="594360" cy="594360"/>
          </a:xfrm>
          <a:prstGeom prst="oval">
            <a:avLst/>
          </a:prstGeom>
          <a:solidFill>
            <a:srgbClr val="C9A84C"/>
          </a:solidFill>
          <a:ln/>
        </p:spPr>
      </p:sp>
      <p:sp>
        <p:nvSpPr>
          <p:cNvPr id="23" name="Text 21"/>
          <p:cNvSpPr/>
          <p:nvPr/>
        </p:nvSpPr>
        <p:spPr>
          <a:xfrm>
            <a:off x="475488" y="3950208"/>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4" name="Text 22"/>
          <p:cNvSpPr/>
          <p:nvPr/>
        </p:nvSpPr>
        <p:spPr>
          <a:xfrm>
            <a:off x="1207008" y="3767328"/>
            <a:ext cx="7516368" cy="329184"/>
          </a:xfrm>
          <a:prstGeom prst="rect">
            <a:avLst/>
          </a:prstGeom>
          <a:noFill/>
          <a:ln/>
        </p:spPr>
        <p:txBody>
          <a:bodyPr wrap="square" lIns="0" tIns="0" rIns="0" bIns="0" rtlCol="0" anchor="ctr"/>
          <a:lstStyle/>
          <a:p>
            <a:pPr indent="0" marL="0">
              <a:buNone/>
            </a:pPr>
            <a:r>
              <a:rPr lang="en-US" sz="1100" b="1" dirty="0">
                <a:solidFill>
                  <a:srgbClr val="1F3864"/>
                </a:solidFill>
                <a:latin typeface="Georgia" pitchFamily="34" charset="0"/>
                <a:ea typeface="Georgia" pitchFamily="34" charset="-122"/>
                <a:cs typeface="Georgia" pitchFamily="34" charset="-120"/>
              </a:rPr>
              <a:t>Base productiva + Valle Apalta: enoturismo no explotado</a:t>
            </a:r>
            <a:endParaRPr lang="en-US" sz="1100" dirty="0"/>
          </a:p>
        </p:txBody>
      </p:sp>
      <p:sp>
        <p:nvSpPr>
          <p:cNvPr id="25" name="Text 23"/>
          <p:cNvSpPr/>
          <p:nvPr/>
        </p:nvSpPr>
        <p:spPr>
          <a:xfrm>
            <a:off x="1207008" y="4133088"/>
            <a:ext cx="7516368" cy="694944"/>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Rengo lidera en manufactura regional, pero el turismo registra apenas 5 proyectos en el BIP —el 0,4% de la cartera total. A menos de 30 km, el Valle Apalta concentra una zona vitivinícola con reconocimiento internacional. La articulación con el METROTREN (en agenda regional) y el enoturismo representa una diversificación del empleo más allá del sector agrícola estacional.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Lo que debemos anticipar: amenazas verificadas</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No son escenarios hipótéticos — ya están ocurriendo en el territorio de Rengo hoy</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029968" cy="148132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029968" cy="59436"/>
          </a:xfrm>
          <a:prstGeom prst="rect">
            <a:avLst/>
          </a:prstGeom>
          <a:solidFill>
            <a:srgbClr val="B83232"/>
          </a:solidFill>
          <a:ln/>
        </p:spPr>
      </p:sp>
      <p:sp>
        <p:nvSpPr>
          <p:cNvPr id="10" name="Text 8"/>
          <p:cNvSpPr/>
          <p:nvPr/>
        </p:nvSpPr>
        <p:spPr>
          <a:xfrm>
            <a:off x="274320" y="1033272"/>
            <a:ext cx="2029968" cy="814730"/>
          </a:xfrm>
          <a:prstGeom prst="rect">
            <a:avLst/>
          </a:prstGeom>
          <a:noFill/>
          <a:ln/>
        </p:spPr>
        <p:txBody>
          <a:bodyPr wrap="square" lIns="0" tIns="0" rIns="0" bIns="0" rtlCol="0" anchor="ctr"/>
          <a:lstStyle/>
          <a:p>
            <a:pPr algn="ctr" indent="0" marL="0">
              <a:buNone/>
            </a:pPr>
            <a:r>
              <a:rPr lang="en-US" sz="2600" b="1" dirty="0">
                <a:solidFill>
                  <a:srgbClr val="B83232"/>
                </a:solidFill>
                <a:latin typeface="Georgia" pitchFamily="34" charset="0"/>
                <a:ea typeface="Georgia" pitchFamily="34" charset="-122"/>
                <a:cs typeface="Georgia" pitchFamily="34" charset="-120"/>
              </a:rPr>
              <a:t>+126%</a:t>
            </a:r>
            <a:endParaRPr lang="en-US" sz="2600" dirty="0"/>
          </a:p>
        </p:txBody>
      </p:sp>
      <p:sp>
        <p:nvSpPr>
          <p:cNvPr id="11" name="Text 9"/>
          <p:cNvSpPr/>
          <p:nvPr/>
        </p:nvSpPr>
        <p:spPr>
          <a:xfrm>
            <a:off x="347472" y="1848917"/>
            <a:ext cx="1883664" cy="54809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Delitos contra</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la vida (20 años)</a:t>
            </a:r>
            <a:endParaRPr lang="en-US" sz="900" dirty="0"/>
          </a:p>
        </p:txBody>
      </p:sp>
      <p:sp>
        <p:nvSpPr>
          <p:cNvPr id="12" name="Shape 10"/>
          <p:cNvSpPr/>
          <p:nvPr/>
        </p:nvSpPr>
        <p:spPr>
          <a:xfrm>
            <a:off x="2450592" y="960120"/>
            <a:ext cx="2029968" cy="148132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3" name="Shape 11"/>
          <p:cNvSpPr/>
          <p:nvPr/>
        </p:nvSpPr>
        <p:spPr>
          <a:xfrm>
            <a:off x="2450592" y="960120"/>
            <a:ext cx="2029968" cy="59436"/>
          </a:xfrm>
          <a:prstGeom prst="rect">
            <a:avLst/>
          </a:prstGeom>
          <a:solidFill>
            <a:srgbClr val="B83232"/>
          </a:solidFill>
          <a:ln/>
        </p:spPr>
      </p:sp>
      <p:sp>
        <p:nvSpPr>
          <p:cNvPr id="14" name="Text 12"/>
          <p:cNvSpPr/>
          <p:nvPr/>
        </p:nvSpPr>
        <p:spPr>
          <a:xfrm>
            <a:off x="2450592" y="1033272"/>
            <a:ext cx="2029968" cy="814730"/>
          </a:xfrm>
          <a:prstGeom prst="rect">
            <a:avLst/>
          </a:prstGeom>
          <a:noFill/>
          <a:ln/>
        </p:spPr>
        <p:txBody>
          <a:bodyPr wrap="square" lIns="0" tIns="0" rIns="0" bIns="0" rtlCol="0" anchor="ctr"/>
          <a:lstStyle/>
          <a:p>
            <a:pPr algn="ctr" indent="0" marL="0">
              <a:buNone/>
            </a:pPr>
            <a:r>
              <a:rPr lang="en-US" sz="2600" b="1" dirty="0">
                <a:solidFill>
                  <a:srgbClr val="B83232"/>
                </a:solidFill>
                <a:latin typeface="Georgia" pitchFamily="34" charset="0"/>
                <a:ea typeface="Georgia" pitchFamily="34" charset="-122"/>
                <a:cs typeface="Georgia" pitchFamily="34" charset="-120"/>
              </a:rPr>
              <a:t>+464%</a:t>
            </a:r>
            <a:endParaRPr lang="en-US" sz="2600" dirty="0"/>
          </a:p>
        </p:txBody>
      </p:sp>
      <p:sp>
        <p:nvSpPr>
          <p:cNvPr id="15" name="Text 13"/>
          <p:cNvSpPr/>
          <p:nvPr/>
        </p:nvSpPr>
        <p:spPr>
          <a:xfrm>
            <a:off x="2523744" y="1848917"/>
            <a:ext cx="1883664" cy="54809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Jóvenes 14-17</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en conflicto con la ley</a:t>
            </a:r>
            <a:endParaRPr lang="en-US" sz="900" dirty="0"/>
          </a:p>
        </p:txBody>
      </p:sp>
      <p:sp>
        <p:nvSpPr>
          <p:cNvPr id="16" name="Shape 14"/>
          <p:cNvSpPr/>
          <p:nvPr/>
        </p:nvSpPr>
        <p:spPr>
          <a:xfrm>
            <a:off x="4626864" y="960120"/>
            <a:ext cx="2029968" cy="148132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7" name="Shape 15"/>
          <p:cNvSpPr/>
          <p:nvPr/>
        </p:nvSpPr>
        <p:spPr>
          <a:xfrm>
            <a:off x="4626864" y="960120"/>
            <a:ext cx="2029968" cy="59436"/>
          </a:xfrm>
          <a:prstGeom prst="rect">
            <a:avLst/>
          </a:prstGeom>
          <a:solidFill>
            <a:srgbClr val="9B6B0A"/>
          </a:solidFill>
          <a:ln/>
        </p:spPr>
      </p:sp>
      <p:sp>
        <p:nvSpPr>
          <p:cNvPr id="18" name="Text 16"/>
          <p:cNvSpPr/>
          <p:nvPr/>
        </p:nvSpPr>
        <p:spPr>
          <a:xfrm>
            <a:off x="4626864" y="1033272"/>
            <a:ext cx="2029968" cy="814730"/>
          </a:xfrm>
          <a:prstGeom prst="rect">
            <a:avLst/>
          </a:prstGeom>
          <a:noFill/>
          <a:ln/>
        </p:spPr>
        <p:txBody>
          <a:bodyPr wrap="square" lIns="0" tIns="0" rIns="0" bIns="0" rtlCol="0" anchor="ctr"/>
          <a:lstStyle/>
          <a:p>
            <a:pPr algn="ctr" indent="0" marL="0">
              <a:buNone/>
            </a:pPr>
            <a:r>
              <a:rPr lang="en-US" sz="2600" b="1" dirty="0">
                <a:solidFill>
                  <a:srgbClr val="9B6B0A"/>
                </a:solidFill>
                <a:latin typeface="Georgia" pitchFamily="34" charset="0"/>
                <a:ea typeface="Georgia" pitchFamily="34" charset="-122"/>
                <a:cs typeface="Georgia" pitchFamily="34" charset="-120"/>
              </a:rPr>
              <a:t>+34%</a:t>
            </a:r>
            <a:endParaRPr lang="en-US" sz="2600" dirty="0"/>
          </a:p>
        </p:txBody>
      </p:sp>
      <p:sp>
        <p:nvSpPr>
          <p:cNvPr id="19" name="Text 17"/>
          <p:cNvSpPr/>
          <p:nvPr/>
        </p:nvSpPr>
        <p:spPr>
          <a:xfrm>
            <a:off x="4700016" y="1848917"/>
            <a:ext cx="1883664" cy="54809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Índice de</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envejecimiento (7 años)</a:t>
            </a:r>
            <a:endParaRPr lang="en-US" sz="900" dirty="0"/>
          </a:p>
        </p:txBody>
      </p:sp>
      <p:sp>
        <p:nvSpPr>
          <p:cNvPr id="20" name="Shape 18"/>
          <p:cNvSpPr/>
          <p:nvPr/>
        </p:nvSpPr>
        <p:spPr>
          <a:xfrm>
            <a:off x="6803136" y="960120"/>
            <a:ext cx="2029968" cy="148132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6803136" y="960120"/>
            <a:ext cx="2029968" cy="59436"/>
          </a:xfrm>
          <a:prstGeom prst="rect">
            <a:avLst/>
          </a:prstGeom>
          <a:solidFill>
            <a:srgbClr val="9B6B0A"/>
          </a:solidFill>
          <a:ln/>
        </p:spPr>
      </p:sp>
      <p:sp>
        <p:nvSpPr>
          <p:cNvPr id="22" name="Text 20"/>
          <p:cNvSpPr/>
          <p:nvPr/>
        </p:nvSpPr>
        <p:spPr>
          <a:xfrm>
            <a:off x="6803136" y="1033272"/>
            <a:ext cx="2029968" cy="814730"/>
          </a:xfrm>
          <a:prstGeom prst="rect">
            <a:avLst/>
          </a:prstGeom>
          <a:noFill/>
          <a:ln/>
        </p:spPr>
        <p:txBody>
          <a:bodyPr wrap="square" lIns="0" tIns="0" rIns="0" bIns="0" rtlCol="0" anchor="ctr"/>
          <a:lstStyle/>
          <a:p>
            <a:pPr algn="ctr" indent="0" marL="0">
              <a:buNone/>
            </a:pPr>
            <a:r>
              <a:rPr lang="en-US" sz="2600" b="1" dirty="0">
                <a:solidFill>
                  <a:srgbClr val="9B6B0A"/>
                </a:solidFill>
                <a:latin typeface="Georgia" pitchFamily="34" charset="0"/>
                <a:ea typeface="Georgia" pitchFamily="34" charset="-122"/>
                <a:cs typeface="Georgia" pitchFamily="34" charset="-120"/>
              </a:rPr>
              <a:t>-30%</a:t>
            </a:r>
            <a:endParaRPr lang="en-US" sz="2600" dirty="0"/>
          </a:p>
        </p:txBody>
      </p:sp>
      <p:sp>
        <p:nvSpPr>
          <p:cNvPr id="23" name="Text 21"/>
          <p:cNvSpPr/>
          <p:nvPr/>
        </p:nvSpPr>
        <p:spPr>
          <a:xfrm>
            <a:off x="6876288" y="1848917"/>
            <a:ext cx="1883664" cy="548091"/>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Producción agrícola</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por megasequía</a:t>
            </a:r>
            <a:endParaRPr lang="en-US" sz="900" dirty="0"/>
          </a:p>
        </p:txBody>
      </p:sp>
      <p:sp>
        <p:nvSpPr>
          <p:cNvPr id="24" name="Shape 22"/>
          <p:cNvSpPr/>
          <p:nvPr/>
        </p:nvSpPr>
        <p:spPr>
          <a:xfrm>
            <a:off x="274320" y="2606040"/>
            <a:ext cx="8595360" cy="2286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5" name="Shape 23"/>
          <p:cNvSpPr/>
          <p:nvPr/>
        </p:nvSpPr>
        <p:spPr>
          <a:xfrm>
            <a:off x="274320" y="2606040"/>
            <a:ext cx="8595360" cy="59436"/>
          </a:xfrm>
          <a:prstGeom prst="rect">
            <a:avLst/>
          </a:prstGeom>
          <a:solidFill>
            <a:srgbClr val="B83232"/>
          </a:solidFill>
          <a:ln/>
        </p:spPr>
      </p:sp>
      <p:sp>
        <p:nvSpPr>
          <p:cNvPr id="26" name="Shape 24"/>
          <p:cNvSpPr/>
          <p:nvPr/>
        </p:nvSpPr>
        <p:spPr>
          <a:xfrm>
            <a:off x="274320" y="2606040"/>
            <a:ext cx="82296" cy="2286000"/>
          </a:xfrm>
          <a:prstGeom prst="rect">
            <a:avLst/>
          </a:prstGeom>
          <a:solidFill>
            <a:srgbClr val="B83232"/>
          </a:solidFill>
          <a:ln/>
        </p:spPr>
      </p:sp>
      <p:sp>
        <p:nvSpPr>
          <p:cNvPr id="27" name="Text 25"/>
          <p:cNvSpPr/>
          <p:nvPr/>
        </p:nvSpPr>
        <p:spPr>
          <a:xfrm>
            <a:off x="502920" y="2715768"/>
            <a:ext cx="8183880" cy="2075688"/>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Estos no son escenarios futuros: ya están ocurriendo. El envejecimiento demográfico alcanzará un índice cercano a 100 al término de este PLADECO —casi un adulto mayor por cada joven— y el sistema de salud no fue diseñado para esa escala ni para ese perfil de demanda. La inseguridad que el 70% de la ciudadanía identifica como problema número uno no se resuelve solo con más presencia policial: requiere prevención temprana para jóvenes en riesgo y protección efectiva de adultos mayores —las dos caras de una misma crisis territorial.</a:t>
            </a:r>
            <a:endParaRPr lang="en-US" sz="1050" dirty="0"/>
          </a:p>
          <a:p>
            <a:pPr algn="just" indent="0" marL="0">
              <a:buNone/>
            </a:pPr>
            <a:endParaRPr lang="en-US" sz="1050" dirty="0"/>
          </a:p>
          <a:p>
            <a:pPr algn="just" indent="0" marL="0">
              <a:buNone/>
            </a:pPr>
            <a:r>
              <a:rPr lang="en-US" sz="1050" dirty="0">
                <a:solidFill>
                  <a:srgbClr val="2C3E50"/>
                </a:solidFill>
                <a:latin typeface="Calibri" pitchFamily="34" charset="0"/>
                <a:ea typeface="Calibri" pitchFamily="34" charset="-122"/>
                <a:cs typeface="Calibri" pitchFamily="34" charset="-120"/>
              </a:rPr>
              <a:t>La megasequía ha reducido un 30% la producción agrícola comunal, afectando la base económica rural y la resiliencia hídrica del territorio. Bajo estos escenarios, el PACCC deja de ser un instrumento ambiental y se convierte en una necesidad urgente de seguridad territorial. El PLADECO que no tenga respuesta explícita para cada uno de estos ejes no es un plan de desarrollo: es una declaración de buenas intenciones destinada a repetir los mismos diagnósticos en 2035.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Presión demográfica: el envejecimiento que ya llegó</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El sistema de salud y cuidado de hoy no fue diseñado para la Rengo de 2035</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graphicFrame>
        <p:nvGraphicFramePr>
          <p:cNvPr id="8" name="Chart 0" descr=""/>
          <p:cNvGraphicFramePr/>
          <p:nvPr/>
        </p:nvGraphicFramePr>
        <p:xfrm>
          <a:off x="320040" y="960120"/>
          <a:ext cx="5120640" cy="3401568"/>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320040" y="4389120"/>
            <a:ext cx="5120640" cy="201168"/>
          </a:xfrm>
          <a:prstGeom prst="rect">
            <a:avLst/>
          </a:prstGeom>
          <a:noFill/>
          <a:ln/>
        </p:spPr>
        <p:txBody>
          <a:bodyPr wrap="square" lIns="508" tIns="508" rIns="508" bIns="508" rtlCol="0" anchor="t"/>
          <a:lstStyle/>
          <a:p>
            <a:pPr algn="ctr" indent="0" marL="0">
              <a:buNone/>
            </a:pPr>
            <a:r>
              <a:rPr lang="en-US" sz="750" i="1" dirty="0">
                <a:solidFill>
                  <a:srgbClr val="64748B"/>
                </a:solidFill>
                <a:latin typeface="Calibri" pitchFamily="34" charset="0"/>
                <a:ea typeface="Calibri" pitchFamily="34" charset="-122"/>
                <a:cs typeface="Calibri" pitchFamily="34" charset="-120"/>
              </a:rPr>
              <a:t>Fuente: INE Censos 2002–2024. Proyección 2035: elaboración propia.</a:t>
            </a:r>
            <a:endParaRPr lang="en-US" sz="750" dirty="0"/>
          </a:p>
        </p:txBody>
      </p:sp>
      <p:sp>
        <p:nvSpPr>
          <p:cNvPr id="10" name="Shape 7"/>
          <p:cNvSpPr/>
          <p:nvPr/>
        </p:nvSpPr>
        <p:spPr>
          <a:xfrm>
            <a:off x="5669280" y="960120"/>
            <a:ext cx="3154680" cy="138988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1" name="Shape 8"/>
          <p:cNvSpPr/>
          <p:nvPr/>
        </p:nvSpPr>
        <p:spPr>
          <a:xfrm>
            <a:off x="5669280" y="960120"/>
            <a:ext cx="3154680" cy="59436"/>
          </a:xfrm>
          <a:prstGeom prst="rect">
            <a:avLst/>
          </a:prstGeom>
          <a:solidFill>
            <a:srgbClr val="B83232"/>
          </a:solidFill>
          <a:ln/>
        </p:spPr>
      </p:sp>
      <p:sp>
        <p:nvSpPr>
          <p:cNvPr id="12" name="Text 9"/>
          <p:cNvSpPr/>
          <p:nvPr/>
        </p:nvSpPr>
        <p:spPr>
          <a:xfrm>
            <a:off x="5669280" y="1033272"/>
            <a:ext cx="3154680" cy="764438"/>
          </a:xfrm>
          <a:prstGeom prst="rect">
            <a:avLst/>
          </a:prstGeom>
          <a:noFill/>
          <a:ln/>
        </p:spPr>
        <p:txBody>
          <a:bodyPr wrap="square" lIns="0" tIns="0" rIns="0" bIns="0" rtlCol="0" anchor="ctr"/>
          <a:lstStyle/>
          <a:p>
            <a:pPr algn="ctr" indent="0" marL="0">
              <a:buNone/>
            </a:pPr>
            <a:r>
              <a:rPr lang="en-US" sz="2600" b="1" dirty="0">
                <a:solidFill>
                  <a:srgbClr val="B83232"/>
                </a:solidFill>
                <a:latin typeface="Georgia" pitchFamily="34" charset="0"/>
                <a:ea typeface="Georgia" pitchFamily="34" charset="-122"/>
                <a:cs typeface="Georgia" pitchFamily="34" charset="-120"/>
              </a:rPr>
              <a:t>8.796</a:t>
            </a:r>
            <a:endParaRPr lang="en-US" sz="2600" dirty="0"/>
          </a:p>
        </p:txBody>
      </p:sp>
      <p:sp>
        <p:nvSpPr>
          <p:cNvPr id="13" name="Text 10"/>
          <p:cNvSpPr/>
          <p:nvPr/>
        </p:nvSpPr>
        <p:spPr>
          <a:xfrm>
            <a:off x="5742432" y="1794053"/>
            <a:ext cx="3008376" cy="514259"/>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adultos mayores en Rengo hoy</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+2.061 en solo 7 años (+30,6%)</a:t>
            </a:r>
            <a:endParaRPr lang="en-US" sz="900" dirty="0"/>
          </a:p>
        </p:txBody>
      </p:sp>
      <p:sp>
        <p:nvSpPr>
          <p:cNvPr id="14" name="Shape 11"/>
          <p:cNvSpPr/>
          <p:nvPr/>
        </p:nvSpPr>
        <p:spPr>
          <a:xfrm>
            <a:off x="5669280" y="2487168"/>
            <a:ext cx="3154680" cy="2395728"/>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15" name="Shape 12"/>
          <p:cNvSpPr/>
          <p:nvPr/>
        </p:nvSpPr>
        <p:spPr>
          <a:xfrm>
            <a:off x="5669280" y="2487168"/>
            <a:ext cx="3154680" cy="59436"/>
          </a:xfrm>
          <a:prstGeom prst="rect">
            <a:avLst/>
          </a:prstGeom>
          <a:solidFill>
            <a:srgbClr val="C9A84C"/>
          </a:solidFill>
          <a:ln/>
        </p:spPr>
      </p:sp>
      <p:sp>
        <p:nvSpPr>
          <p:cNvPr id="16" name="Text 13"/>
          <p:cNvSpPr/>
          <p:nvPr/>
        </p:nvSpPr>
        <p:spPr>
          <a:xfrm>
            <a:off x="5833872" y="2606040"/>
            <a:ext cx="2834640" cy="2176272"/>
          </a:xfrm>
          <a:prstGeom prst="rect">
            <a:avLst/>
          </a:prstGeom>
          <a:noFill/>
          <a:ln/>
        </p:spPr>
        <p:txBody>
          <a:bodyPr wrap="square" lIns="508" tIns="508" rIns="508" bIns="508" rtlCol="0" anchor="t"/>
          <a:lstStyle/>
          <a:p>
            <a:pPr algn="just" indent="0" marL="0">
              <a:buNone/>
            </a:pPr>
            <a:r>
              <a:rPr lang="en-US" sz="980" dirty="0">
                <a:solidFill>
                  <a:srgbClr val="FFFFFF"/>
                </a:solidFill>
                <a:latin typeface="Calibri" pitchFamily="34" charset="0"/>
                <a:ea typeface="Calibri" pitchFamily="34" charset="-122"/>
                <a:cs typeface="Calibri" pitchFamily="34" charset="-120"/>
              </a:rPr>
              <a:t>Detrás del índice hay personas reales. Adultos mayores en sectores rurales donde el CESFAM más cercano está a cuarenta minutos, muchos sin red de cuidados y con discapacidad asociada al envejecimiento.</a:t>
            </a:r>
            <a:endParaRPr lang="en-US" sz="980" dirty="0"/>
          </a:p>
          <a:p>
            <a:pPr algn="just" indent="0" marL="0">
              <a:buNone/>
            </a:pPr>
            <a:endParaRPr lang="en-US" sz="980" dirty="0"/>
          </a:p>
          <a:p>
            <a:pPr algn="just" indent="0" marL="0">
              <a:buNone/>
            </a:pPr>
            <a:r>
              <a:rPr lang="en-US" sz="980" dirty="0">
                <a:solidFill>
                  <a:srgbClr val="FFFFFF"/>
                </a:solidFill>
                <a:latin typeface="Calibri" pitchFamily="34" charset="0"/>
                <a:ea typeface="Calibri" pitchFamily="34" charset="-122"/>
                <a:cs typeface="Calibri" pitchFamily="34" charset="-120"/>
              </a:rPr>
              <a:t>El municipio que planifique hoy para la demografía de hoy llegará al final de este PLADECO sin respuesta para la población que más la necesitará. La presión es asimétrica: los adultos mayores rurales enfrentan doble exclusión —por edad y por distancia a los servicios.</a:t>
            </a:r>
            <a:endParaRPr lang="en-US" sz="980" dirty="0"/>
          </a:p>
          <a:p>
            <a:pPr algn="just" indent="0" marL="0">
              <a:buNone/>
            </a:pPr>
            <a:endParaRPr lang="en-US" sz="980" dirty="0"/>
          </a:p>
          <a:p>
            <a:pPr algn="just" indent="0" marL="0">
              <a:buNone/>
            </a:pPr>
            <a:r>
              <a:rPr lang="en-US" sz="980" dirty="0">
                <a:solidFill>
                  <a:srgbClr val="FFFFFF"/>
                </a:solidFill>
                <a:latin typeface="Calibri" pitchFamily="34" charset="0"/>
                <a:ea typeface="Calibri" pitchFamily="34" charset="-122"/>
                <a:cs typeface="Calibri" pitchFamily="34" charset="-120"/>
              </a:rPr>
              <a:t>El PLADECO debe diseñar sus programas de salud y cuidado para 2035, no para 2025. Eje 1 del PLADECO destina 58 acciones a este desafío.</a:t>
            </a:r>
            <a:endParaRPr lang="en-US" sz="9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Seguridad pública: un problema de doble entrada</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Jóvenes victimarios y adultos mayores víctimas — los dos extremos del mismo fracaso territorial</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4069080" cy="2331720"/>
          </a:xfrm>
          <a:prstGeom prst="rect">
            <a:avLst/>
          </a:prstGeom>
          <a:solidFill>
            <a:srgbClr val="B83232"/>
          </a:solidFill>
          <a:ln/>
          <a:effectLst>
            <a:outerShdw sx="100000" sy="100000" kx="0" ky="0" algn="bl" rotWithShape="0" blurRad="88900" dist="38100" dir="8100000">
              <a:srgbClr val="000000">
                <a:alpha val="10000"/>
              </a:srgbClr>
            </a:outerShdw>
          </a:effectLst>
        </p:spPr>
      </p:sp>
      <p:sp>
        <p:nvSpPr>
          <p:cNvPr id="9" name="Text 7"/>
          <p:cNvSpPr/>
          <p:nvPr/>
        </p:nvSpPr>
        <p:spPr>
          <a:xfrm>
            <a:off x="274320" y="1024128"/>
            <a:ext cx="4069080" cy="100584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+464%</a:t>
            </a:r>
            <a:endParaRPr lang="en-US" sz="5200" dirty="0"/>
          </a:p>
        </p:txBody>
      </p:sp>
      <p:sp>
        <p:nvSpPr>
          <p:cNvPr id="10" name="Text 8"/>
          <p:cNvSpPr/>
          <p:nvPr/>
        </p:nvSpPr>
        <p:spPr>
          <a:xfrm>
            <a:off x="274320" y="2029968"/>
            <a:ext cx="4069080" cy="8046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Jóvenes de 14–17 años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en conflicto con la ley</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(últimos 20 años)</a:t>
            </a:r>
            <a:endParaRPr lang="en-US" sz="1150" dirty="0"/>
          </a:p>
        </p:txBody>
      </p:sp>
      <p:sp>
        <p:nvSpPr>
          <p:cNvPr id="11" name="Shape 9"/>
          <p:cNvSpPr/>
          <p:nvPr/>
        </p:nvSpPr>
        <p:spPr>
          <a:xfrm>
            <a:off x="4800600" y="960120"/>
            <a:ext cx="4069080" cy="2331720"/>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12" name="Text 10"/>
          <p:cNvSpPr/>
          <p:nvPr/>
        </p:nvSpPr>
        <p:spPr>
          <a:xfrm>
            <a:off x="4800600" y="1024128"/>
            <a:ext cx="4069080" cy="1005840"/>
          </a:xfrm>
          <a:prstGeom prst="rect">
            <a:avLst/>
          </a:prstGeom>
          <a:noFill/>
          <a:ln/>
        </p:spPr>
        <p:txBody>
          <a:bodyPr wrap="square" rtlCol="0" anchor="ctr"/>
          <a:lstStyle/>
          <a:p>
            <a:pPr algn="ctr" indent="0" marL="0">
              <a:buNone/>
            </a:pPr>
            <a:r>
              <a:rPr lang="en-US" sz="5200" b="1" dirty="0">
                <a:solidFill>
                  <a:srgbClr val="C9A84C"/>
                </a:solidFill>
                <a:latin typeface="Georgia" pitchFamily="34" charset="0"/>
                <a:ea typeface="Georgia" pitchFamily="34" charset="-122"/>
                <a:cs typeface="Georgia" pitchFamily="34" charset="-120"/>
              </a:rPr>
              <a:t>+554%</a:t>
            </a:r>
            <a:endParaRPr lang="en-US" sz="5200" dirty="0"/>
          </a:p>
        </p:txBody>
      </p:sp>
      <p:sp>
        <p:nvSpPr>
          <p:cNvPr id="13" name="Text 11"/>
          <p:cNvSpPr/>
          <p:nvPr/>
        </p:nvSpPr>
        <p:spPr>
          <a:xfrm>
            <a:off x="4800600" y="2029968"/>
            <a:ext cx="4069080" cy="8046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Adultos mayores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víctimas de delitos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(últimos 20 años)</a:t>
            </a:r>
            <a:endParaRPr lang="en-US" sz="1150" dirty="0"/>
          </a:p>
        </p:txBody>
      </p:sp>
      <p:sp>
        <p:nvSpPr>
          <p:cNvPr id="14" name="Shape 12"/>
          <p:cNvSpPr/>
          <p:nvPr/>
        </p:nvSpPr>
        <p:spPr>
          <a:xfrm>
            <a:off x="4206240" y="1828800"/>
            <a:ext cx="731520" cy="731520"/>
          </a:xfrm>
          <a:prstGeom prst="oval">
            <a:avLst/>
          </a:prstGeom>
          <a:solidFill>
            <a:srgbClr val="C9A84C"/>
          </a:solidFill>
          <a:ln/>
          <a:effectLst>
            <a:outerShdw sx="100000" sy="100000" kx="0" ky="0" algn="bl" rotWithShape="0" blurRad="88900" dist="38100" dir="8100000">
              <a:srgbClr val="000000">
                <a:alpha val="10000"/>
              </a:srgbClr>
            </a:outerShdw>
          </a:effectLst>
        </p:spPr>
      </p:sp>
      <p:sp>
        <p:nvSpPr>
          <p:cNvPr id="15" name="Text 13"/>
          <p:cNvSpPr/>
          <p:nvPr/>
        </p:nvSpPr>
        <p:spPr>
          <a:xfrm>
            <a:off x="4206240" y="1828800"/>
            <a:ext cx="731520" cy="73152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16" name="Shape 14"/>
          <p:cNvSpPr/>
          <p:nvPr/>
        </p:nvSpPr>
        <p:spPr>
          <a:xfrm>
            <a:off x="274320" y="3401568"/>
            <a:ext cx="8595360" cy="14630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7" name="Shape 15"/>
          <p:cNvSpPr/>
          <p:nvPr/>
        </p:nvSpPr>
        <p:spPr>
          <a:xfrm>
            <a:off x="274320" y="3401568"/>
            <a:ext cx="8595360" cy="59436"/>
          </a:xfrm>
          <a:prstGeom prst="rect">
            <a:avLst/>
          </a:prstGeom>
          <a:solidFill>
            <a:srgbClr val="C9A84C"/>
          </a:solidFill>
          <a:ln/>
        </p:spPr>
      </p:sp>
      <p:sp>
        <p:nvSpPr>
          <p:cNvPr id="18" name="Shape 16"/>
          <p:cNvSpPr/>
          <p:nvPr/>
        </p:nvSpPr>
        <p:spPr>
          <a:xfrm>
            <a:off x="274320" y="3401568"/>
            <a:ext cx="82296" cy="1463040"/>
          </a:xfrm>
          <a:prstGeom prst="rect">
            <a:avLst/>
          </a:prstGeom>
          <a:solidFill>
            <a:srgbClr val="C9A84C"/>
          </a:solidFill>
          <a:ln/>
        </p:spPr>
      </p:sp>
      <p:sp>
        <p:nvSpPr>
          <p:cNvPr id="19" name="Text 17"/>
          <p:cNvSpPr/>
          <p:nvPr/>
        </p:nvSpPr>
        <p:spPr>
          <a:xfrm>
            <a:off x="502920" y="3502152"/>
            <a:ext cx="8229600" cy="1261872"/>
          </a:xfrm>
          <a:prstGeom prst="rect">
            <a:avLst/>
          </a:prstGeom>
          <a:noFill/>
          <a:ln/>
        </p:spPr>
        <p:txBody>
          <a:bodyPr wrap="square" lIns="508" tIns="508" rIns="508" bIns="508" rtlCol="0" anchor="t"/>
          <a:lstStyle/>
          <a:p>
            <a:pPr algn="just" indent="0" marL="0">
              <a:buNone/>
            </a:pPr>
            <a:r>
              <a:rPr lang="en-US" sz="1050" dirty="0">
                <a:solidFill>
                  <a:srgbClr val="2C3E50"/>
                </a:solidFill>
                <a:latin typeface="Calibri" pitchFamily="34" charset="0"/>
                <a:ea typeface="Calibri" pitchFamily="34" charset="-122"/>
                <a:cs typeface="Calibri" pitchFamily="34" charset="-120"/>
              </a:rPr>
              <a:t>No son dos problemas distintos: son los dos extremos de un mismo fracaso territorial. En un extremo, jóvenes que crecieron sin los vínculos y oportunidades que alejan a una persona del delito. En el otro, adultos mayores que son el grupo más vulnerable ante la violencia que esa misma comunidad no pudo prevenir. Un PLADECO que responda a esto solo con más presencia policial está tratando el síntoma y dejando intacta la causa. El Eje 5 del PLADECO —Seguridad Pública y Gestión de Riesgos— destina 32 acciones y 5 objetivos estratégicos a esta problemática: desde NNA inseguros &lt;25% hasta la reducción de VIF a menos de 200 casos anuales. La prevención temprana y la protección efectiva de adultos mayores no son líneas paralelas: son las dos caras de una misma respuesta.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C9A84C"/>
          </a:solidFill>
          <a:ln/>
        </p:spPr>
      </p:sp>
      <p:sp>
        <p:nvSpPr>
          <p:cNvPr id="3" name="Shape 1"/>
          <p:cNvSpPr/>
          <p:nvPr/>
        </p:nvSpPr>
        <p:spPr>
          <a:xfrm>
            <a:off x="347472" y="2423160"/>
            <a:ext cx="8796528" cy="50292"/>
          </a:xfrm>
          <a:prstGeom prst="rect">
            <a:avLst/>
          </a:prstGeom>
          <a:solidFill>
            <a:srgbClr val="C9A84C">
              <a:alpha val="40000"/>
            </a:srgbClr>
          </a:solidFill>
          <a:ln/>
        </p:spPr>
      </p:sp>
      <p:sp>
        <p:nvSpPr>
          <p:cNvPr id="4" name="Text 2"/>
          <p:cNvSpPr/>
          <p:nvPr/>
        </p:nvSpPr>
        <p:spPr>
          <a:xfrm>
            <a:off x="658368" y="1627632"/>
            <a:ext cx="7772400" cy="347472"/>
          </a:xfrm>
          <a:prstGeom prst="rect">
            <a:avLst/>
          </a:prstGeom>
          <a:noFill/>
          <a:ln/>
        </p:spPr>
        <p:txBody>
          <a:bodyPr wrap="square"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SECCIÓN 02</a:t>
            </a:r>
            <a:endParaRPr lang="en-US" sz="1100" dirty="0"/>
          </a:p>
        </p:txBody>
      </p:sp>
      <p:sp>
        <p:nvSpPr>
          <p:cNvPr id="5" name="Text 3"/>
          <p:cNvSpPr/>
          <p:nvPr/>
        </p:nvSpPr>
        <p:spPr>
          <a:xfrm>
            <a:off x="658368" y="1965960"/>
            <a:ext cx="7772400" cy="109728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Arquitectura Estratégica</a:t>
            </a:r>
            <a:endParaRPr lang="en-US" sz="3800" dirty="0"/>
          </a:p>
        </p:txBody>
      </p:sp>
      <p:sp>
        <p:nvSpPr>
          <p:cNvPr id="6" name="Text 4"/>
          <p:cNvSpPr/>
          <p:nvPr/>
        </p:nvSpPr>
        <p:spPr>
          <a:xfrm>
            <a:off x="658368" y="3154680"/>
            <a:ext cx="7772400" cy="320040"/>
          </a:xfrm>
          <a:prstGeom prst="rect">
            <a:avLst/>
          </a:prstGeom>
          <a:noFill/>
          <a:ln/>
        </p:spPr>
        <p:txBody>
          <a:bodyPr wrap="square"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6 ejes, 32 OE, 225 acciones — la estructura que Rengo necesita para transformarse</a:t>
            </a:r>
            <a:endParaRPr lang="en-US" sz="1150" dirty="0"/>
          </a:p>
        </p:txBody>
      </p:sp>
      <p:sp>
        <p:nvSpPr>
          <p:cNvPr id="7" name="Shape 5"/>
          <p:cNvSpPr/>
          <p:nvPr/>
        </p:nvSpPr>
        <p:spPr>
          <a:xfrm>
            <a:off x="0" y="5070348"/>
            <a:ext cx="9144000" cy="73152"/>
          </a:xfrm>
          <a:prstGeom prst="rect">
            <a:avLst/>
          </a:prstGeom>
          <a:solidFill>
            <a:srgbClr val="162850"/>
          </a:solidFill>
          <a:ln/>
        </p:spPr>
      </p:sp>
      <p:sp>
        <p:nvSpPr>
          <p:cNvPr id="8" name="Text 6"/>
          <p:cNvSpPr/>
          <p:nvPr/>
        </p:nvSpPr>
        <p:spPr>
          <a:xfrm>
            <a:off x="411480" y="5073091"/>
            <a:ext cx="4572000" cy="68580"/>
          </a:xfrm>
          <a:prstGeom prst="rect">
            <a:avLst/>
          </a:prstGeom>
          <a:noFill/>
          <a:ln/>
        </p:spPr>
        <p:txBody>
          <a:bodyPr wrap="square" lIns="0" tIns="0" rIns="0" bIns="0" rtlCol="0" anchor="ctr"/>
          <a:lstStyle/>
          <a:p>
            <a:pPr indent="0" marL="0">
              <a:buNone/>
            </a:pPr>
            <a:r>
              <a:rPr lang="en-US" sz="650" dirty="0">
                <a:solidFill>
                  <a:srgbClr val="C9A84C"/>
                </a:solidFill>
                <a:latin typeface="Calibri" pitchFamily="34" charset="0"/>
                <a:ea typeface="Calibri" pitchFamily="34" charset="-122"/>
                <a:cs typeface="Calibri" pitchFamily="34" charset="-120"/>
              </a:rPr>
              <a:t>PLADECO Rengo 2025–2035</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Arquitectura estratégica: 6 ejes del PLADECO</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6 ejes · 32 objetivos estratégicos · 225 acciones articuladas con el Programa de Gobierno</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743200" cy="59436"/>
          </a:xfrm>
          <a:prstGeom prst="rect">
            <a:avLst/>
          </a:prstGeom>
          <a:solidFill>
            <a:srgbClr val="0A6B65"/>
          </a:solidFill>
          <a:ln/>
        </p:spPr>
      </p:sp>
      <p:sp>
        <p:nvSpPr>
          <p:cNvPr id="10" name="Shape 8"/>
          <p:cNvSpPr/>
          <p:nvPr/>
        </p:nvSpPr>
        <p:spPr>
          <a:xfrm>
            <a:off x="274320" y="1033272"/>
            <a:ext cx="658368" cy="475488"/>
          </a:xfrm>
          <a:prstGeom prst="rect">
            <a:avLst/>
          </a:prstGeom>
          <a:solidFill>
            <a:srgbClr val="0A6B65"/>
          </a:solidFill>
          <a:ln/>
        </p:spPr>
      </p:sp>
      <p:sp>
        <p:nvSpPr>
          <p:cNvPr id="11" name="Text 9"/>
          <p:cNvSpPr/>
          <p:nvPr/>
        </p:nvSpPr>
        <p:spPr>
          <a:xfrm>
            <a:off x="274320" y="1033272"/>
            <a:ext cx="658368"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EJE 1</a:t>
            </a:r>
            <a:endParaRPr lang="en-US" sz="850" dirty="0"/>
          </a:p>
        </p:txBody>
      </p:sp>
      <p:sp>
        <p:nvSpPr>
          <p:cNvPr id="12" name="Text 10"/>
          <p:cNvSpPr/>
          <p:nvPr/>
        </p:nvSpPr>
        <p:spPr>
          <a:xfrm>
            <a:off x="987552" y="1033272"/>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Cultura, Turismo,</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Deportes y Bienestar</a:t>
            </a:r>
            <a:endParaRPr lang="en-US" sz="950" dirty="0"/>
          </a:p>
        </p:txBody>
      </p:sp>
      <p:sp>
        <p:nvSpPr>
          <p:cNvPr id="13" name="Shape 11"/>
          <p:cNvSpPr/>
          <p:nvPr/>
        </p:nvSpPr>
        <p:spPr>
          <a:xfrm>
            <a:off x="347472" y="1554480"/>
            <a:ext cx="2596896" cy="36576"/>
          </a:xfrm>
          <a:prstGeom prst="rect">
            <a:avLst/>
          </a:prstGeom>
          <a:solidFill>
            <a:srgbClr val="E8ECF0"/>
          </a:solidFill>
          <a:ln/>
        </p:spPr>
      </p:sp>
      <p:sp>
        <p:nvSpPr>
          <p:cNvPr id="14" name="Text 12"/>
          <p:cNvSpPr/>
          <p:nvPr/>
        </p:nvSpPr>
        <p:spPr>
          <a:xfrm>
            <a:off x="347472" y="1618488"/>
            <a:ext cx="804672" cy="219456"/>
          </a:xfrm>
          <a:prstGeom prst="rect">
            <a:avLst/>
          </a:prstGeom>
          <a:noFill/>
          <a:ln/>
        </p:spPr>
        <p:txBody>
          <a:bodyPr wrap="square" rtlCol="0" anchor="ctr"/>
          <a:lstStyle/>
          <a:p>
            <a:pPr algn="ctr" indent="0" marL="0">
              <a:buNone/>
            </a:pPr>
            <a:r>
              <a:rPr lang="en-US" sz="1000" b="1" dirty="0">
                <a:solidFill>
                  <a:srgbClr val="0A6B65"/>
                </a:solidFill>
                <a:latin typeface="Georgia" pitchFamily="34" charset="0"/>
                <a:ea typeface="Georgia" pitchFamily="34" charset="-122"/>
                <a:cs typeface="Georgia" pitchFamily="34" charset="-120"/>
              </a:rPr>
              <a:t>5 OE</a:t>
            </a:r>
            <a:endParaRPr lang="en-US" sz="1000" dirty="0"/>
          </a:p>
        </p:txBody>
      </p:sp>
      <p:sp>
        <p:nvSpPr>
          <p:cNvPr id="15" name="Text 13"/>
          <p:cNvSpPr/>
          <p:nvPr/>
        </p:nvSpPr>
        <p:spPr>
          <a:xfrm>
            <a:off x="1170432" y="1618488"/>
            <a:ext cx="896112" cy="219456"/>
          </a:xfrm>
          <a:prstGeom prst="rect">
            <a:avLst/>
          </a:prstGeom>
          <a:noFill/>
          <a:ln/>
        </p:spPr>
        <p:txBody>
          <a:bodyPr wrap="square" rtlCol="0" anchor="ctr"/>
          <a:lstStyle/>
          <a:p>
            <a:pPr algn="ctr" indent="0" marL="0">
              <a:buNone/>
            </a:pPr>
            <a:r>
              <a:rPr lang="en-US" sz="1000" b="1" dirty="0">
                <a:solidFill>
                  <a:srgbClr val="0A6B65"/>
                </a:solidFill>
                <a:latin typeface="Georgia" pitchFamily="34" charset="0"/>
                <a:ea typeface="Georgia" pitchFamily="34" charset="-122"/>
                <a:cs typeface="Georgia" pitchFamily="34" charset="-120"/>
              </a:rPr>
              <a:t>58 acc.</a:t>
            </a:r>
            <a:endParaRPr lang="en-US" sz="1000" dirty="0"/>
          </a:p>
        </p:txBody>
      </p:sp>
      <p:sp>
        <p:nvSpPr>
          <p:cNvPr id="16" name="Text 14"/>
          <p:cNvSpPr/>
          <p:nvPr/>
        </p:nvSpPr>
        <p:spPr>
          <a:xfrm>
            <a:off x="2084832" y="1618488"/>
            <a:ext cx="804672" cy="219456"/>
          </a:xfrm>
          <a:prstGeom prst="rect">
            <a:avLst/>
          </a:prstGeom>
          <a:noFill/>
          <a:ln/>
        </p:spPr>
        <p:txBody>
          <a:bodyPr wrap="square" rtlCol="0" anchor="ctr"/>
          <a:lstStyle/>
          <a:p>
            <a:pPr algn="ctr" indent="0" marL="0">
              <a:buNone/>
            </a:pPr>
            <a:r>
              <a:rPr lang="en-US" sz="1000" b="1" dirty="0">
                <a:solidFill>
                  <a:srgbClr val="0A6B65"/>
                </a:solidFill>
                <a:latin typeface="Georgia" pitchFamily="34" charset="0"/>
                <a:ea typeface="Georgia" pitchFamily="34" charset="-122"/>
                <a:cs typeface="Georgia" pitchFamily="34" charset="-120"/>
              </a:rPr>
              <a:t>25,8%</a:t>
            </a:r>
            <a:endParaRPr lang="en-US" sz="1000" dirty="0"/>
          </a:p>
        </p:txBody>
      </p:sp>
      <p:sp>
        <p:nvSpPr>
          <p:cNvPr id="17" name="Shape 15"/>
          <p:cNvSpPr/>
          <p:nvPr/>
        </p:nvSpPr>
        <p:spPr>
          <a:xfrm>
            <a:off x="402336" y="1984248"/>
            <a:ext cx="73152" cy="73152"/>
          </a:xfrm>
          <a:prstGeom prst="rect">
            <a:avLst/>
          </a:prstGeom>
          <a:solidFill>
            <a:srgbClr val="0A6B65"/>
          </a:solidFill>
          <a:ln/>
        </p:spPr>
      </p:sp>
      <p:sp>
        <p:nvSpPr>
          <p:cNvPr id="18" name="Text 16"/>
          <p:cNvSpPr/>
          <p:nvPr/>
        </p:nvSpPr>
        <p:spPr>
          <a:xfrm>
            <a:off x="512064" y="1911096"/>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1.1 Plan Turismo Rural y Patrimonial</a:t>
            </a:r>
            <a:endParaRPr lang="en-US" sz="850" dirty="0"/>
          </a:p>
        </p:txBody>
      </p:sp>
      <p:sp>
        <p:nvSpPr>
          <p:cNvPr id="19" name="Shape 17"/>
          <p:cNvSpPr/>
          <p:nvPr/>
        </p:nvSpPr>
        <p:spPr>
          <a:xfrm>
            <a:off x="402336" y="2267712"/>
            <a:ext cx="73152" cy="73152"/>
          </a:xfrm>
          <a:prstGeom prst="rect">
            <a:avLst/>
          </a:prstGeom>
          <a:solidFill>
            <a:srgbClr val="0A6B65"/>
          </a:solidFill>
          <a:ln/>
        </p:spPr>
      </p:sp>
      <p:sp>
        <p:nvSpPr>
          <p:cNvPr id="20" name="Text 18"/>
          <p:cNvSpPr/>
          <p:nvPr/>
        </p:nvSpPr>
        <p:spPr>
          <a:xfrm>
            <a:off x="512064" y="2194560"/>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1.3 Ampliar Infraestructura Deportiva</a:t>
            </a:r>
            <a:endParaRPr lang="en-US" sz="850" dirty="0"/>
          </a:p>
        </p:txBody>
      </p:sp>
      <p:sp>
        <p:nvSpPr>
          <p:cNvPr id="21" name="Shape 19"/>
          <p:cNvSpPr/>
          <p:nvPr/>
        </p:nvSpPr>
        <p:spPr>
          <a:xfrm>
            <a:off x="402336" y="2551176"/>
            <a:ext cx="73152" cy="73152"/>
          </a:xfrm>
          <a:prstGeom prst="rect">
            <a:avLst/>
          </a:prstGeom>
          <a:solidFill>
            <a:srgbClr val="0A6B65"/>
          </a:solidFill>
          <a:ln/>
        </p:spPr>
      </p:sp>
      <p:sp>
        <p:nvSpPr>
          <p:cNvPr id="22" name="Text 20"/>
          <p:cNvSpPr/>
          <p:nvPr/>
        </p:nvSpPr>
        <p:spPr>
          <a:xfrm>
            <a:off x="512064" y="247802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1.4 Inclusión Social AM, PcD y Migrantes</a:t>
            </a:r>
            <a:endParaRPr lang="en-US" sz="850" dirty="0"/>
          </a:p>
        </p:txBody>
      </p:sp>
      <p:sp>
        <p:nvSpPr>
          <p:cNvPr id="23" name="Shape 21"/>
          <p:cNvSpPr/>
          <p:nvPr/>
        </p:nvSpPr>
        <p:spPr>
          <a:xfrm>
            <a:off x="3154680" y="960120"/>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4" name="Shape 22"/>
          <p:cNvSpPr/>
          <p:nvPr/>
        </p:nvSpPr>
        <p:spPr>
          <a:xfrm>
            <a:off x="3154680" y="960120"/>
            <a:ext cx="2743200" cy="59436"/>
          </a:xfrm>
          <a:prstGeom prst="rect">
            <a:avLst/>
          </a:prstGeom>
          <a:solidFill>
            <a:srgbClr val="1A6B42"/>
          </a:solidFill>
          <a:ln/>
        </p:spPr>
      </p:sp>
      <p:sp>
        <p:nvSpPr>
          <p:cNvPr id="25" name="Shape 23"/>
          <p:cNvSpPr/>
          <p:nvPr/>
        </p:nvSpPr>
        <p:spPr>
          <a:xfrm>
            <a:off x="3154680" y="1033272"/>
            <a:ext cx="658368" cy="475488"/>
          </a:xfrm>
          <a:prstGeom prst="rect">
            <a:avLst/>
          </a:prstGeom>
          <a:solidFill>
            <a:srgbClr val="1A6B42"/>
          </a:solidFill>
          <a:ln/>
        </p:spPr>
      </p:sp>
      <p:sp>
        <p:nvSpPr>
          <p:cNvPr id="26" name="Text 24"/>
          <p:cNvSpPr/>
          <p:nvPr/>
        </p:nvSpPr>
        <p:spPr>
          <a:xfrm>
            <a:off x="3154680" y="1033272"/>
            <a:ext cx="658368"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EJE 2</a:t>
            </a:r>
            <a:endParaRPr lang="en-US" sz="850" dirty="0"/>
          </a:p>
        </p:txBody>
      </p:sp>
      <p:sp>
        <p:nvSpPr>
          <p:cNvPr id="27" name="Text 25"/>
          <p:cNvSpPr/>
          <p:nvPr/>
        </p:nvSpPr>
        <p:spPr>
          <a:xfrm>
            <a:off x="3867912" y="1033272"/>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Desarrollo</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Económico Comunal</a:t>
            </a:r>
            <a:endParaRPr lang="en-US" sz="950" dirty="0"/>
          </a:p>
        </p:txBody>
      </p:sp>
      <p:sp>
        <p:nvSpPr>
          <p:cNvPr id="28" name="Shape 26"/>
          <p:cNvSpPr/>
          <p:nvPr/>
        </p:nvSpPr>
        <p:spPr>
          <a:xfrm>
            <a:off x="3227832" y="1554480"/>
            <a:ext cx="2596896" cy="36576"/>
          </a:xfrm>
          <a:prstGeom prst="rect">
            <a:avLst/>
          </a:prstGeom>
          <a:solidFill>
            <a:srgbClr val="E8ECF0"/>
          </a:solidFill>
          <a:ln/>
        </p:spPr>
      </p:sp>
      <p:sp>
        <p:nvSpPr>
          <p:cNvPr id="29" name="Text 27"/>
          <p:cNvSpPr/>
          <p:nvPr/>
        </p:nvSpPr>
        <p:spPr>
          <a:xfrm>
            <a:off x="3227832" y="1618488"/>
            <a:ext cx="804672" cy="219456"/>
          </a:xfrm>
          <a:prstGeom prst="rect">
            <a:avLst/>
          </a:prstGeom>
          <a:noFill/>
          <a:ln/>
        </p:spPr>
        <p:txBody>
          <a:bodyPr wrap="square" rtlCol="0" anchor="ctr"/>
          <a:lstStyle/>
          <a:p>
            <a:pPr algn="ctr" indent="0" marL="0">
              <a:buNone/>
            </a:pPr>
            <a:r>
              <a:rPr lang="en-US" sz="1000" b="1" dirty="0">
                <a:solidFill>
                  <a:srgbClr val="1A6B42"/>
                </a:solidFill>
                <a:latin typeface="Georgia" pitchFamily="34" charset="0"/>
                <a:ea typeface="Georgia" pitchFamily="34" charset="-122"/>
                <a:cs typeface="Georgia" pitchFamily="34" charset="-120"/>
              </a:rPr>
              <a:t>5 OE</a:t>
            </a:r>
            <a:endParaRPr lang="en-US" sz="1000" dirty="0"/>
          </a:p>
        </p:txBody>
      </p:sp>
      <p:sp>
        <p:nvSpPr>
          <p:cNvPr id="30" name="Text 28"/>
          <p:cNvSpPr/>
          <p:nvPr/>
        </p:nvSpPr>
        <p:spPr>
          <a:xfrm>
            <a:off x="4050792" y="1618488"/>
            <a:ext cx="896112" cy="219456"/>
          </a:xfrm>
          <a:prstGeom prst="rect">
            <a:avLst/>
          </a:prstGeom>
          <a:noFill/>
          <a:ln/>
        </p:spPr>
        <p:txBody>
          <a:bodyPr wrap="square" rtlCol="0" anchor="ctr"/>
          <a:lstStyle/>
          <a:p>
            <a:pPr algn="ctr" indent="0" marL="0">
              <a:buNone/>
            </a:pPr>
            <a:r>
              <a:rPr lang="en-US" sz="1000" b="1" dirty="0">
                <a:solidFill>
                  <a:srgbClr val="1A6B42"/>
                </a:solidFill>
                <a:latin typeface="Georgia" pitchFamily="34" charset="0"/>
                <a:ea typeface="Georgia" pitchFamily="34" charset="-122"/>
                <a:cs typeface="Georgia" pitchFamily="34" charset="-120"/>
              </a:rPr>
              <a:t>18 acc.</a:t>
            </a:r>
            <a:endParaRPr lang="en-US" sz="1000" dirty="0"/>
          </a:p>
        </p:txBody>
      </p:sp>
      <p:sp>
        <p:nvSpPr>
          <p:cNvPr id="31" name="Text 29"/>
          <p:cNvSpPr/>
          <p:nvPr/>
        </p:nvSpPr>
        <p:spPr>
          <a:xfrm>
            <a:off x="4965192" y="1618488"/>
            <a:ext cx="804672" cy="219456"/>
          </a:xfrm>
          <a:prstGeom prst="rect">
            <a:avLst/>
          </a:prstGeom>
          <a:noFill/>
          <a:ln/>
        </p:spPr>
        <p:txBody>
          <a:bodyPr wrap="square" rtlCol="0" anchor="ctr"/>
          <a:lstStyle/>
          <a:p>
            <a:pPr algn="ctr" indent="0" marL="0">
              <a:buNone/>
            </a:pPr>
            <a:r>
              <a:rPr lang="en-US" sz="1000" b="1" dirty="0">
                <a:solidFill>
                  <a:srgbClr val="1A6B42"/>
                </a:solidFill>
                <a:latin typeface="Georgia" pitchFamily="34" charset="0"/>
                <a:ea typeface="Georgia" pitchFamily="34" charset="-122"/>
                <a:cs typeface="Georgia" pitchFamily="34" charset="-120"/>
              </a:rPr>
              <a:t>8,0%</a:t>
            </a:r>
            <a:endParaRPr lang="en-US" sz="1000" dirty="0"/>
          </a:p>
        </p:txBody>
      </p:sp>
      <p:sp>
        <p:nvSpPr>
          <p:cNvPr id="32" name="Shape 30"/>
          <p:cNvSpPr/>
          <p:nvPr/>
        </p:nvSpPr>
        <p:spPr>
          <a:xfrm>
            <a:off x="3282696" y="1984248"/>
            <a:ext cx="73152" cy="73152"/>
          </a:xfrm>
          <a:prstGeom prst="rect">
            <a:avLst/>
          </a:prstGeom>
          <a:solidFill>
            <a:srgbClr val="1A6B42"/>
          </a:solidFill>
          <a:ln/>
        </p:spPr>
      </p:sp>
      <p:sp>
        <p:nvSpPr>
          <p:cNvPr id="33" name="Text 31"/>
          <p:cNvSpPr/>
          <p:nvPr/>
        </p:nvSpPr>
        <p:spPr>
          <a:xfrm>
            <a:off x="3392424" y="1911096"/>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2.2 OMIL con Reconversión Laboral</a:t>
            </a:r>
            <a:endParaRPr lang="en-US" sz="850" dirty="0"/>
          </a:p>
        </p:txBody>
      </p:sp>
      <p:sp>
        <p:nvSpPr>
          <p:cNvPr id="34" name="Shape 32"/>
          <p:cNvSpPr/>
          <p:nvPr/>
        </p:nvSpPr>
        <p:spPr>
          <a:xfrm>
            <a:off x="3282696" y="2267712"/>
            <a:ext cx="73152" cy="73152"/>
          </a:xfrm>
          <a:prstGeom prst="rect">
            <a:avLst/>
          </a:prstGeom>
          <a:solidFill>
            <a:srgbClr val="1A6B42"/>
          </a:solidFill>
          <a:ln/>
        </p:spPr>
      </p:sp>
      <p:sp>
        <p:nvSpPr>
          <p:cNvPr id="35" name="Text 33"/>
          <p:cNvSpPr/>
          <p:nvPr/>
        </p:nvSpPr>
        <p:spPr>
          <a:xfrm>
            <a:off x="3392424" y="2194560"/>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2.3 Emprendimiento e Innovación</a:t>
            </a:r>
            <a:endParaRPr lang="en-US" sz="850" dirty="0"/>
          </a:p>
        </p:txBody>
      </p:sp>
      <p:sp>
        <p:nvSpPr>
          <p:cNvPr id="36" name="Shape 34"/>
          <p:cNvSpPr/>
          <p:nvPr/>
        </p:nvSpPr>
        <p:spPr>
          <a:xfrm>
            <a:off x="3282696" y="2551176"/>
            <a:ext cx="73152" cy="73152"/>
          </a:xfrm>
          <a:prstGeom prst="rect">
            <a:avLst/>
          </a:prstGeom>
          <a:solidFill>
            <a:srgbClr val="1A6B42"/>
          </a:solidFill>
          <a:ln/>
        </p:spPr>
      </p:sp>
      <p:sp>
        <p:nvSpPr>
          <p:cNvPr id="37" name="Text 35"/>
          <p:cNvSpPr/>
          <p:nvPr/>
        </p:nvSpPr>
        <p:spPr>
          <a:xfrm>
            <a:off x="3392424" y="247802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2.4 Turismo Rural y Enológico</a:t>
            </a:r>
            <a:endParaRPr lang="en-US" sz="850" dirty="0"/>
          </a:p>
        </p:txBody>
      </p:sp>
      <p:sp>
        <p:nvSpPr>
          <p:cNvPr id="38" name="Shape 36"/>
          <p:cNvSpPr/>
          <p:nvPr/>
        </p:nvSpPr>
        <p:spPr>
          <a:xfrm>
            <a:off x="6035040" y="960120"/>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9" name="Shape 37"/>
          <p:cNvSpPr/>
          <p:nvPr/>
        </p:nvSpPr>
        <p:spPr>
          <a:xfrm>
            <a:off x="6035040" y="960120"/>
            <a:ext cx="2743200" cy="59436"/>
          </a:xfrm>
          <a:prstGeom prst="rect">
            <a:avLst/>
          </a:prstGeom>
          <a:solidFill>
            <a:srgbClr val="1F3864"/>
          </a:solidFill>
          <a:ln/>
        </p:spPr>
      </p:sp>
      <p:sp>
        <p:nvSpPr>
          <p:cNvPr id="40" name="Shape 38"/>
          <p:cNvSpPr/>
          <p:nvPr/>
        </p:nvSpPr>
        <p:spPr>
          <a:xfrm>
            <a:off x="6035040" y="1033272"/>
            <a:ext cx="658368" cy="475488"/>
          </a:xfrm>
          <a:prstGeom prst="rect">
            <a:avLst/>
          </a:prstGeom>
          <a:solidFill>
            <a:srgbClr val="1F3864"/>
          </a:solidFill>
          <a:ln/>
        </p:spPr>
      </p:sp>
      <p:sp>
        <p:nvSpPr>
          <p:cNvPr id="41" name="Text 39"/>
          <p:cNvSpPr/>
          <p:nvPr/>
        </p:nvSpPr>
        <p:spPr>
          <a:xfrm>
            <a:off x="6035040" y="1033272"/>
            <a:ext cx="658368"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EJE 3</a:t>
            </a:r>
            <a:endParaRPr lang="en-US" sz="850" dirty="0"/>
          </a:p>
        </p:txBody>
      </p:sp>
      <p:sp>
        <p:nvSpPr>
          <p:cNvPr id="42" name="Text 40"/>
          <p:cNvSpPr/>
          <p:nvPr/>
        </p:nvSpPr>
        <p:spPr>
          <a:xfrm>
            <a:off x="6748272" y="1033272"/>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Educación y</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Capacitación</a:t>
            </a:r>
            <a:endParaRPr lang="en-US" sz="950" dirty="0"/>
          </a:p>
        </p:txBody>
      </p:sp>
      <p:sp>
        <p:nvSpPr>
          <p:cNvPr id="43" name="Shape 41"/>
          <p:cNvSpPr/>
          <p:nvPr/>
        </p:nvSpPr>
        <p:spPr>
          <a:xfrm>
            <a:off x="6108192" y="1554480"/>
            <a:ext cx="2596896" cy="36576"/>
          </a:xfrm>
          <a:prstGeom prst="rect">
            <a:avLst/>
          </a:prstGeom>
          <a:solidFill>
            <a:srgbClr val="E8ECF0"/>
          </a:solidFill>
          <a:ln/>
        </p:spPr>
      </p:sp>
      <p:sp>
        <p:nvSpPr>
          <p:cNvPr id="44" name="Text 42"/>
          <p:cNvSpPr/>
          <p:nvPr/>
        </p:nvSpPr>
        <p:spPr>
          <a:xfrm>
            <a:off x="6108192" y="1618488"/>
            <a:ext cx="804672" cy="219456"/>
          </a:xfrm>
          <a:prstGeom prst="rect">
            <a:avLst/>
          </a:prstGeom>
          <a:noFill/>
          <a:ln/>
        </p:spPr>
        <p:txBody>
          <a:bodyPr wrap="square" rtlCol="0" anchor="ctr"/>
          <a:lstStyle/>
          <a:p>
            <a:pPr algn="ctr" indent="0" marL="0">
              <a:buNone/>
            </a:pPr>
            <a:r>
              <a:rPr lang="en-US" sz="1000" b="1" dirty="0">
                <a:solidFill>
                  <a:srgbClr val="1F3864"/>
                </a:solidFill>
                <a:latin typeface="Georgia" pitchFamily="34" charset="0"/>
                <a:ea typeface="Georgia" pitchFamily="34" charset="-122"/>
                <a:cs typeface="Georgia" pitchFamily="34" charset="-120"/>
              </a:rPr>
              <a:t>5 OE</a:t>
            </a:r>
            <a:endParaRPr lang="en-US" sz="1000" dirty="0"/>
          </a:p>
        </p:txBody>
      </p:sp>
      <p:sp>
        <p:nvSpPr>
          <p:cNvPr id="45" name="Text 43"/>
          <p:cNvSpPr/>
          <p:nvPr/>
        </p:nvSpPr>
        <p:spPr>
          <a:xfrm>
            <a:off x="6931152" y="1618488"/>
            <a:ext cx="896112" cy="219456"/>
          </a:xfrm>
          <a:prstGeom prst="rect">
            <a:avLst/>
          </a:prstGeom>
          <a:noFill/>
          <a:ln/>
        </p:spPr>
        <p:txBody>
          <a:bodyPr wrap="square" rtlCol="0" anchor="ctr"/>
          <a:lstStyle/>
          <a:p>
            <a:pPr algn="ctr" indent="0" marL="0">
              <a:buNone/>
            </a:pPr>
            <a:r>
              <a:rPr lang="en-US" sz="1000" b="1" dirty="0">
                <a:solidFill>
                  <a:srgbClr val="1F3864"/>
                </a:solidFill>
                <a:latin typeface="Georgia" pitchFamily="34" charset="0"/>
                <a:ea typeface="Georgia" pitchFamily="34" charset="-122"/>
                <a:cs typeface="Georgia" pitchFamily="34" charset="-120"/>
              </a:rPr>
              <a:t>14 acc.</a:t>
            </a:r>
            <a:endParaRPr lang="en-US" sz="1000" dirty="0"/>
          </a:p>
        </p:txBody>
      </p:sp>
      <p:sp>
        <p:nvSpPr>
          <p:cNvPr id="46" name="Text 44"/>
          <p:cNvSpPr/>
          <p:nvPr/>
        </p:nvSpPr>
        <p:spPr>
          <a:xfrm>
            <a:off x="7845552" y="1618488"/>
            <a:ext cx="804672" cy="219456"/>
          </a:xfrm>
          <a:prstGeom prst="rect">
            <a:avLst/>
          </a:prstGeom>
          <a:noFill/>
          <a:ln/>
        </p:spPr>
        <p:txBody>
          <a:bodyPr wrap="square" rtlCol="0" anchor="ctr"/>
          <a:lstStyle/>
          <a:p>
            <a:pPr algn="ctr" indent="0" marL="0">
              <a:buNone/>
            </a:pPr>
            <a:r>
              <a:rPr lang="en-US" sz="1000" b="1" dirty="0">
                <a:solidFill>
                  <a:srgbClr val="1F3864"/>
                </a:solidFill>
                <a:latin typeface="Georgia" pitchFamily="34" charset="0"/>
                <a:ea typeface="Georgia" pitchFamily="34" charset="-122"/>
                <a:cs typeface="Georgia" pitchFamily="34" charset="-120"/>
              </a:rPr>
              <a:t>6,2%</a:t>
            </a:r>
            <a:endParaRPr lang="en-US" sz="1000" dirty="0"/>
          </a:p>
        </p:txBody>
      </p:sp>
      <p:sp>
        <p:nvSpPr>
          <p:cNvPr id="47" name="Shape 45"/>
          <p:cNvSpPr/>
          <p:nvPr/>
        </p:nvSpPr>
        <p:spPr>
          <a:xfrm>
            <a:off x="6163056" y="1984248"/>
            <a:ext cx="73152" cy="73152"/>
          </a:xfrm>
          <a:prstGeom prst="rect">
            <a:avLst/>
          </a:prstGeom>
          <a:solidFill>
            <a:srgbClr val="1F3864"/>
          </a:solidFill>
          <a:ln/>
        </p:spPr>
      </p:sp>
      <p:sp>
        <p:nvSpPr>
          <p:cNvPr id="48" name="Text 46"/>
          <p:cNvSpPr/>
          <p:nvPr/>
        </p:nvSpPr>
        <p:spPr>
          <a:xfrm>
            <a:off x="6272784" y="1911096"/>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3.1 Universalizar Preescolar 70%</a:t>
            </a:r>
            <a:endParaRPr lang="en-US" sz="850" dirty="0"/>
          </a:p>
        </p:txBody>
      </p:sp>
      <p:sp>
        <p:nvSpPr>
          <p:cNvPr id="49" name="Shape 47"/>
          <p:cNvSpPr/>
          <p:nvPr/>
        </p:nvSpPr>
        <p:spPr>
          <a:xfrm>
            <a:off x="6163056" y="2267712"/>
            <a:ext cx="73152" cy="73152"/>
          </a:xfrm>
          <a:prstGeom prst="rect">
            <a:avLst/>
          </a:prstGeom>
          <a:solidFill>
            <a:srgbClr val="1F3864"/>
          </a:solidFill>
          <a:ln/>
        </p:spPr>
      </p:sp>
      <p:sp>
        <p:nvSpPr>
          <p:cNvPr id="50" name="Text 48"/>
          <p:cNvSpPr/>
          <p:nvPr/>
        </p:nvSpPr>
        <p:spPr>
          <a:xfrm>
            <a:off x="6272784" y="2194560"/>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3.2 Reducción Deserción &lt;6%</a:t>
            </a:r>
            <a:endParaRPr lang="en-US" sz="850" dirty="0"/>
          </a:p>
        </p:txBody>
      </p:sp>
      <p:sp>
        <p:nvSpPr>
          <p:cNvPr id="51" name="Shape 49"/>
          <p:cNvSpPr/>
          <p:nvPr/>
        </p:nvSpPr>
        <p:spPr>
          <a:xfrm>
            <a:off x="6163056" y="2551176"/>
            <a:ext cx="73152" cy="73152"/>
          </a:xfrm>
          <a:prstGeom prst="rect">
            <a:avLst/>
          </a:prstGeom>
          <a:solidFill>
            <a:srgbClr val="1F3864"/>
          </a:solidFill>
          <a:ln/>
        </p:spPr>
      </p:sp>
      <p:sp>
        <p:nvSpPr>
          <p:cNvPr id="52" name="Text 50"/>
          <p:cNvSpPr/>
          <p:nvPr/>
        </p:nvSpPr>
        <p:spPr>
          <a:xfrm>
            <a:off x="6272784" y="247802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3.3 Educación Superior al 50%</a:t>
            </a:r>
            <a:endParaRPr lang="en-US" sz="850" dirty="0"/>
          </a:p>
        </p:txBody>
      </p:sp>
      <p:sp>
        <p:nvSpPr>
          <p:cNvPr id="53" name="Shape 51"/>
          <p:cNvSpPr/>
          <p:nvPr/>
        </p:nvSpPr>
        <p:spPr>
          <a:xfrm>
            <a:off x="274320" y="2990088"/>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54" name="Shape 52"/>
          <p:cNvSpPr/>
          <p:nvPr/>
        </p:nvSpPr>
        <p:spPr>
          <a:xfrm>
            <a:off x="274320" y="2990088"/>
            <a:ext cx="2743200" cy="59436"/>
          </a:xfrm>
          <a:prstGeom prst="rect">
            <a:avLst/>
          </a:prstGeom>
          <a:solidFill>
            <a:srgbClr val="9B6B0A"/>
          </a:solidFill>
          <a:ln/>
        </p:spPr>
      </p:sp>
      <p:sp>
        <p:nvSpPr>
          <p:cNvPr id="55" name="Shape 53"/>
          <p:cNvSpPr/>
          <p:nvPr/>
        </p:nvSpPr>
        <p:spPr>
          <a:xfrm>
            <a:off x="274320" y="3063240"/>
            <a:ext cx="658368" cy="475488"/>
          </a:xfrm>
          <a:prstGeom prst="rect">
            <a:avLst/>
          </a:prstGeom>
          <a:solidFill>
            <a:srgbClr val="9B6B0A"/>
          </a:solidFill>
          <a:ln/>
        </p:spPr>
      </p:sp>
      <p:sp>
        <p:nvSpPr>
          <p:cNvPr id="56" name="Text 54"/>
          <p:cNvSpPr/>
          <p:nvPr/>
        </p:nvSpPr>
        <p:spPr>
          <a:xfrm>
            <a:off x="274320" y="3063240"/>
            <a:ext cx="658368"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EJE 4</a:t>
            </a:r>
            <a:endParaRPr lang="en-US" sz="850" dirty="0"/>
          </a:p>
        </p:txBody>
      </p:sp>
      <p:sp>
        <p:nvSpPr>
          <p:cNvPr id="57" name="Text 55"/>
          <p:cNvSpPr/>
          <p:nvPr/>
        </p:nvSpPr>
        <p:spPr>
          <a:xfrm>
            <a:off x="987552" y="3063240"/>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Desarrollo Urbano</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e Infraestructura</a:t>
            </a:r>
            <a:endParaRPr lang="en-US" sz="950" dirty="0"/>
          </a:p>
        </p:txBody>
      </p:sp>
      <p:sp>
        <p:nvSpPr>
          <p:cNvPr id="58" name="Shape 56"/>
          <p:cNvSpPr/>
          <p:nvPr/>
        </p:nvSpPr>
        <p:spPr>
          <a:xfrm>
            <a:off x="347472" y="3584448"/>
            <a:ext cx="2596896" cy="36576"/>
          </a:xfrm>
          <a:prstGeom prst="rect">
            <a:avLst/>
          </a:prstGeom>
          <a:solidFill>
            <a:srgbClr val="E8ECF0"/>
          </a:solidFill>
          <a:ln/>
        </p:spPr>
      </p:sp>
      <p:sp>
        <p:nvSpPr>
          <p:cNvPr id="59" name="Text 57"/>
          <p:cNvSpPr/>
          <p:nvPr/>
        </p:nvSpPr>
        <p:spPr>
          <a:xfrm>
            <a:off x="347472" y="3648456"/>
            <a:ext cx="804672" cy="219456"/>
          </a:xfrm>
          <a:prstGeom prst="rect">
            <a:avLst/>
          </a:prstGeom>
          <a:noFill/>
          <a:ln/>
        </p:spPr>
        <p:txBody>
          <a:bodyPr wrap="square" rtlCol="0" anchor="ctr"/>
          <a:lstStyle/>
          <a:p>
            <a:pPr algn="ctr" indent="0" marL="0">
              <a:buNone/>
            </a:pPr>
            <a:r>
              <a:rPr lang="en-US" sz="1000" b="1" dirty="0">
                <a:solidFill>
                  <a:srgbClr val="9B6B0A"/>
                </a:solidFill>
                <a:latin typeface="Georgia" pitchFamily="34" charset="0"/>
                <a:ea typeface="Georgia" pitchFamily="34" charset="-122"/>
                <a:cs typeface="Georgia" pitchFamily="34" charset="-120"/>
              </a:rPr>
              <a:t>6 OE</a:t>
            </a:r>
            <a:endParaRPr lang="en-US" sz="1000" dirty="0"/>
          </a:p>
        </p:txBody>
      </p:sp>
      <p:sp>
        <p:nvSpPr>
          <p:cNvPr id="60" name="Text 58"/>
          <p:cNvSpPr/>
          <p:nvPr/>
        </p:nvSpPr>
        <p:spPr>
          <a:xfrm>
            <a:off x="1170432" y="3648456"/>
            <a:ext cx="896112" cy="219456"/>
          </a:xfrm>
          <a:prstGeom prst="rect">
            <a:avLst/>
          </a:prstGeom>
          <a:noFill/>
          <a:ln/>
        </p:spPr>
        <p:txBody>
          <a:bodyPr wrap="square" rtlCol="0" anchor="ctr"/>
          <a:lstStyle/>
          <a:p>
            <a:pPr algn="ctr" indent="0" marL="0">
              <a:buNone/>
            </a:pPr>
            <a:r>
              <a:rPr lang="en-US" sz="1000" b="1" dirty="0">
                <a:solidFill>
                  <a:srgbClr val="9B6B0A"/>
                </a:solidFill>
                <a:latin typeface="Georgia" pitchFamily="34" charset="0"/>
                <a:ea typeface="Georgia" pitchFamily="34" charset="-122"/>
                <a:cs typeface="Georgia" pitchFamily="34" charset="-120"/>
              </a:rPr>
              <a:t>53 acc.</a:t>
            </a:r>
            <a:endParaRPr lang="en-US" sz="1000" dirty="0"/>
          </a:p>
        </p:txBody>
      </p:sp>
      <p:sp>
        <p:nvSpPr>
          <p:cNvPr id="61" name="Text 59"/>
          <p:cNvSpPr/>
          <p:nvPr/>
        </p:nvSpPr>
        <p:spPr>
          <a:xfrm>
            <a:off x="2084832" y="3648456"/>
            <a:ext cx="804672" cy="219456"/>
          </a:xfrm>
          <a:prstGeom prst="rect">
            <a:avLst/>
          </a:prstGeom>
          <a:noFill/>
          <a:ln/>
        </p:spPr>
        <p:txBody>
          <a:bodyPr wrap="square" rtlCol="0" anchor="ctr"/>
          <a:lstStyle/>
          <a:p>
            <a:pPr algn="ctr" indent="0" marL="0">
              <a:buNone/>
            </a:pPr>
            <a:r>
              <a:rPr lang="en-US" sz="1000" b="1" dirty="0">
                <a:solidFill>
                  <a:srgbClr val="9B6B0A"/>
                </a:solidFill>
                <a:latin typeface="Georgia" pitchFamily="34" charset="0"/>
                <a:ea typeface="Georgia" pitchFamily="34" charset="-122"/>
                <a:cs typeface="Georgia" pitchFamily="34" charset="-120"/>
              </a:rPr>
              <a:t>23,6%</a:t>
            </a:r>
            <a:endParaRPr lang="en-US" sz="1000" dirty="0"/>
          </a:p>
        </p:txBody>
      </p:sp>
      <p:sp>
        <p:nvSpPr>
          <p:cNvPr id="62" name="Shape 60"/>
          <p:cNvSpPr/>
          <p:nvPr/>
        </p:nvSpPr>
        <p:spPr>
          <a:xfrm>
            <a:off x="402336" y="4014216"/>
            <a:ext cx="73152" cy="73152"/>
          </a:xfrm>
          <a:prstGeom prst="rect">
            <a:avLst/>
          </a:prstGeom>
          <a:solidFill>
            <a:srgbClr val="9B6B0A"/>
          </a:solidFill>
          <a:ln/>
        </p:spPr>
      </p:sp>
      <p:sp>
        <p:nvSpPr>
          <p:cNvPr id="63" name="Text 61"/>
          <p:cNvSpPr/>
          <p:nvPr/>
        </p:nvSpPr>
        <p:spPr>
          <a:xfrm>
            <a:off x="512064" y="394106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4.1 Nuevo Plan Regulador Comunal</a:t>
            </a:r>
            <a:endParaRPr lang="en-US" sz="850" dirty="0"/>
          </a:p>
        </p:txBody>
      </p:sp>
      <p:sp>
        <p:nvSpPr>
          <p:cNvPr id="64" name="Shape 62"/>
          <p:cNvSpPr/>
          <p:nvPr/>
        </p:nvSpPr>
        <p:spPr>
          <a:xfrm>
            <a:off x="402336" y="4297680"/>
            <a:ext cx="73152" cy="73152"/>
          </a:xfrm>
          <a:prstGeom prst="rect">
            <a:avLst/>
          </a:prstGeom>
          <a:solidFill>
            <a:srgbClr val="9B6B0A"/>
          </a:solidFill>
          <a:ln/>
        </p:spPr>
      </p:sp>
      <p:sp>
        <p:nvSpPr>
          <p:cNvPr id="65" name="Text 63"/>
          <p:cNvSpPr/>
          <p:nvPr/>
        </p:nvSpPr>
        <p:spPr>
          <a:xfrm>
            <a:off x="512064" y="4224528"/>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4.2 Regeneración 5 barrios vulnerables</a:t>
            </a:r>
            <a:endParaRPr lang="en-US" sz="850" dirty="0"/>
          </a:p>
        </p:txBody>
      </p:sp>
      <p:sp>
        <p:nvSpPr>
          <p:cNvPr id="66" name="Shape 64"/>
          <p:cNvSpPr/>
          <p:nvPr/>
        </p:nvSpPr>
        <p:spPr>
          <a:xfrm>
            <a:off x="402336" y="4581144"/>
            <a:ext cx="73152" cy="73152"/>
          </a:xfrm>
          <a:prstGeom prst="rect">
            <a:avLst/>
          </a:prstGeom>
          <a:solidFill>
            <a:srgbClr val="9B6B0A"/>
          </a:solidFill>
          <a:ln/>
        </p:spPr>
      </p:sp>
      <p:sp>
        <p:nvSpPr>
          <p:cNvPr id="67" name="Text 65"/>
          <p:cNvSpPr/>
          <p:nvPr/>
        </p:nvSpPr>
        <p:spPr>
          <a:xfrm>
            <a:off x="512064" y="4507992"/>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4.3 Red Ciclovías 15 km</a:t>
            </a:r>
            <a:endParaRPr lang="en-US" sz="850" dirty="0"/>
          </a:p>
        </p:txBody>
      </p:sp>
      <p:sp>
        <p:nvSpPr>
          <p:cNvPr id="68" name="Shape 66"/>
          <p:cNvSpPr/>
          <p:nvPr/>
        </p:nvSpPr>
        <p:spPr>
          <a:xfrm>
            <a:off x="3154680" y="2990088"/>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69" name="Shape 67"/>
          <p:cNvSpPr/>
          <p:nvPr/>
        </p:nvSpPr>
        <p:spPr>
          <a:xfrm>
            <a:off x="3154680" y="2990088"/>
            <a:ext cx="2743200" cy="59436"/>
          </a:xfrm>
          <a:prstGeom prst="rect">
            <a:avLst/>
          </a:prstGeom>
          <a:solidFill>
            <a:srgbClr val="B83232"/>
          </a:solidFill>
          <a:ln/>
        </p:spPr>
      </p:sp>
      <p:sp>
        <p:nvSpPr>
          <p:cNvPr id="70" name="Shape 68"/>
          <p:cNvSpPr/>
          <p:nvPr/>
        </p:nvSpPr>
        <p:spPr>
          <a:xfrm>
            <a:off x="3154680" y="3063240"/>
            <a:ext cx="658368" cy="475488"/>
          </a:xfrm>
          <a:prstGeom prst="rect">
            <a:avLst/>
          </a:prstGeom>
          <a:solidFill>
            <a:srgbClr val="B83232"/>
          </a:solidFill>
          <a:ln/>
        </p:spPr>
      </p:sp>
      <p:sp>
        <p:nvSpPr>
          <p:cNvPr id="71" name="Text 69"/>
          <p:cNvSpPr/>
          <p:nvPr/>
        </p:nvSpPr>
        <p:spPr>
          <a:xfrm>
            <a:off x="3154680" y="3063240"/>
            <a:ext cx="658368"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EJE 5</a:t>
            </a:r>
            <a:endParaRPr lang="en-US" sz="850" dirty="0"/>
          </a:p>
        </p:txBody>
      </p:sp>
      <p:sp>
        <p:nvSpPr>
          <p:cNvPr id="72" name="Text 70"/>
          <p:cNvSpPr/>
          <p:nvPr/>
        </p:nvSpPr>
        <p:spPr>
          <a:xfrm>
            <a:off x="3867912" y="3063240"/>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Seguridad Pública</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y Gestión de Riesgos</a:t>
            </a:r>
            <a:endParaRPr lang="en-US" sz="950" dirty="0"/>
          </a:p>
        </p:txBody>
      </p:sp>
      <p:sp>
        <p:nvSpPr>
          <p:cNvPr id="73" name="Shape 71"/>
          <p:cNvSpPr/>
          <p:nvPr/>
        </p:nvSpPr>
        <p:spPr>
          <a:xfrm>
            <a:off x="3227832" y="3584448"/>
            <a:ext cx="2596896" cy="36576"/>
          </a:xfrm>
          <a:prstGeom prst="rect">
            <a:avLst/>
          </a:prstGeom>
          <a:solidFill>
            <a:srgbClr val="E8ECF0"/>
          </a:solidFill>
          <a:ln/>
        </p:spPr>
      </p:sp>
      <p:sp>
        <p:nvSpPr>
          <p:cNvPr id="74" name="Text 72"/>
          <p:cNvSpPr/>
          <p:nvPr/>
        </p:nvSpPr>
        <p:spPr>
          <a:xfrm>
            <a:off x="3227832" y="3648456"/>
            <a:ext cx="804672" cy="219456"/>
          </a:xfrm>
          <a:prstGeom prst="rect">
            <a:avLst/>
          </a:prstGeom>
          <a:noFill/>
          <a:ln/>
        </p:spPr>
        <p:txBody>
          <a:bodyPr wrap="square" rtlCol="0" anchor="ctr"/>
          <a:lstStyle/>
          <a:p>
            <a:pPr algn="ctr" indent="0" marL="0">
              <a:buNone/>
            </a:pPr>
            <a:r>
              <a:rPr lang="en-US" sz="1000" b="1" dirty="0">
                <a:solidFill>
                  <a:srgbClr val="B83232"/>
                </a:solidFill>
                <a:latin typeface="Georgia" pitchFamily="34" charset="0"/>
                <a:ea typeface="Georgia" pitchFamily="34" charset="-122"/>
                <a:cs typeface="Georgia" pitchFamily="34" charset="-120"/>
              </a:rPr>
              <a:t>5 OE</a:t>
            </a:r>
            <a:endParaRPr lang="en-US" sz="1000" dirty="0"/>
          </a:p>
        </p:txBody>
      </p:sp>
      <p:sp>
        <p:nvSpPr>
          <p:cNvPr id="75" name="Text 73"/>
          <p:cNvSpPr/>
          <p:nvPr/>
        </p:nvSpPr>
        <p:spPr>
          <a:xfrm>
            <a:off x="4050792" y="3648456"/>
            <a:ext cx="896112" cy="219456"/>
          </a:xfrm>
          <a:prstGeom prst="rect">
            <a:avLst/>
          </a:prstGeom>
          <a:noFill/>
          <a:ln/>
        </p:spPr>
        <p:txBody>
          <a:bodyPr wrap="square" rtlCol="0" anchor="ctr"/>
          <a:lstStyle/>
          <a:p>
            <a:pPr algn="ctr" indent="0" marL="0">
              <a:buNone/>
            </a:pPr>
            <a:r>
              <a:rPr lang="en-US" sz="1000" b="1" dirty="0">
                <a:solidFill>
                  <a:srgbClr val="B83232"/>
                </a:solidFill>
                <a:latin typeface="Georgia" pitchFamily="34" charset="0"/>
                <a:ea typeface="Georgia" pitchFamily="34" charset="-122"/>
                <a:cs typeface="Georgia" pitchFamily="34" charset="-120"/>
              </a:rPr>
              <a:t>32 acc.</a:t>
            </a:r>
            <a:endParaRPr lang="en-US" sz="1000" dirty="0"/>
          </a:p>
        </p:txBody>
      </p:sp>
      <p:sp>
        <p:nvSpPr>
          <p:cNvPr id="76" name="Text 74"/>
          <p:cNvSpPr/>
          <p:nvPr/>
        </p:nvSpPr>
        <p:spPr>
          <a:xfrm>
            <a:off x="4965192" y="3648456"/>
            <a:ext cx="804672" cy="219456"/>
          </a:xfrm>
          <a:prstGeom prst="rect">
            <a:avLst/>
          </a:prstGeom>
          <a:noFill/>
          <a:ln/>
        </p:spPr>
        <p:txBody>
          <a:bodyPr wrap="square" rtlCol="0" anchor="ctr"/>
          <a:lstStyle/>
          <a:p>
            <a:pPr algn="ctr" indent="0" marL="0">
              <a:buNone/>
            </a:pPr>
            <a:r>
              <a:rPr lang="en-US" sz="1000" b="1" dirty="0">
                <a:solidFill>
                  <a:srgbClr val="B83232"/>
                </a:solidFill>
                <a:latin typeface="Georgia" pitchFamily="34" charset="0"/>
                <a:ea typeface="Georgia" pitchFamily="34" charset="-122"/>
                <a:cs typeface="Georgia" pitchFamily="34" charset="-120"/>
              </a:rPr>
              <a:t>14,2%</a:t>
            </a:r>
            <a:endParaRPr lang="en-US" sz="1000" dirty="0"/>
          </a:p>
        </p:txBody>
      </p:sp>
      <p:sp>
        <p:nvSpPr>
          <p:cNvPr id="77" name="Shape 75"/>
          <p:cNvSpPr/>
          <p:nvPr/>
        </p:nvSpPr>
        <p:spPr>
          <a:xfrm>
            <a:off x="3282696" y="4014216"/>
            <a:ext cx="73152" cy="73152"/>
          </a:xfrm>
          <a:prstGeom prst="rect">
            <a:avLst/>
          </a:prstGeom>
          <a:solidFill>
            <a:srgbClr val="B83232"/>
          </a:solidFill>
          <a:ln/>
        </p:spPr>
      </p:sp>
      <p:sp>
        <p:nvSpPr>
          <p:cNvPr id="78" name="Text 76"/>
          <p:cNvSpPr/>
          <p:nvPr/>
        </p:nvSpPr>
        <p:spPr>
          <a:xfrm>
            <a:off x="3392424" y="394106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5.1 NNA inseguros &lt;25%</a:t>
            </a:r>
            <a:endParaRPr lang="en-US" sz="850" dirty="0"/>
          </a:p>
        </p:txBody>
      </p:sp>
      <p:sp>
        <p:nvSpPr>
          <p:cNvPr id="79" name="Shape 77"/>
          <p:cNvSpPr/>
          <p:nvPr/>
        </p:nvSpPr>
        <p:spPr>
          <a:xfrm>
            <a:off x="3282696" y="4297680"/>
            <a:ext cx="73152" cy="73152"/>
          </a:xfrm>
          <a:prstGeom prst="rect">
            <a:avLst/>
          </a:prstGeom>
          <a:solidFill>
            <a:srgbClr val="B83232"/>
          </a:solidFill>
          <a:ln/>
        </p:spPr>
      </p:sp>
      <p:sp>
        <p:nvSpPr>
          <p:cNvPr id="80" name="Text 78"/>
          <p:cNvSpPr/>
          <p:nvPr/>
        </p:nvSpPr>
        <p:spPr>
          <a:xfrm>
            <a:off x="3392424" y="4224528"/>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5.2 VIF Mujer &lt;200 casos</a:t>
            </a:r>
            <a:endParaRPr lang="en-US" sz="850" dirty="0"/>
          </a:p>
        </p:txBody>
      </p:sp>
      <p:sp>
        <p:nvSpPr>
          <p:cNvPr id="81" name="Shape 79"/>
          <p:cNvSpPr/>
          <p:nvPr/>
        </p:nvSpPr>
        <p:spPr>
          <a:xfrm>
            <a:off x="3282696" y="4581144"/>
            <a:ext cx="73152" cy="73152"/>
          </a:xfrm>
          <a:prstGeom prst="rect">
            <a:avLst/>
          </a:prstGeom>
          <a:solidFill>
            <a:srgbClr val="B83232"/>
          </a:solidFill>
          <a:ln/>
        </p:spPr>
      </p:sp>
      <p:sp>
        <p:nvSpPr>
          <p:cNvPr id="82" name="Text 80"/>
          <p:cNvSpPr/>
          <p:nvPr/>
        </p:nvSpPr>
        <p:spPr>
          <a:xfrm>
            <a:off x="3392424" y="4507992"/>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5.5 Plan Riesgo Desastres</a:t>
            </a:r>
            <a:endParaRPr lang="en-US" sz="850" dirty="0"/>
          </a:p>
        </p:txBody>
      </p:sp>
      <p:sp>
        <p:nvSpPr>
          <p:cNvPr id="83" name="Shape 81"/>
          <p:cNvSpPr/>
          <p:nvPr/>
        </p:nvSpPr>
        <p:spPr>
          <a:xfrm>
            <a:off x="6035040" y="2990088"/>
            <a:ext cx="2743200" cy="18745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84" name="Shape 82"/>
          <p:cNvSpPr/>
          <p:nvPr/>
        </p:nvSpPr>
        <p:spPr>
          <a:xfrm>
            <a:off x="6035040" y="2990088"/>
            <a:ext cx="2743200" cy="59436"/>
          </a:xfrm>
          <a:prstGeom prst="rect">
            <a:avLst/>
          </a:prstGeom>
          <a:solidFill>
            <a:srgbClr val="C9A84C"/>
          </a:solidFill>
          <a:ln/>
        </p:spPr>
      </p:sp>
      <p:sp>
        <p:nvSpPr>
          <p:cNvPr id="85" name="Shape 83"/>
          <p:cNvSpPr/>
          <p:nvPr/>
        </p:nvSpPr>
        <p:spPr>
          <a:xfrm>
            <a:off x="6035040" y="3063240"/>
            <a:ext cx="658368" cy="475488"/>
          </a:xfrm>
          <a:prstGeom prst="rect">
            <a:avLst/>
          </a:prstGeom>
          <a:solidFill>
            <a:srgbClr val="C9A84C"/>
          </a:solidFill>
          <a:ln/>
        </p:spPr>
      </p:sp>
      <p:sp>
        <p:nvSpPr>
          <p:cNvPr id="86" name="Text 84"/>
          <p:cNvSpPr/>
          <p:nvPr/>
        </p:nvSpPr>
        <p:spPr>
          <a:xfrm>
            <a:off x="6035040" y="3063240"/>
            <a:ext cx="658368" cy="475488"/>
          </a:xfrm>
          <a:prstGeom prst="rect">
            <a:avLst/>
          </a:prstGeom>
          <a:noFill/>
          <a:ln/>
        </p:spPr>
        <p:txBody>
          <a:bodyPr wrap="square" rtlCol="0" anchor="ctr"/>
          <a:lstStyle/>
          <a:p>
            <a:pPr algn="ctr" indent="0" marL="0">
              <a:buNone/>
            </a:pPr>
            <a:r>
              <a:rPr lang="en-US" sz="850" b="1" dirty="0">
                <a:solidFill>
                  <a:srgbClr val="2C3E50"/>
                </a:solidFill>
                <a:latin typeface="Calibri" pitchFamily="34" charset="0"/>
                <a:ea typeface="Calibri" pitchFamily="34" charset="-122"/>
                <a:cs typeface="Calibri" pitchFamily="34" charset="-120"/>
              </a:rPr>
              <a:t>EJE 6</a:t>
            </a:r>
            <a:endParaRPr lang="en-US" sz="850" dirty="0"/>
          </a:p>
        </p:txBody>
      </p:sp>
      <p:sp>
        <p:nvSpPr>
          <p:cNvPr id="87" name="Text 85"/>
          <p:cNvSpPr/>
          <p:nvPr/>
        </p:nvSpPr>
        <p:spPr>
          <a:xfrm>
            <a:off x="6748272" y="3063240"/>
            <a:ext cx="1984248" cy="475488"/>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Innovación y</a:t>
            </a:r>
            <a:endParaRPr lang="en-US" sz="950" dirty="0"/>
          </a:p>
          <a:p>
            <a:pPr indent="0" marL="0">
              <a:buNone/>
            </a:pPr>
            <a:r>
              <a:rPr lang="en-US" sz="950" b="1" dirty="0">
                <a:solidFill>
                  <a:srgbClr val="1F3864"/>
                </a:solidFill>
                <a:latin typeface="Georgia" pitchFamily="34" charset="0"/>
                <a:ea typeface="Georgia" pitchFamily="34" charset="-122"/>
                <a:cs typeface="Georgia" pitchFamily="34" charset="-120"/>
              </a:rPr>
              <a:t>Modernización Municipal</a:t>
            </a:r>
            <a:endParaRPr lang="en-US" sz="950" dirty="0"/>
          </a:p>
        </p:txBody>
      </p:sp>
      <p:sp>
        <p:nvSpPr>
          <p:cNvPr id="88" name="Shape 86"/>
          <p:cNvSpPr/>
          <p:nvPr/>
        </p:nvSpPr>
        <p:spPr>
          <a:xfrm>
            <a:off x="6108192" y="3584448"/>
            <a:ext cx="2596896" cy="36576"/>
          </a:xfrm>
          <a:prstGeom prst="rect">
            <a:avLst/>
          </a:prstGeom>
          <a:solidFill>
            <a:srgbClr val="E8ECF0"/>
          </a:solidFill>
          <a:ln/>
        </p:spPr>
      </p:sp>
      <p:sp>
        <p:nvSpPr>
          <p:cNvPr id="89" name="Text 87"/>
          <p:cNvSpPr/>
          <p:nvPr/>
        </p:nvSpPr>
        <p:spPr>
          <a:xfrm>
            <a:off x="6108192" y="3648456"/>
            <a:ext cx="804672" cy="219456"/>
          </a:xfrm>
          <a:prstGeom prst="rect">
            <a:avLst/>
          </a:prstGeom>
          <a:noFill/>
          <a:ln/>
        </p:spPr>
        <p:txBody>
          <a:bodyPr wrap="square" rtlCol="0" anchor="ctr"/>
          <a:lstStyle/>
          <a:p>
            <a:pPr algn="ctr" indent="0" marL="0">
              <a:buNone/>
            </a:pPr>
            <a:r>
              <a:rPr lang="en-US" sz="1000" b="1" dirty="0">
                <a:solidFill>
                  <a:srgbClr val="C9A84C"/>
                </a:solidFill>
                <a:latin typeface="Georgia" pitchFamily="34" charset="0"/>
                <a:ea typeface="Georgia" pitchFamily="34" charset="-122"/>
                <a:cs typeface="Georgia" pitchFamily="34" charset="-120"/>
              </a:rPr>
              <a:t>6 OE</a:t>
            </a:r>
            <a:endParaRPr lang="en-US" sz="1000" dirty="0"/>
          </a:p>
        </p:txBody>
      </p:sp>
      <p:sp>
        <p:nvSpPr>
          <p:cNvPr id="90" name="Text 88"/>
          <p:cNvSpPr/>
          <p:nvPr/>
        </p:nvSpPr>
        <p:spPr>
          <a:xfrm>
            <a:off x="6931152" y="3648456"/>
            <a:ext cx="896112" cy="219456"/>
          </a:xfrm>
          <a:prstGeom prst="rect">
            <a:avLst/>
          </a:prstGeom>
          <a:noFill/>
          <a:ln/>
        </p:spPr>
        <p:txBody>
          <a:bodyPr wrap="square" rtlCol="0" anchor="ctr"/>
          <a:lstStyle/>
          <a:p>
            <a:pPr algn="ctr" indent="0" marL="0">
              <a:buNone/>
            </a:pPr>
            <a:r>
              <a:rPr lang="en-US" sz="1000" b="1" dirty="0">
                <a:solidFill>
                  <a:srgbClr val="C9A84C"/>
                </a:solidFill>
                <a:latin typeface="Georgia" pitchFamily="34" charset="0"/>
                <a:ea typeface="Georgia" pitchFamily="34" charset="-122"/>
                <a:cs typeface="Georgia" pitchFamily="34" charset="-120"/>
              </a:rPr>
              <a:t>50 acc.</a:t>
            </a:r>
            <a:endParaRPr lang="en-US" sz="1000" dirty="0"/>
          </a:p>
        </p:txBody>
      </p:sp>
      <p:sp>
        <p:nvSpPr>
          <p:cNvPr id="91" name="Text 89"/>
          <p:cNvSpPr/>
          <p:nvPr/>
        </p:nvSpPr>
        <p:spPr>
          <a:xfrm>
            <a:off x="7845552" y="3648456"/>
            <a:ext cx="804672" cy="219456"/>
          </a:xfrm>
          <a:prstGeom prst="rect">
            <a:avLst/>
          </a:prstGeom>
          <a:noFill/>
          <a:ln/>
        </p:spPr>
        <p:txBody>
          <a:bodyPr wrap="square" rtlCol="0" anchor="ctr"/>
          <a:lstStyle/>
          <a:p>
            <a:pPr algn="ctr" indent="0" marL="0">
              <a:buNone/>
            </a:pPr>
            <a:r>
              <a:rPr lang="en-US" sz="1000" b="1" dirty="0">
                <a:solidFill>
                  <a:srgbClr val="C9A84C"/>
                </a:solidFill>
                <a:latin typeface="Georgia" pitchFamily="34" charset="0"/>
                <a:ea typeface="Georgia" pitchFamily="34" charset="-122"/>
                <a:cs typeface="Georgia" pitchFamily="34" charset="-120"/>
              </a:rPr>
              <a:t>22,2%</a:t>
            </a:r>
            <a:endParaRPr lang="en-US" sz="1000" dirty="0"/>
          </a:p>
        </p:txBody>
      </p:sp>
      <p:sp>
        <p:nvSpPr>
          <p:cNvPr id="92" name="Shape 90"/>
          <p:cNvSpPr/>
          <p:nvPr/>
        </p:nvSpPr>
        <p:spPr>
          <a:xfrm>
            <a:off x="6163056" y="4014216"/>
            <a:ext cx="73152" cy="73152"/>
          </a:xfrm>
          <a:prstGeom prst="rect">
            <a:avLst/>
          </a:prstGeom>
          <a:solidFill>
            <a:srgbClr val="C9A84C"/>
          </a:solidFill>
          <a:ln/>
        </p:spPr>
      </p:sp>
      <p:sp>
        <p:nvSpPr>
          <p:cNvPr id="93" name="Text 91"/>
          <p:cNvSpPr/>
          <p:nvPr/>
        </p:nvSpPr>
        <p:spPr>
          <a:xfrm>
            <a:off x="6272784" y="3941064"/>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6.1 Unidad M&amp;E PLADECO</a:t>
            </a:r>
            <a:endParaRPr lang="en-US" sz="850" dirty="0"/>
          </a:p>
        </p:txBody>
      </p:sp>
      <p:sp>
        <p:nvSpPr>
          <p:cNvPr id="94" name="Shape 92"/>
          <p:cNvSpPr/>
          <p:nvPr/>
        </p:nvSpPr>
        <p:spPr>
          <a:xfrm>
            <a:off x="6163056" y="4297680"/>
            <a:ext cx="73152" cy="73152"/>
          </a:xfrm>
          <a:prstGeom prst="rect">
            <a:avLst/>
          </a:prstGeom>
          <a:solidFill>
            <a:srgbClr val="C9A84C"/>
          </a:solidFill>
          <a:ln/>
        </p:spPr>
      </p:sp>
      <p:sp>
        <p:nvSpPr>
          <p:cNvPr id="95" name="Text 93"/>
          <p:cNvSpPr/>
          <p:nvPr/>
        </p:nvSpPr>
        <p:spPr>
          <a:xfrm>
            <a:off x="6272784" y="4224528"/>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6.3 Sistema ERP Municipal</a:t>
            </a:r>
            <a:endParaRPr lang="en-US" sz="850" dirty="0"/>
          </a:p>
        </p:txBody>
      </p:sp>
      <p:sp>
        <p:nvSpPr>
          <p:cNvPr id="96" name="Shape 94"/>
          <p:cNvSpPr/>
          <p:nvPr/>
        </p:nvSpPr>
        <p:spPr>
          <a:xfrm>
            <a:off x="6163056" y="4581144"/>
            <a:ext cx="73152" cy="73152"/>
          </a:xfrm>
          <a:prstGeom prst="rect">
            <a:avLst/>
          </a:prstGeom>
          <a:solidFill>
            <a:srgbClr val="C9A84C"/>
          </a:solidFill>
          <a:ln/>
        </p:spPr>
      </p:sp>
      <p:sp>
        <p:nvSpPr>
          <p:cNvPr id="97" name="Text 95"/>
          <p:cNvSpPr/>
          <p:nvPr/>
        </p:nvSpPr>
        <p:spPr>
          <a:xfrm>
            <a:off x="6272784" y="4507992"/>
            <a:ext cx="2395728" cy="26517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OE 6.6 Rendición Cuentas Semestral</a:t>
            </a:r>
            <a:endParaRPr lang="en-US" sz="850" dirty="0"/>
          </a:p>
        </p:txBody>
      </p:sp>
      <p:sp>
        <p:nvSpPr>
          <p:cNvPr id="98" name="Shape 96"/>
          <p:cNvSpPr/>
          <p:nvPr/>
        </p:nvSpPr>
        <p:spPr>
          <a:xfrm>
            <a:off x="274320" y="4809744"/>
            <a:ext cx="8595360" cy="256032"/>
          </a:xfrm>
          <a:prstGeom prst="rect">
            <a:avLst/>
          </a:prstGeom>
          <a:solidFill>
            <a:srgbClr val="1F3864"/>
          </a:solidFill>
          <a:ln/>
        </p:spPr>
      </p:sp>
      <p:sp>
        <p:nvSpPr>
          <p:cNvPr id="99" name="Text 97"/>
          <p:cNvSpPr/>
          <p:nvPr/>
        </p:nvSpPr>
        <p:spPr>
          <a:xfrm>
            <a:off x="457200" y="4809744"/>
            <a:ext cx="2011680" cy="256032"/>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TOTAL PLADECO 2025–2035:</a:t>
            </a:r>
            <a:endParaRPr lang="en-US" sz="900" dirty="0"/>
          </a:p>
        </p:txBody>
      </p:sp>
      <p:sp>
        <p:nvSpPr>
          <p:cNvPr id="100" name="Text 98"/>
          <p:cNvSpPr/>
          <p:nvPr/>
        </p:nvSpPr>
        <p:spPr>
          <a:xfrm>
            <a:off x="2514600" y="4809744"/>
            <a:ext cx="621792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6 Ejes Estratégicos  ·  32 Objetivos Estratégicos  ·  225 Acciones articuladas  ·  93 acciones PLADECO  +  159 Programa de Gobierno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Shape 1"/>
          <p:cNvSpPr/>
          <p:nvPr/>
        </p:nvSpPr>
        <p:spPr>
          <a:xfrm>
            <a:off x="0" y="5079492"/>
            <a:ext cx="9144000" cy="64008"/>
          </a:xfrm>
          <a:prstGeom prst="rect">
            <a:avLst/>
          </a:prstGeom>
          <a:solidFill>
            <a:srgbClr val="C9A84C"/>
          </a:solidFill>
          <a:ln/>
        </p:spPr>
      </p:sp>
      <p:sp>
        <p:nvSpPr>
          <p:cNvPr id="4" name="Text 2"/>
          <p:cNvSpPr/>
          <p:nvPr/>
        </p:nvSpPr>
        <p:spPr>
          <a:xfrm>
            <a:off x="457200" y="164592"/>
            <a:ext cx="822960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El PLADECO es la ventana que no se repite</a:t>
            </a:r>
            <a:endParaRPr lang="en-US" sz="2200" dirty="0"/>
          </a:p>
        </p:txBody>
      </p:sp>
      <p:sp>
        <p:nvSpPr>
          <p:cNvPr id="5" name="Text 3"/>
          <p:cNvSpPr/>
          <p:nvPr/>
        </p:nvSpPr>
        <p:spPr>
          <a:xfrm>
            <a:off x="457200" y="685800"/>
            <a:ext cx="8229600" cy="274320"/>
          </a:xfrm>
          <a:prstGeom prst="rect">
            <a:avLst/>
          </a:prstGeom>
          <a:noFill/>
          <a:ln/>
        </p:spPr>
        <p:txBody>
          <a:bodyPr wrap="square" rtlCol="0" anchor="ctr"/>
          <a:lstStyle/>
          <a:p>
            <a:pPr indent="0" marL="0">
              <a:buNone/>
            </a:pPr>
            <a:r>
              <a:rPr lang="en-US" sz="1050" i="1" dirty="0">
                <a:solidFill>
                  <a:srgbClr val="C9A84C"/>
                </a:solidFill>
                <a:latin typeface="Calibri" pitchFamily="34" charset="0"/>
                <a:ea typeface="Calibri" pitchFamily="34" charset="-122"/>
                <a:cs typeface="Calibri" pitchFamily="34" charset="-120"/>
              </a:rPr>
              <a:t>Cuatro factores convergen en 2025–2026. No volverán a converger antes de 2035.</a:t>
            </a:r>
            <a:endParaRPr lang="en-US" sz="1050" dirty="0"/>
          </a:p>
        </p:txBody>
      </p:sp>
      <p:sp>
        <p:nvSpPr>
          <p:cNvPr id="6" name="Shape 4"/>
          <p:cNvSpPr/>
          <p:nvPr/>
        </p:nvSpPr>
        <p:spPr>
          <a:xfrm>
            <a:off x="347472" y="1078992"/>
            <a:ext cx="201168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7" name="Shape 5"/>
          <p:cNvSpPr/>
          <p:nvPr/>
        </p:nvSpPr>
        <p:spPr>
          <a:xfrm>
            <a:off x="347472" y="1078992"/>
            <a:ext cx="2011680" cy="384048"/>
          </a:xfrm>
          <a:prstGeom prst="rect">
            <a:avLst/>
          </a:prstGeom>
          <a:solidFill>
            <a:srgbClr val="0A6B65"/>
          </a:solidFill>
          <a:ln/>
        </p:spPr>
      </p:sp>
      <p:sp>
        <p:nvSpPr>
          <p:cNvPr id="8" name="Text 6"/>
          <p:cNvSpPr/>
          <p:nvPr/>
        </p:nvSpPr>
        <p:spPr>
          <a:xfrm>
            <a:off x="347472" y="1078992"/>
            <a:ext cx="201168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NORMATIVA</a:t>
            </a:r>
            <a:endParaRPr lang="en-US" sz="950" dirty="0"/>
          </a:p>
        </p:txBody>
      </p:sp>
      <p:sp>
        <p:nvSpPr>
          <p:cNvPr id="9" name="Text 7"/>
          <p:cNvSpPr/>
          <p:nvPr/>
        </p:nvSpPr>
        <p:spPr>
          <a:xfrm>
            <a:off x="438912" y="1536192"/>
            <a:ext cx="1828800" cy="214884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Ley 21.807 exige articular PLADECO + PRC + PACCC. El mandato legal convierte la integración en obligación. Rengo cumple el requisito del PACCC —ninguna otra comuna de la Provincia puede decir lo mismo hoy.</a:t>
            </a:r>
            <a:endParaRPr lang="en-US" sz="980" dirty="0"/>
          </a:p>
        </p:txBody>
      </p:sp>
      <p:sp>
        <p:nvSpPr>
          <p:cNvPr id="10" name="Shape 8"/>
          <p:cNvSpPr/>
          <p:nvPr/>
        </p:nvSpPr>
        <p:spPr>
          <a:xfrm>
            <a:off x="2523744" y="1078992"/>
            <a:ext cx="201168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1" name="Shape 9"/>
          <p:cNvSpPr/>
          <p:nvPr/>
        </p:nvSpPr>
        <p:spPr>
          <a:xfrm>
            <a:off x="2523744" y="1078992"/>
            <a:ext cx="2011680" cy="384048"/>
          </a:xfrm>
          <a:prstGeom prst="rect">
            <a:avLst/>
          </a:prstGeom>
          <a:solidFill>
            <a:srgbClr val="1A6B42"/>
          </a:solidFill>
          <a:ln/>
        </p:spPr>
      </p:sp>
      <p:sp>
        <p:nvSpPr>
          <p:cNvPr id="12" name="Text 10"/>
          <p:cNvSpPr/>
          <p:nvPr/>
        </p:nvSpPr>
        <p:spPr>
          <a:xfrm>
            <a:off x="2523744" y="1078992"/>
            <a:ext cx="201168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FINANCIERA</a:t>
            </a:r>
            <a:endParaRPr lang="en-US" sz="950" dirty="0"/>
          </a:p>
        </p:txBody>
      </p:sp>
      <p:sp>
        <p:nvSpPr>
          <p:cNvPr id="13" name="Text 11"/>
          <p:cNvSpPr/>
          <p:nvPr/>
        </p:nvSpPr>
        <p:spPr>
          <a:xfrm>
            <a:off x="2615184" y="1536192"/>
            <a:ext cx="1828800" cy="214884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ERD prioriza a Rengo con 13 articulaciones de alto nivel. ~$1.200M anuales no captados. FNDR, fondos BID y fondos climáticos internacionales accesibles para municipios con instrumentos articulados.</a:t>
            </a:r>
            <a:endParaRPr lang="en-US" sz="980" dirty="0"/>
          </a:p>
        </p:txBody>
      </p:sp>
      <p:sp>
        <p:nvSpPr>
          <p:cNvPr id="14" name="Shape 12"/>
          <p:cNvSpPr/>
          <p:nvPr/>
        </p:nvSpPr>
        <p:spPr>
          <a:xfrm>
            <a:off x="4700016" y="1078992"/>
            <a:ext cx="201168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4700016" y="1078992"/>
            <a:ext cx="2011680" cy="384048"/>
          </a:xfrm>
          <a:prstGeom prst="rect">
            <a:avLst/>
          </a:prstGeom>
          <a:solidFill>
            <a:srgbClr val="9B6B0A"/>
          </a:solidFill>
          <a:ln/>
        </p:spPr>
      </p:sp>
      <p:sp>
        <p:nvSpPr>
          <p:cNvPr id="16" name="Text 14"/>
          <p:cNvSpPr/>
          <p:nvPr/>
        </p:nvSpPr>
        <p:spPr>
          <a:xfrm>
            <a:off x="4700016" y="1078992"/>
            <a:ext cx="201168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PARTICIPATIVA</a:t>
            </a:r>
            <a:endParaRPr lang="en-US" sz="950" dirty="0"/>
          </a:p>
        </p:txBody>
      </p:sp>
      <p:sp>
        <p:nvSpPr>
          <p:cNvPr id="17" name="Text 15"/>
          <p:cNvSpPr/>
          <p:nvPr/>
        </p:nvSpPr>
        <p:spPr>
          <a:xfrm>
            <a:off x="4791456" y="1536192"/>
            <a:ext cx="1828800" cy="214884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Diagnóstico más amplio de la historia comunal: +300 personas, 77 juntas de vecinos, 40 entrevistas. Legitimidad que tardó años construirse y puede debilitarse si no se actúa sobre sus resultados.</a:t>
            </a:r>
            <a:endParaRPr lang="en-US" sz="980" dirty="0"/>
          </a:p>
        </p:txBody>
      </p:sp>
      <p:sp>
        <p:nvSpPr>
          <p:cNvPr id="18" name="Shape 16"/>
          <p:cNvSpPr/>
          <p:nvPr/>
        </p:nvSpPr>
        <p:spPr>
          <a:xfrm>
            <a:off x="6876288" y="1078992"/>
            <a:ext cx="201168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9" name="Shape 17"/>
          <p:cNvSpPr/>
          <p:nvPr/>
        </p:nvSpPr>
        <p:spPr>
          <a:xfrm>
            <a:off x="6876288" y="1078992"/>
            <a:ext cx="2011680" cy="384048"/>
          </a:xfrm>
          <a:prstGeom prst="rect">
            <a:avLst/>
          </a:prstGeom>
          <a:solidFill>
            <a:srgbClr val="B83232"/>
          </a:solidFill>
          <a:ln/>
        </p:spPr>
      </p:sp>
      <p:sp>
        <p:nvSpPr>
          <p:cNvPr id="20" name="Text 18"/>
          <p:cNvSpPr/>
          <p:nvPr/>
        </p:nvSpPr>
        <p:spPr>
          <a:xfrm>
            <a:off x="6876288" y="1078992"/>
            <a:ext cx="201168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POLÍTICA</a:t>
            </a:r>
            <a:endParaRPr lang="en-US" sz="950" dirty="0"/>
          </a:p>
        </p:txBody>
      </p:sp>
      <p:sp>
        <p:nvSpPr>
          <p:cNvPr id="21" name="Text 19"/>
          <p:cNvSpPr/>
          <p:nvPr/>
        </p:nvSpPr>
        <p:spPr>
          <a:xfrm>
            <a:off x="6967728" y="1536192"/>
            <a:ext cx="1828800" cy="214884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Inicio de ciclo de gestión. Máxima credibilidad institucional para impulsar reformas de arquitectura que en períodos consolidados encuentran resistencia burocrática y generan desgaste político.</a:t>
            </a:r>
            <a:endParaRPr lang="en-US" sz="980" dirty="0"/>
          </a:p>
        </p:txBody>
      </p:sp>
      <p:sp>
        <p:nvSpPr>
          <p:cNvPr id="22" name="Shape 20"/>
          <p:cNvSpPr/>
          <p:nvPr/>
        </p:nvSpPr>
        <p:spPr>
          <a:xfrm>
            <a:off x="347472" y="3913632"/>
            <a:ext cx="8449056" cy="978408"/>
          </a:xfrm>
          <a:prstGeom prst="rect">
            <a:avLst/>
          </a:prstGeom>
          <a:solidFill>
            <a:srgbClr val="C9A84C"/>
          </a:solidFill>
          <a:ln/>
        </p:spPr>
      </p:sp>
      <p:sp>
        <p:nvSpPr>
          <p:cNvPr id="23" name="Text 21"/>
          <p:cNvSpPr/>
          <p:nvPr/>
        </p:nvSpPr>
        <p:spPr>
          <a:xfrm>
            <a:off x="530352" y="4005072"/>
            <a:ext cx="8083296" cy="795528"/>
          </a:xfrm>
          <a:prstGeom prst="rect">
            <a:avLst/>
          </a:prstGeom>
          <a:noFill/>
          <a:ln/>
        </p:spPr>
        <p:txBody>
          <a:bodyPr wrap="square" lIns="508" tIns="508" rIns="508" bIns="508" rtlCol="0" anchor="ctr"/>
          <a:lstStyle/>
          <a:p>
            <a:pPr algn="ctr" indent="0" marL="0">
              <a:buNone/>
            </a:pPr>
            <a:r>
              <a:rPr lang="en-US" sz="1150" i="1" dirty="0">
                <a:solidFill>
                  <a:srgbClr val="1F3864"/>
                </a:solidFill>
                <a:latin typeface="Calibri" pitchFamily="34" charset="0"/>
                <a:ea typeface="Calibri" pitchFamily="34" charset="-122"/>
                <a:cs typeface="Calibri" pitchFamily="34" charset="-120"/>
              </a:rPr>
              <a:t>Estos cuatro factores convergen en 2025–2026. No convergirán de nuevo antes de 2035. Planificar sin aprovecharlos no es prudencia: es una oportunidad desperdiciada con consecuencias que se medirán en la próxima generación de renguinos.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Diagnóstico FODA — 80 elementos con evidencia</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12 fuentes oficiales · +300 personas · proceso participativo más amplio de la historia comunal de Rengo</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4160520" cy="59436"/>
          </a:xfrm>
          <a:prstGeom prst="rect">
            <a:avLst/>
          </a:prstGeom>
          <a:solidFill>
            <a:srgbClr val="1A6B42"/>
          </a:solidFill>
          <a:ln/>
        </p:spPr>
      </p:sp>
      <p:sp>
        <p:nvSpPr>
          <p:cNvPr id="10" name="Shape 8"/>
          <p:cNvSpPr/>
          <p:nvPr/>
        </p:nvSpPr>
        <p:spPr>
          <a:xfrm>
            <a:off x="274320" y="960120"/>
            <a:ext cx="4160520" cy="365760"/>
          </a:xfrm>
          <a:prstGeom prst="rect">
            <a:avLst/>
          </a:prstGeom>
          <a:solidFill>
            <a:srgbClr val="1A6B42"/>
          </a:solidFill>
          <a:ln/>
          <a:effectLst>
            <a:outerShdw sx="100000" sy="100000" kx="0" ky="0" algn="bl" rotWithShape="0" blurRad="88900" dist="38100" dir="8100000">
              <a:srgbClr val="000000">
                <a:alpha val="10000"/>
              </a:srgbClr>
            </a:outerShdw>
          </a:effectLst>
        </p:spPr>
      </p:sp>
      <p:sp>
        <p:nvSpPr>
          <p:cNvPr id="11" name="Text 9"/>
          <p:cNvSpPr/>
          <p:nvPr/>
        </p:nvSpPr>
        <p:spPr>
          <a:xfrm>
            <a:off x="274320" y="960120"/>
            <a:ext cx="416052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FORTALEZAS</a:t>
            </a:r>
            <a:endParaRPr lang="en-US" sz="900" dirty="0"/>
          </a:p>
        </p:txBody>
      </p:sp>
      <p:sp>
        <p:nvSpPr>
          <p:cNvPr id="12" name="Text 10"/>
          <p:cNvSpPr/>
          <p:nvPr/>
        </p:nvSpPr>
        <p:spPr>
          <a:xfrm>
            <a:off x="411480" y="1399032"/>
            <a:ext cx="3886200" cy="274320"/>
          </a:xfrm>
          <a:prstGeom prst="rect">
            <a:avLst/>
          </a:prstGeom>
          <a:noFill/>
          <a:ln/>
        </p:spPr>
        <p:txBody>
          <a:bodyPr wrap="square" rtlCol="0" anchor="ctr"/>
          <a:lstStyle/>
          <a:p>
            <a:pPr indent="0" marL="0">
              <a:buNone/>
            </a:pPr>
            <a:r>
              <a:rPr lang="en-US" sz="1300" b="1" dirty="0">
                <a:solidFill>
                  <a:srgbClr val="1A6B42"/>
                </a:solidFill>
                <a:latin typeface="Georgia" pitchFamily="34" charset="0"/>
                <a:ea typeface="Georgia" pitchFamily="34" charset="-122"/>
                <a:cs typeface="Georgia" pitchFamily="34" charset="-120"/>
              </a:rPr>
              <a:t>20 elementos</a:t>
            </a:r>
            <a:endParaRPr lang="en-US" sz="1300" dirty="0"/>
          </a:p>
        </p:txBody>
      </p:sp>
      <p:sp>
        <p:nvSpPr>
          <p:cNvPr id="13" name="Text 11"/>
          <p:cNvSpPr/>
          <p:nvPr/>
        </p:nvSpPr>
        <p:spPr>
          <a:xfrm>
            <a:off x="411480" y="1691640"/>
            <a:ext cx="3886200" cy="86868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Activos institucionales, financieros y ambientales verificables. Base empresarial provincial (4.829 empresas), patrimonio saneado (+744%), transparencia líder regional (97,89%), PACCC único de Cachapoal. 12 instrumentos de gestión aprobados.</a:t>
            </a:r>
            <a:endParaRPr lang="en-US" sz="980" dirty="0"/>
          </a:p>
        </p:txBody>
      </p:sp>
      <p:sp>
        <p:nvSpPr>
          <p:cNvPr id="14" name="Shape 12"/>
          <p:cNvSpPr/>
          <p:nvPr/>
        </p:nvSpPr>
        <p:spPr>
          <a:xfrm>
            <a:off x="4709160" y="960120"/>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4709160" y="960120"/>
            <a:ext cx="4160520" cy="59436"/>
          </a:xfrm>
          <a:prstGeom prst="rect">
            <a:avLst/>
          </a:prstGeom>
          <a:solidFill>
            <a:srgbClr val="0A6B65"/>
          </a:solidFill>
          <a:ln/>
        </p:spPr>
      </p:sp>
      <p:sp>
        <p:nvSpPr>
          <p:cNvPr id="16" name="Shape 14"/>
          <p:cNvSpPr/>
          <p:nvPr/>
        </p:nvSpPr>
        <p:spPr>
          <a:xfrm>
            <a:off x="4709160" y="960120"/>
            <a:ext cx="4160520" cy="365760"/>
          </a:xfrm>
          <a:prstGeom prst="rect">
            <a:avLst/>
          </a:prstGeom>
          <a:solidFill>
            <a:srgbClr val="0A6B65"/>
          </a:solidFill>
          <a:ln/>
          <a:effectLst>
            <a:outerShdw sx="100000" sy="100000" kx="0" ky="0" algn="bl" rotWithShape="0" blurRad="88900" dist="38100" dir="8100000">
              <a:srgbClr val="000000">
                <a:alpha val="10000"/>
              </a:srgbClr>
            </a:outerShdw>
          </a:effectLst>
        </p:spPr>
      </p:sp>
      <p:sp>
        <p:nvSpPr>
          <p:cNvPr id="17" name="Text 15"/>
          <p:cNvSpPr/>
          <p:nvPr/>
        </p:nvSpPr>
        <p:spPr>
          <a:xfrm>
            <a:off x="4709160" y="960120"/>
            <a:ext cx="416052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OPORTUNIDADES</a:t>
            </a:r>
            <a:endParaRPr lang="en-US" sz="900" dirty="0"/>
          </a:p>
        </p:txBody>
      </p:sp>
      <p:sp>
        <p:nvSpPr>
          <p:cNvPr id="18" name="Text 16"/>
          <p:cNvSpPr/>
          <p:nvPr/>
        </p:nvSpPr>
        <p:spPr>
          <a:xfrm>
            <a:off x="4846320" y="1399032"/>
            <a:ext cx="3886200" cy="274320"/>
          </a:xfrm>
          <a:prstGeom prst="rect">
            <a:avLst/>
          </a:prstGeom>
          <a:noFill/>
          <a:ln/>
        </p:spPr>
        <p:txBody>
          <a:bodyPr wrap="square" rtlCol="0" anchor="ctr"/>
          <a:lstStyle/>
          <a:p>
            <a:pPr indent="0" marL="0">
              <a:buNone/>
            </a:pPr>
            <a:r>
              <a:rPr lang="en-US" sz="1300" b="1" dirty="0">
                <a:solidFill>
                  <a:srgbClr val="0A6B65"/>
                </a:solidFill>
                <a:latin typeface="Georgia" pitchFamily="34" charset="0"/>
                <a:ea typeface="Georgia" pitchFamily="34" charset="-122"/>
                <a:cs typeface="Georgia" pitchFamily="34" charset="-120"/>
              </a:rPr>
              <a:t>15 elementos</a:t>
            </a:r>
            <a:endParaRPr lang="en-US" sz="1300" dirty="0"/>
          </a:p>
        </p:txBody>
      </p:sp>
      <p:sp>
        <p:nvSpPr>
          <p:cNvPr id="19" name="Text 17"/>
          <p:cNvSpPr/>
          <p:nvPr/>
        </p:nvSpPr>
        <p:spPr>
          <a:xfrm>
            <a:off x="4846320" y="1691640"/>
            <a:ext cx="3886200" cy="86868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Ventanas del entorno con plazos definidos. ERD prioriza a Rengo (13 articulaciones), Ley 21.807 y fondos climáticos, enoturismo Valle Apalta, METROTREN en agenda regional, fondos BID accesibles.</a:t>
            </a:r>
            <a:endParaRPr lang="en-US" sz="980" dirty="0"/>
          </a:p>
        </p:txBody>
      </p:sp>
      <p:sp>
        <p:nvSpPr>
          <p:cNvPr id="20" name="Shape 18"/>
          <p:cNvSpPr/>
          <p:nvPr/>
        </p:nvSpPr>
        <p:spPr>
          <a:xfrm>
            <a:off x="274320" y="2852928"/>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274320" y="2852928"/>
            <a:ext cx="4160520" cy="59436"/>
          </a:xfrm>
          <a:prstGeom prst="rect">
            <a:avLst/>
          </a:prstGeom>
          <a:solidFill>
            <a:srgbClr val="B83232"/>
          </a:solidFill>
          <a:ln/>
        </p:spPr>
      </p:sp>
      <p:sp>
        <p:nvSpPr>
          <p:cNvPr id="22" name="Shape 20"/>
          <p:cNvSpPr/>
          <p:nvPr/>
        </p:nvSpPr>
        <p:spPr>
          <a:xfrm>
            <a:off x="274320" y="2852928"/>
            <a:ext cx="4160520" cy="365760"/>
          </a:xfrm>
          <a:prstGeom prst="rect">
            <a:avLst/>
          </a:prstGeom>
          <a:solidFill>
            <a:srgbClr val="B83232"/>
          </a:solidFill>
          <a:ln/>
          <a:effectLst>
            <a:outerShdw sx="100000" sy="100000" kx="0" ky="0" algn="bl" rotWithShape="0" blurRad="88900" dist="38100" dir="8100000">
              <a:srgbClr val="000000">
                <a:alpha val="10000"/>
              </a:srgbClr>
            </a:outerShdw>
          </a:effectLst>
        </p:spPr>
      </p:sp>
      <p:sp>
        <p:nvSpPr>
          <p:cNvPr id="23" name="Text 21"/>
          <p:cNvSpPr/>
          <p:nvPr/>
        </p:nvSpPr>
        <p:spPr>
          <a:xfrm>
            <a:off x="274320" y="2852928"/>
            <a:ext cx="416052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DEBILIDADES</a:t>
            </a:r>
            <a:endParaRPr lang="en-US" sz="900" dirty="0"/>
          </a:p>
        </p:txBody>
      </p:sp>
      <p:sp>
        <p:nvSpPr>
          <p:cNvPr id="24" name="Text 22"/>
          <p:cNvSpPr/>
          <p:nvPr/>
        </p:nvSpPr>
        <p:spPr>
          <a:xfrm>
            <a:off x="411480" y="3291840"/>
            <a:ext cx="3886200" cy="274320"/>
          </a:xfrm>
          <a:prstGeom prst="rect">
            <a:avLst/>
          </a:prstGeom>
          <a:noFill/>
          <a:ln/>
        </p:spPr>
        <p:txBody>
          <a:bodyPr wrap="square" rtlCol="0" anchor="ctr"/>
          <a:lstStyle/>
          <a:p>
            <a:pPr indent="0" marL="0">
              <a:buNone/>
            </a:pPr>
            <a:r>
              <a:rPr lang="en-US" sz="1300" b="1" dirty="0">
                <a:solidFill>
                  <a:srgbClr val="B83232"/>
                </a:solidFill>
                <a:latin typeface="Georgia" pitchFamily="34" charset="0"/>
                <a:ea typeface="Georgia" pitchFamily="34" charset="-122"/>
                <a:cs typeface="Georgia" pitchFamily="34" charset="-120"/>
              </a:rPr>
              <a:t>20 elementos</a:t>
            </a:r>
            <a:endParaRPr lang="en-US" sz="1300" dirty="0"/>
          </a:p>
        </p:txBody>
      </p:sp>
      <p:sp>
        <p:nvSpPr>
          <p:cNvPr id="25" name="Text 23"/>
          <p:cNvSpPr/>
          <p:nvPr/>
        </p:nvSpPr>
        <p:spPr>
          <a:xfrm>
            <a:off x="411480" y="3584448"/>
            <a:ext cx="3886200" cy="86868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Limitaciones internas con solución técnica disponible. 6 brechas Ley Karin activas, COSOC inactivo, 50% instrumentos sin implementar, materialización al 30,7%, captación externa al 6,28%.</a:t>
            </a:r>
            <a:endParaRPr lang="en-US" sz="980" dirty="0"/>
          </a:p>
        </p:txBody>
      </p:sp>
      <p:sp>
        <p:nvSpPr>
          <p:cNvPr id="26" name="Shape 24"/>
          <p:cNvSpPr/>
          <p:nvPr/>
        </p:nvSpPr>
        <p:spPr>
          <a:xfrm>
            <a:off x="4709160" y="2852928"/>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7" name="Shape 25"/>
          <p:cNvSpPr/>
          <p:nvPr/>
        </p:nvSpPr>
        <p:spPr>
          <a:xfrm>
            <a:off x="4709160" y="2852928"/>
            <a:ext cx="4160520" cy="59436"/>
          </a:xfrm>
          <a:prstGeom prst="rect">
            <a:avLst/>
          </a:prstGeom>
          <a:solidFill>
            <a:srgbClr val="9B6B0A"/>
          </a:solidFill>
          <a:ln/>
        </p:spPr>
      </p:sp>
      <p:sp>
        <p:nvSpPr>
          <p:cNvPr id="28" name="Shape 26"/>
          <p:cNvSpPr/>
          <p:nvPr/>
        </p:nvSpPr>
        <p:spPr>
          <a:xfrm>
            <a:off x="4709160" y="2852928"/>
            <a:ext cx="4160520" cy="365760"/>
          </a:xfrm>
          <a:prstGeom prst="rect">
            <a:avLst/>
          </a:prstGeom>
          <a:solidFill>
            <a:srgbClr val="9B6B0A"/>
          </a:solidFill>
          <a:ln/>
          <a:effectLst>
            <a:outerShdw sx="100000" sy="100000" kx="0" ky="0" algn="bl" rotWithShape="0" blurRad="88900" dist="38100" dir="8100000">
              <a:srgbClr val="000000">
                <a:alpha val="10000"/>
              </a:srgbClr>
            </a:outerShdw>
          </a:effectLst>
        </p:spPr>
      </p:sp>
      <p:sp>
        <p:nvSpPr>
          <p:cNvPr id="29" name="Text 27"/>
          <p:cNvSpPr/>
          <p:nvPr/>
        </p:nvSpPr>
        <p:spPr>
          <a:xfrm>
            <a:off x="4709160" y="2852928"/>
            <a:ext cx="416052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AMENAZAS</a:t>
            </a:r>
            <a:endParaRPr lang="en-US" sz="900" dirty="0"/>
          </a:p>
        </p:txBody>
      </p:sp>
      <p:sp>
        <p:nvSpPr>
          <p:cNvPr id="30" name="Text 28"/>
          <p:cNvSpPr/>
          <p:nvPr/>
        </p:nvSpPr>
        <p:spPr>
          <a:xfrm>
            <a:off x="4846320" y="3291840"/>
            <a:ext cx="3886200" cy="274320"/>
          </a:xfrm>
          <a:prstGeom prst="rect">
            <a:avLst/>
          </a:prstGeom>
          <a:noFill/>
          <a:ln/>
        </p:spPr>
        <p:txBody>
          <a:bodyPr wrap="square" rtlCol="0" anchor="ctr"/>
          <a:lstStyle/>
          <a:p>
            <a:pPr indent="0" marL="0">
              <a:buNone/>
            </a:pPr>
            <a:r>
              <a:rPr lang="en-US" sz="1300" b="1" dirty="0">
                <a:solidFill>
                  <a:srgbClr val="9B6B0A"/>
                </a:solidFill>
                <a:latin typeface="Georgia" pitchFamily="34" charset="0"/>
                <a:ea typeface="Georgia" pitchFamily="34" charset="-122"/>
                <a:cs typeface="Georgia" pitchFamily="34" charset="-120"/>
              </a:rPr>
              <a:t>15 elementos</a:t>
            </a:r>
            <a:endParaRPr lang="en-US" sz="1300" dirty="0"/>
          </a:p>
        </p:txBody>
      </p:sp>
      <p:sp>
        <p:nvSpPr>
          <p:cNvPr id="31" name="Text 29"/>
          <p:cNvSpPr/>
          <p:nvPr/>
        </p:nvSpPr>
        <p:spPr>
          <a:xfrm>
            <a:off x="4846320" y="3584448"/>
            <a:ext cx="3886200" cy="86868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Tendencias externas verificadas en el territorio. Envejecimiento (índice 72,1→100), inseguridad (+126%), emigración juvenil (100% NNA negativo), megasequía (-30% producción agrícola), dependencia FCM 61,72%.</a:t>
            </a:r>
            <a:endParaRPr lang="en-US" sz="980" dirty="0"/>
          </a:p>
        </p:txBody>
      </p:sp>
      <p:sp>
        <p:nvSpPr>
          <p:cNvPr id="32" name="Shape 30"/>
          <p:cNvSpPr/>
          <p:nvPr/>
        </p:nvSpPr>
        <p:spPr>
          <a:xfrm>
            <a:off x="4434840" y="960120"/>
            <a:ext cx="73152" cy="3584448"/>
          </a:xfrm>
          <a:prstGeom prst="rect">
            <a:avLst/>
          </a:prstGeom>
          <a:solidFill>
            <a:srgbClr val="E8ECF0"/>
          </a:solidFill>
          <a:ln/>
        </p:spPr>
      </p:sp>
      <p:sp>
        <p:nvSpPr>
          <p:cNvPr id="33" name="Shape 31"/>
          <p:cNvSpPr/>
          <p:nvPr/>
        </p:nvSpPr>
        <p:spPr>
          <a:xfrm>
            <a:off x="274320" y="2724912"/>
            <a:ext cx="8595360" cy="73152"/>
          </a:xfrm>
          <a:prstGeom prst="rect">
            <a:avLst/>
          </a:prstGeom>
          <a:solidFill>
            <a:srgbClr val="E8ECF0"/>
          </a:solidFill>
          <a:ln/>
        </p:spPr>
      </p:sp>
      <p:sp>
        <p:nvSpPr>
          <p:cNvPr id="34" name="Shape 32"/>
          <p:cNvSpPr/>
          <p:nvPr/>
        </p:nvSpPr>
        <p:spPr>
          <a:xfrm>
            <a:off x="4224528" y="2532888"/>
            <a:ext cx="493776" cy="493776"/>
          </a:xfrm>
          <a:prstGeom prst="oval">
            <a:avLst/>
          </a:prstGeom>
          <a:solidFill>
            <a:srgbClr val="C9A84C"/>
          </a:solidFill>
          <a:ln/>
        </p:spPr>
      </p:sp>
      <p:sp>
        <p:nvSpPr>
          <p:cNvPr id="35" name="Text 33"/>
          <p:cNvSpPr/>
          <p:nvPr/>
        </p:nvSpPr>
        <p:spPr>
          <a:xfrm>
            <a:off x="4224528" y="2532888"/>
            <a:ext cx="493776" cy="493776"/>
          </a:xfrm>
          <a:prstGeom prst="rect">
            <a:avLst/>
          </a:prstGeom>
          <a:noFill/>
          <a:ln/>
        </p:spPr>
        <p:txBody>
          <a:bodyPr wrap="square" rtlCol="0" anchor="ctr"/>
          <a:lstStyle/>
          <a:p>
            <a:pPr algn="ctr" indent="0" marL="0">
              <a:buNone/>
            </a:pPr>
            <a:r>
              <a:rPr lang="en-US" sz="650" b="1" dirty="0">
                <a:solidFill>
                  <a:srgbClr val="FFFFFF"/>
                </a:solidFill>
              </a:rPr>
              <a:t>FODA</a:t>
            </a:r>
            <a:endParaRPr lang="en-US" sz="650" dirty="0"/>
          </a:p>
        </p:txBody>
      </p:sp>
      <p:sp>
        <p:nvSpPr>
          <p:cNvPr id="36" name="Shape 34"/>
          <p:cNvSpPr/>
          <p:nvPr/>
        </p:nvSpPr>
        <p:spPr>
          <a:xfrm>
            <a:off x="274320" y="4645152"/>
            <a:ext cx="8595360" cy="292608"/>
          </a:xfrm>
          <a:prstGeom prst="rect">
            <a:avLst/>
          </a:prstGeom>
          <a:solidFill>
            <a:srgbClr val="E8ECF0"/>
          </a:solidFill>
          <a:ln/>
        </p:spPr>
      </p:sp>
      <p:sp>
        <p:nvSpPr>
          <p:cNvPr id="37" name="Text 35"/>
          <p:cNvSpPr/>
          <p:nvPr/>
        </p:nvSpPr>
        <p:spPr>
          <a:xfrm>
            <a:off x="457200" y="4663440"/>
            <a:ext cx="8229600" cy="256032"/>
          </a:xfrm>
          <a:prstGeom prst="rect">
            <a:avLst/>
          </a:prstGeom>
          <a:noFill/>
          <a:ln/>
        </p:spPr>
        <p:txBody>
          <a:bodyPr wrap="square" lIns="508" tIns="508" rIns="508" bIns="508" rtlCol="0" anchor="t"/>
          <a:lstStyle/>
          <a:p>
            <a:pPr algn="ctr" indent="0" marL="0">
              <a:buNone/>
            </a:pPr>
            <a:r>
              <a:rPr lang="en-US" sz="800" i="1" dirty="0">
                <a:solidFill>
                  <a:srgbClr val="64748B"/>
                </a:solidFill>
                <a:latin typeface="Calibri" pitchFamily="34" charset="0"/>
                <a:ea typeface="Calibri" pitchFamily="34" charset="-122"/>
                <a:cs typeface="Calibri" pitchFamily="34" charset="-120"/>
              </a:rPr>
              <a:t>Fuentes: SII 2023 · SINIM 2024 · CEAD · INE Censo 2024 · CPLT 2024 · BIP 2025 · PACCC IDOM 2026 · Diagnóstico participativo Rengo 2025–2026 · IIGAM 2024 · ERD O’Higgins 2030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Para el Alcalde: 4 decisiones estratégicas</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Matriz de acción — urgencia institucional vs. impacto en el territorio de Rengo 2025–2028</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896112"/>
            <a:ext cx="8595360" cy="347472"/>
          </a:xfrm>
          <a:prstGeom prst="rect">
            <a:avLst/>
          </a:prstGeom>
          <a:solidFill>
            <a:srgbClr val="1F3864"/>
          </a:solidFill>
          <a:ln/>
        </p:spPr>
      </p:sp>
      <p:sp>
        <p:nvSpPr>
          <p:cNvPr id="9" name="Text 7"/>
          <p:cNvSpPr/>
          <p:nvPr/>
        </p:nvSpPr>
        <p:spPr>
          <a:xfrm>
            <a:off x="411480" y="932688"/>
            <a:ext cx="2286000" cy="274320"/>
          </a:xfrm>
          <a:prstGeom prst="rect">
            <a:avLst/>
          </a:prstGeom>
          <a:noFill/>
          <a:ln/>
        </p:spPr>
        <p:txBody>
          <a:bodyPr wrap="square" lIns="508" tIns="508" rIns="508" bIns="508" rtlCol="0" anchor="ctr"/>
          <a:lstStyle/>
          <a:p>
            <a:pPr algn="l" indent="0" marL="0">
              <a:buNone/>
            </a:pPr>
            <a:r>
              <a:rPr lang="en-US" sz="850" b="1" dirty="0">
                <a:solidFill>
                  <a:srgbClr val="C9A84C"/>
                </a:solidFill>
                <a:latin typeface="Calibri" pitchFamily="34" charset="0"/>
                <a:ea typeface="Calibri" pitchFamily="34" charset="-122"/>
                <a:cs typeface="Calibri" pitchFamily="34" charset="-120"/>
              </a:rPr>
              <a:t>← URGENCIA ALTA</a:t>
            </a:r>
            <a:endParaRPr lang="en-US" sz="850" dirty="0"/>
          </a:p>
        </p:txBody>
      </p:sp>
      <p:sp>
        <p:nvSpPr>
          <p:cNvPr id="10" name="Text 8"/>
          <p:cNvSpPr/>
          <p:nvPr/>
        </p:nvSpPr>
        <p:spPr>
          <a:xfrm>
            <a:off x="2926080" y="932688"/>
            <a:ext cx="3291840" cy="274320"/>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Matriz de acción estratégica 2025–2028</a:t>
            </a:r>
            <a:endParaRPr lang="en-US" sz="1000" dirty="0"/>
          </a:p>
        </p:txBody>
      </p:sp>
      <p:sp>
        <p:nvSpPr>
          <p:cNvPr id="11" name="Text 9"/>
          <p:cNvSpPr/>
          <p:nvPr/>
        </p:nvSpPr>
        <p:spPr>
          <a:xfrm>
            <a:off x="6583680" y="932688"/>
            <a:ext cx="2286000" cy="274320"/>
          </a:xfrm>
          <a:prstGeom prst="rect">
            <a:avLst/>
          </a:prstGeom>
          <a:noFill/>
          <a:ln/>
        </p:spPr>
        <p:txBody>
          <a:bodyPr wrap="square" lIns="508" tIns="508" rIns="508" bIns="508"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IMPACTO ESTRUCTURAL →</a:t>
            </a:r>
            <a:endParaRPr lang="en-US" sz="850" dirty="0"/>
          </a:p>
        </p:txBody>
      </p:sp>
      <p:sp>
        <p:nvSpPr>
          <p:cNvPr id="12" name="Shape 10"/>
          <p:cNvSpPr/>
          <p:nvPr/>
        </p:nvSpPr>
        <p:spPr>
          <a:xfrm>
            <a:off x="274320" y="1353312"/>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3" name="Shape 11"/>
          <p:cNvSpPr/>
          <p:nvPr/>
        </p:nvSpPr>
        <p:spPr>
          <a:xfrm>
            <a:off x="274320" y="1353312"/>
            <a:ext cx="4160520" cy="59436"/>
          </a:xfrm>
          <a:prstGeom prst="rect">
            <a:avLst/>
          </a:prstGeom>
          <a:solidFill>
            <a:srgbClr val="B83232"/>
          </a:solidFill>
          <a:ln/>
        </p:spPr>
      </p:sp>
      <p:sp>
        <p:nvSpPr>
          <p:cNvPr id="14" name="Shape 12"/>
          <p:cNvSpPr/>
          <p:nvPr/>
        </p:nvSpPr>
        <p:spPr>
          <a:xfrm>
            <a:off x="274320" y="1353312"/>
            <a:ext cx="4160520" cy="347472"/>
          </a:xfrm>
          <a:prstGeom prst="rect">
            <a:avLst/>
          </a:prstGeom>
          <a:solidFill>
            <a:srgbClr val="B83232"/>
          </a:solidFill>
          <a:ln/>
        </p:spPr>
      </p:sp>
      <p:sp>
        <p:nvSpPr>
          <p:cNvPr id="15" name="Text 13"/>
          <p:cNvSpPr/>
          <p:nvPr/>
        </p:nvSpPr>
        <p:spPr>
          <a:xfrm>
            <a:off x="365760" y="1353312"/>
            <a:ext cx="2926080" cy="347472"/>
          </a:xfrm>
          <a:prstGeom prst="rect">
            <a:avLst/>
          </a:prstGeom>
          <a:noFill/>
          <a:ln/>
        </p:spPr>
        <p:txBody>
          <a:bodyPr wrap="square" lIns="762" tIns="762" rIns="762" bIns="762"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ACTUAR AHORA</a:t>
            </a:r>
            <a:endParaRPr lang="en-US" sz="850" dirty="0"/>
          </a:p>
        </p:txBody>
      </p:sp>
      <p:sp>
        <p:nvSpPr>
          <p:cNvPr id="16" name="Text 14"/>
          <p:cNvSpPr/>
          <p:nvPr/>
        </p:nvSpPr>
        <p:spPr>
          <a:xfrm>
            <a:off x="384048" y="1746504"/>
            <a:ext cx="3931920" cy="256032"/>
          </a:xfrm>
          <a:prstGeom prst="rect">
            <a:avLst/>
          </a:prstGeom>
          <a:noFill/>
          <a:ln/>
        </p:spPr>
        <p:txBody>
          <a:bodyPr wrap="square" lIns="0" tIns="0" rIns="0" bIns="0" rtlCol="0" anchor="ctr"/>
          <a:lstStyle/>
          <a:p>
            <a:pPr indent="0" marL="0">
              <a:buNone/>
            </a:pPr>
            <a:r>
              <a:rPr lang="en-US" sz="1000" b="1" dirty="0">
                <a:solidFill>
                  <a:srgbClr val="1F3864"/>
                </a:solidFill>
                <a:latin typeface="Georgia" pitchFamily="34" charset="0"/>
                <a:ea typeface="Georgia" pitchFamily="34" charset="-122"/>
                <a:cs typeface="Georgia" pitchFamily="34" charset="-120"/>
              </a:rPr>
              <a:t>Cumplimiento legal y legitimidad</a:t>
            </a:r>
            <a:endParaRPr lang="en-US" sz="1000" dirty="0"/>
          </a:p>
        </p:txBody>
      </p:sp>
      <p:sp>
        <p:nvSpPr>
          <p:cNvPr id="17" name="Shape 15"/>
          <p:cNvSpPr/>
          <p:nvPr/>
        </p:nvSpPr>
        <p:spPr>
          <a:xfrm>
            <a:off x="411480" y="2139696"/>
            <a:ext cx="91440" cy="91440"/>
          </a:xfrm>
          <a:prstGeom prst="rect">
            <a:avLst/>
          </a:prstGeom>
          <a:solidFill>
            <a:srgbClr val="B83232"/>
          </a:solidFill>
          <a:ln/>
        </p:spPr>
      </p:sp>
      <p:sp>
        <p:nvSpPr>
          <p:cNvPr id="18" name="Text 16"/>
          <p:cNvSpPr/>
          <p:nvPr/>
        </p:nvSpPr>
        <p:spPr>
          <a:xfrm>
            <a:off x="548640" y="2084832"/>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Protocolo Ley Karin: 6 brechas activas desde agosto 2024</a:t>
            </a:r>
            <a:endParaRPr lang="en-US" sz="880" dirty="0"/>
          </a:p>
        </p:txBody>
      </p:sp>
      <p:sp>
        <p:nvSpPr>
          <p:cNvPr id="19" name="Shape 17"/>
          <p:cNvSpPr/>
          <p:nvPr/>
        </p:nvSpPr>
        <p:spPr>
          <a:xfrm>
            <a:off x="411480" y="2350008"/>
            <a:ext cx="91440" cy="91440"/>
          </a:xfrm>
          <a:prstGeom prst="rect">
            <a:avLst/>
          </a:prstGeom>
          <a:solidFill>
            <a:srgbClr val="B83232"/>
          </a:solidFill>
          <a:ln/>
        </p:spPr>
      </p:sp>
      <p:sp>
        <p:nvSpPr>
          <p:cNvPr id="20" name="Text 18"/>
          <p:cNvSpPr/>
          <p:nvPr/>
        </p:nvSpPr>
        <p:spPr>
          <a:xfrm>
            <a:off x="548640" y="2295144"/>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COSOC: convocar primera sesión en 15 días</a:t>
            </a:r>
            <a:endParaRPr lang="en-US" sz="880" dirty="0"/>
          </a:p>
        </p:txBody>
      </p:sp>
      <p:sp>
        <p:nvSpPr>
          <p:cNvPr id="21" name="Shape 19"/>
          <p:cNvSpPr/>
          <p:nvPr/>
        </p:nvSpPr>
        <p:spPr>
          <a:xfrm>
            <a:off x="411480" y="2560320"/>
            <a:ext cx="91440" cy="91440"/>
          </a:xfrm>
          <a:prstGeom prst="rect">
            <a:avLst/>
          </a:prstGeom>
          <a:solidFill>
            <a:srgbClr val="B83232"/>
          </a:solidFill>
          <a:ln/>
        </p:spPr>
      </p:sp>
      <p:sp>
        <p:nvSpPr>
          <p:cNvPr id="22" name="Text 20"/>
          <p:cNvSpPr/>
          <p:nvPr/>
        </p:nvSpPr>
        <p:spPr>
          <a:xfrm>
            <a:off x="548640" y="2505456"/>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Capacitar 100% dotación en Ley 21.643</a:t>
            </a:r>
            <a:endParaRPr lang="en-US" sz="880" dirty="0"/>
          </a:p>
        </p:txBody>
      </p:sp>
      <p:sp>
        <p:nvSpPr>
          <p:cNvPr id="23" name="Shape 21"/>
          <p:cNvSpPr/>
          <p:nvPr/>
        </p:nvSpPr>
        <p:spPr>
          <a:xfrm>
            <a:off x="411480" y="2770632"/>
            <a:ext cx="91440" cy="91440"/>
          </a:xfrm>
          <a:prstGeom prst="rect">
            <a:avLst/>
          </a:prstGeom>
          <a:solidFill>
            <a:srgbClr val="B83232"/>
          </a:solidFill>
          <a:ln/>
        </p:spPr>
      </p:sp>
      <p:sp>
        <p:nvSpPr>
          <p:cNvPr id="24" name="Text 22"/>
          <p:cNvSpPr/>
          <p:nvPr/>
        </p:nvSpPr>
        <p:spPr>
          <a:xfrm>
            <a:off x="548640" y="2715768"/>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Aprobar Código de Ética Municipal</a:t>
            </a:r>
            <a:endParaRPr lang="en-US" sz="880" dirty="0"/>
          </a:p>
        </p:txBody>
      </p:sp>
      <p:sp>
        <p:nvSpPr>
          <p:cNvPr id="25" name="Text 23"/>
          <p:cNvSpPr/>
          <p:nvPr/>
        </p:nvSpPr>
        <p:spPr>
          <a:xfrm>
            <a:off x="384048" y="2907792"/>
            <a:ext cx="3931920" cy="128016"/>
          </a:xfrm>
          <a:prstGeom prst="rect">
            <a:avLst/>
          </a:prstGeom>
          <a:noFill/>
          <a:ln/>
        </p:spPr>
        <p:txBody>
          <a:bodyPr wrap="square" lIns="0" tIns="0" rIns="0" bIns="0" rtlCol="0" anchor="ctr"/>
          <a:lstStyle/>
          <a:p>
            <a:pPr algn="l" indent="0" marL="0">
              <a:buNone/>
            </a:pPr>
            <a:r>
              <a:rPr lang="en-US" sz="800" i="1" dirty="0">
                <a:solidFill>
                  <a:srgbClr val="B83232"/>
                </a:solidFill>
                <a:latin typeface="Calibri" pitchFamily="34" charset="0"/>
                <a:ea typeface="Calibri" pitchFamily="34" charset="-122"/>
                <a:cs typeface="Calibri" pitchFamily="34" charset="-120"/>
              </a:rPr>
              <a:t>Plazo: 30–60 días · Sin costo significativo · Riesgo legal activo</a:t>
            </a:r>
            <a:endParaRPr lang="en-US" sz="800" dirty="0"/>
          </a:p>
        </p:txBody>
      </p:sp>
      <p:sp>
        <p:nvSpPr>
          <p:cNvPr id="26" name="Shape 24"/>
          <p:cNvSpPr/>
          <p:nvPr/>
        </p:nvSpPr>
        <p:spPr>
          <a:xfrm>
            <a:off x="4709160" y="1353312"/>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7" name="Shape 25"/>
          <p:cNvSpPr/>
          <p:nvPr/>
        </p:nvSpPr>
        <p:spPr>
          <a:xfrm>
            <a:off x="4709160" y="1353312"/>
            <a:ext cx="4160520" cy="59436"/>
          </a:xfrm>
          <a:prstGeom prst="rect">
            <a:avLst/>
          </a:prstGeom>
          <a:solidFill>
            <a:srgbClr val="1F3864"/>
          </a:solidFill>
          <a:ln/>
        </p:spPr>
      </p:sp>
      <p:sp>
        <p:nvSpPr>
          <p:cNvPr id="28" name="Shape 26"/>
          <p:cNvSpPr/>
          <p:nvPr/>
        </p:nvSpPr>
        <p:spPr>
          <a:xfrm>
            <a:off x="4709160" y="1353312"/>
            <a:ext cx="4160520" cy="347472"/>
          </a:xfrm>
          <a:prstGeom prst="rect">
            <a:avLst/>
          </a:prstGeom>
          <a:solidFill>
            <a:srgbClr val="1F3864"/>
          </a:solidFill>
          <a:ln/>
        </p:spPr>
      </p:sp>
      <p:sp>
        <p:nvSpPr>
          <p:cNvPr id="29" name="Text 27"/>
          <p:cNvSpPr/>
          <p:nvPr/>
        </p:nvSpPr>
        <p:spPr>
          <a:xfrm>
            <a:off x="4800600" y="1353312"/>
            <a:ext cx="2926080" cy="347472"/>
          </a:xfrm>
          <a:prstGeom prst="rect">
            <a:avLst/>
          </a:prstGeom>
          <a:noFill/>
          <a:ln/>
        </p:spPr>
        <p:txBody>
          <a:bodyPr wrap="square" lIns="762" tIns="762" rIns="762" bIns="762"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PLANIFICAR HOY</a:t>
            </a:r>
            <a:endParaRPr lang="en-US" sz="850" dirty="0"/>
          </a:p>
        </p:txBody>
      </p:sp>
      <p:sp>
        <p:nvSpPr>
          <p:cNvPr id="30" name="Text 28"/>
          <p:cNvSpPr/>
          <p:nvPr/>
        </p:nvSpPr>
        <p:spPr>
          <a:xfrm>
            <a:off x="4818888" y="1746504"/>
            <a:ext cx="3931920" cy="256032"/>
          </a:xfrm>
          <a:prstGeom prst="rect">
            <a:avLst/>
          </a:prstGeom>
          <a:noFill/>
          <a:ln/>
        </p:spPr>
        <p:txBody>
          <a:bodyPr wrap="square" lIns="0" tIns="0" rIns="0" bIns="0" rtlCol="0" anchor="ctr"/>
          <a:lstStyle/>
          <a:p>
            <a:pPr indent="0" marL="0">
              <a:buNone/>
            </a:pPr>
            <a:r>
              <a:rPr lang="en-US" sz="1000" b="1" dirty="0">
                <a:solidFill>
                  <a:srgbClr val="1F3864"/>
                </a:solidFill>
                <a:latin typeface="Georgia" pitchFamily="34" charset="0"/>
                <a:ea typeface="Georgia" pitchFamily="34" charset="-122"/>
                <a:cs typeface="Georgia" pitchFamily="34" charset="-120"/>
              </a:rPr>
              <a:t>Arquitectura financiera e institucional</a:t>
            </a:r>
            <a:endParaRPr lang="en-US" sz="1000" dirty="0"/>
          </a:p>
        </p:txBody>
      </p:sp>
      <p:sp>
        <p:nvSpPr>
          <p:cNvPr id="31" name="Shape 29"/>
          <p:cNvSpPr/>
          <p:nvPr/>
        </p:nvSpPr>
        <p:spPr>
          <a:xfrm>
            <a:off x="4846320" y="2139696"/>
            <a:ext cx="91440" cy="91440"/>
          </a:xfrm>
          <a:prstGeom prst="rect">
            <a:avLst/>
          </a:prstGeom>
          <a:solidFill>
            <a:srgbClr val="1F3864"/>
          </a:solidFill>
          <a:ln/>
        </p:spPr>
      </p:sp>
      <p:sp>
        <p:nvSpPr>
          <p:cNvPr id="32" name="Text 30"/>
          <p:cNvSpPr/>
          <p:nvPr/>
        </p:nvSpPr>
        <p:spPr>
          <a:xfrm>
            <a:off x="4983480" y="2084832"/>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Crear unidad de formulación de proyectos externos</a:t>
            </a:r>
            <a:endParaRPr lang="en-US" sz="880" dirty="0"/>
          </a:p>
        </p:txBody>
      </p:sp>
      <p:sp>
        <p:nvSpPr>
          <p:cNvPr id="33" name="Shape 31"/>
          <p:cNvSpPr/>
          <p:nvPr/>
        </p:nvSpPr>
        <p:spPr>
          <a:xfrm>
            <a:off x="4846320" y="2350008"/>
            <a:ext cx="91440" cy="91440"/>
          </a:xfrm>
          <a:prstGeom prst="rect">
            <a:avLst/>
          </a:prstGeom>
          <a:solidFill>
            <a:srgbClr val="1F3864"/>
          </a:solidFill>
          <a:ln/>
        </p:spPr>
      </p:sp>
      <p:sp>
        <p:nvSpPr>
          <p:cNvPr id="34" name="Text 32"/>
          <p:cNvSpPr/>
          <p:nvPr/>
        </p:nvSpPr>
        <p:spPr>
          <a:xfrm>
            <a:off x="4983480" y="2295144"/>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Tablero de KPIs reportable al Concejo trimestral</a:t>
            </a:r>
            <a:endParaRPr lang="en-US" sz="880" dirty="0"/>
          </a:p>
        </p:txBody>
      </p:sp>
      <p:sp>
        <p:nvSpPr>
          <p:cNvPr id="35" name="Shape 33"/>
          <p:cNvSpPr/>
          <p:nvPr/>
        </p:nvSpPr>
        <p:spPr>
          <a:xfrm>
            <a:off x="4846320" y="2560320"/>
            <a:ext cx="91440" cy="91440"/>
          </a:xfrm>
          <a:prstGeom prst="rect">
            <a:avLst/>
          </a:prstGeom>
          <a:solidFill>
            <a:srgbClr val="1F3864"/>
          </a:solidFill>
          <a:ln/>
        </p:spPr>
      </p:sp>
      <p:sp>
        <p:nvSpPr>
          <p:cNvPr id="36" name="Text 34"/>
          <p:cNvSpPr/>
          <p:nvPr/>
        </p:nvSpPr>
        <p:spPr>
          <a:xfrm>
            <a:off x="4983480" y="2505456"/>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Articular PACCC con presupuesto asignado</a:t>
            </a:r>
            <a:endParaRPr lang="en-US" sz="880" dirty="0"/>
          </a:p>
        </p:txBody>
      </p:sp>
      <p:sp>
        <p:nvSpPr>
          <p:cNvPr id="37" name="Shape 35"/>
          <p:cNvSpPr/>
          <p:nvPr/>
        </p:nvSpPr>
        <p:spPr>
          <a:xfrm>
            <a:off x="4846320" y="2770632"/>
            <a:ext cx="91440" cy="91440"/>
          </a:xfrm>
          <a:prstGeom prst="rect">
            <a:avLst/>
          </a:prstGeom>
          <a:solidFill>
            <a:srgbClr val="1F3864"/>
          </a:solidFill>
          <a:ln/>
        </p:spPr>
      </p:sp>
      <p:sp>
        <p:nvSpPr>
          <p:cNvPr id="38" name="Text 36"/>
          <p:cNvSpPr/>
          <p:nvPr/>
        </p:nvSpPr>
        <p:spPr>
          <a:xfrm>
            <a:off x="4983480" y="2715768"/>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Alinear cartera BIP con prioridades ERD</a:t>
            </a:r>
            <a:endParaRPr lang="en-US" sz="880" dirty="0"/>
          </a:p>
        </p:txBody>
      </p:sp>
      <p:sp>
        <p:nvSpPr>
          <p:cNvPr id="39" name="Text 37"/>
          <p:cNvSpPr/>
          <p:nvPr/>
        </p:nvSpPr>
        <p:spPr>
          <a:xfrm>
            <a:off x="4818888" y="2907792"/>
            <a:ext cx="3931920" cy="128016"/>
          </a:xfrm>
          <a:prstGeom prst="rect">
            <a:avLst/>
          </a:prstGeom>
          <a:noFill/>
          <a:ln/>
        </p:spPr>
        <p:txBody>
          <a:bodyPr wrap="square" lIns="0" tIns="0" rIns="0" bIns="0" rtlCol="0" anchor="ctr"/>
          <a:lstStyle/>
          <a:p>
            <a:pPr algn="l" indent="0" marL="0">
              <a:buNone/>
            </a:pPr>
            <a:r>
              <a:rPr lang="en-US" sz="800" i="1" dirty="0">
                <a:solidFill>
                  <a:srgbClr val="1F3864"/>
                </a:solidFill>
                <a:latin typeface="Calibri" pitchFamily="34" charset="0"/>
                <a:ea typeface="Calibri" pitchFamily="34" charset="-122"/>
                <a:cs typeface="Calibri" pitchFamily="34" charset="-120"/>
              </a:rPr>
              <a:t>Plazo: 90–180 días · Requiere resolución ejecutiva · Alto retorno</a:t>
            </a:r>
            <a:endParaRPr lang="en-US" sz="800" dirty="0"/>
          </a:p>
        </p:txBody>
      </p:sp>
      <p:sp>
        <p:nvSpPr>
          <p:cNvPr id="40" name="Shape 38"/>
          <p:cNvSpPr/>
          <p:nvPr/>
        </p:nvSpPr>
        <p:spPr>
          <a:xfrm>
            <a:off x="274320" y="3172968"/>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1" name="Shape 39"/>
          <p:cNvSpPr/>
          <p:nvPr/>
        </p:nvSpPr>
        <p:spPr>
          <a:xfrm>
            <a:off x="274320" y="3172968"/>
            <a:ext cx="4160520" cy="59436"/>
          </a:xfrm>
          <a:prstGeom prst="rect">
            <a:avLst/>
          </a:prstGeom>
          <a:solidFill>
            <a:srgbClr val="0A6B65"/>
          </a:solidFill>
          <a:ln/>
        </p:spPr>
      </p:sp>
      <p:sp>
        <p:nvSpPr>
          <p:cNvPr id="42" name="Shape 40"/>
          <p:cNvSpPr/>
          <p:nvPr/>
        </p:nvSpPr>
        <p:spPr>
          <a:xfrm>
            <a:off x="274320" y="3172968"/>
            <a:ext cx="4160520" cy="347472"/>
          </a:xfrm>
          <a:prstGeom prst="rect">
            <a:avLst/>
          </a:prstGeom>
          <a:solidFill>
            <a:srgbClr val="0A6B65"/>
          </a:solidFill>
          <a:ln/>
        </p:spPr>
      </p:sp>
      <p:sp>
        <p:nvSpPr>
          <p:cNvPr id="43" name="Text 41"/>
          <p:cNvSpPr/>
          <p:nvPr/>
        </p:nvSpPr>
        <p:spPr>
          <a:xfrm>
            <a:off x="365760" y="3172968"/>
            <a:ext cx="2926080" cy="347472"/>
          </a:xfrm>
          <a:prstGeom prst="rect">
            <a:avLst/>
          </a:prstGeom>
          <a:noFill/>
          <a:ln/>
        </p:spPr>
        <p:txBody>
          <a:bodyPr wrap="square" lIns="762" tIns="762" rIns="762" bIns="762"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IMPLEMENTAR PROGRESIVO</a:t>
            </a:r>
            <a:endParaRPr lang="en-US" sz="850" dirty="0"/>
          </a:p>
        </p:txBody>
      </p:sp>
      <p:sp>
        <p:nvSpPr>
          <p:cNvPr id="44" name="Text 42"/>
          <p:cNvSpPr/>
          <p:nvPr/>
        </p:nvSpPr>
        <p:spPr>
          <a:xfrm>
            <a:off x="384048" y="3566160"/>
            <a:ext cx="3931920" cy="256032"/>
          </a:xfrm>
          <a:prstGeom prst="rect">
            <a:avLst/>
          </a:prstGeom>
          <a:noFill/>
          <a:ln/>
        </p:spPr>
        <p:txBody>
          <a:bodyPr wrap="square" lIns="0" tIns="0" rIns="0" bIns="0" rtlCol="0" anchor="ctr"/>
          <a:lstStyle/>
          <a:p>
            <a:pPr indent="0" marL="0">
              <a:buNone/>
            </a:pPr>
            <a:r>
              <a:rPr lang="en-US" sz="1000" b="1" dirty="0">
                <a:solidFill>
                  <a:srgbClr val="1F3864"/>
                </a:solidFill>
                <a:latin typeface="Georgia" pitchFamily="34" charset="0"/>
                <a:ea typeface="Georgia" pitchFamily="34" charset="-122"/>
                <a:cs typeface="Georgia" pitchFamily="34" charset="-120"/>
              </a:rPr>
              <a:t>Servicios territoriales diferenciados</a:t>
            </a:r>
            <a:endParaRPr lang="en-US" sz="1000" dirty="0"/>
          </a:p>
        </p:txBody>
      </p:sp>
      <p:sp>
        <p:nvSpPr>
          <p:cNvPr id="45" name="Shape 43"/>
          <p:cNvSpPr/>
          <p:nvPr/>
        </p:nvSpPr>
        <p:spPr>
          <a:xfrm>
            <a:off x="411480" y="3959352"/>
            <a:ext cx="91440" cy="91440"/>
          </a:xfrm>
          <a:prstGeom prst="rect">
            <a:avLst/>
          </a:prstGeom>
          <a:solidFill>
            <a:srgbClr val="0A6B65"/>
          </a:solidFill>
          <a:ln/>
        </p:spPr>
      </p:sp>
      <p:sp>
        <p:nvSpPr>
          <p:cNvPr id="46" name="Text 44"/>
          <p:cNvSpPr/>
          <p:nvPr/>
        </p:nvSpPr>
        <p:spPr>
          <a:xfrm>
            <a:off x="548640" y="3904488"/>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Plan de movilidad: 3 rutas críticas identificadas</a:t>
            </a:r>
            <a:endParaRPr lang="en-US" sz="880" dirty="0"/>
          </a:p>
        </p:txBody>
      </p:sp>
      <p:sp>
        <p:nvSpPr>
          <p:cNvPr id="47" name="Shape 45"/>
          <p:cNvSpPr/>
          <p:nvPr/>
        </p:nvSpPr>
        <p:spPr>
          <a:xfrm>
            <a:off x="411480" y="4169664"/>
            <a:ext cx="91440" cy="91440"/>
          </a:xfrm>
          <a:prstGeom prst="rect">
            <a:avLst/>
          </a:prstGeom>
          <a:solidFill>
            <a:srgbClr val="0A6B65"/>
          </a:solidFill>
          <a:ln/>
        </p:spPr>
      </p:sp>
      <p:sp>
        <p:nvSpPr>
          <p:cNvPr id="48" name="Text 46"/>
          <p:cNvSpPr/>
          <p:nvPr/>
        </p:nvSpPr>
        <p:spPr>
          <a:xfrm>
            <a:off x="548640" y="4114800"/>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Programa cuidado adulto mayor rural</a:t>
            </a:r>
            <a:endParaRPr lang="en-US" sz="880" dirty="0"/>
          </a:p>
        </p:txBody>
      </p:sp>
      <p:sp>
        <p:nvSpPr>
          <p:cNvPr id="49" name="Shape 47"/>
          <p:cNvSpPr/>
          <p:nvPr/>
        </p:nvSpPr>
        <p:spPr>
          <a:xfrm>
            <a:off x="411480" y="4379976"/>
            <a:ext cx="91440" cy="91440"/>
          </a:xfrm>
          <a:prstGeom prst="rect">
            <a:avLst/>
          </a:prstGeom>
          <a:solidFill>
            <a:srgbClr val="0A6B65"/>
          </a:solidFill>
          <a:ln/>
        </p:spPr>
      </p:sp>
      <p:sp>
        <p:nvSpPr>
          <p:cNvPr id="50" name="Text 48"/>
          <p:cNvSpPr/>
          <p:nvPr/>
        </p:nvSpPr>
        <p:spPr>
          <a:xfrm>
            <a:off x="548640" y="4325112"/>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Prevención temprana: jóvenes en riesgo (14-17 años)</a:t>
            </a:r>
            <a:endParaRPr lang="en-US" sz="880" dirty="0"/>
          </a:p>
        </p:txBody>
      </p:sp>
      <p:sp>
        <p:nvSpPr>
          <p:cNvPr id="51" name="Shape 49"/>
          <p:cNvSpPr/>
          <p:nvPr/>
        </p:nvSpPr>
        <p:spPr>
          <a:xfrm>
            <a:off x="411480" y="4590288"/>
            <a:ext cx="91440" cy="91440"/>
          </a:xfrm>
          <a:prstGeom prst="rect">
            <a:avLst/>
          </a:prstGeom>
          <a:solidFill>
            <a:srgbClr val="0A6B65"/>
          </a:solidFill>
          <a:ln/>
        </p:spPr>
      </p:sp>
      <p:sp>
        <p:nvSpPr>
          <p:cNvPr id="52" name="Text 50"/>
          <p:cNvSpPr/>
          <p:nvPr/>
        </p:nvSpPr>
        <p:spPr>
          <a:xfrm>
            <a:off x="548640" y="4535424"/>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Actualización Plan Regulador Comunal</a:t>
            </a:r>
            <a:endParaRPr lang="en-US" sz="880" dirty="0"/>
          </a:p>
        </p:txBody>
      </p:sp>
      <p:sp>
        <p:nvSpPr>
          <p:cNvPr id="53" name="Text 51"/>
          <p:cNvSpPr/>
          <p:nvPr/>
        </p:nvSpPr>
        <p:spPr>
          <a:xfrm>
            <a:off x="384048" y="4727448"/>
            <a:ext cx="3931920" cy="128016"/>
          </a:xfrm>
          <a:prstGeom prst="rect">
            <a:avLst/>
          </a:prstGeom>
          <a:noFill/>
          <a:ln/>
        </p:spPr>
        <p:txBody>
          <a:bodyPr wrap="square" lIns="0" tIns="0" rIns="0" bIns="0" rtlCol="0" anchor="ctr"/>
          <a:lstStyle/>
          <a:p>
            <a:pPr algn="l" indent="0" marL="0">
              <a:buNone/>
            </a:pPr>
            <a:r>
              <a:rPr lang="en-US" sz="800" i="1" dirty="0">
                <a:solidFill>
                  <a:srgbClr val="0A6B65"/>
                </a:solidFill>
                <a:latin typeface="Calibri" pitchFamily="34" charset="0"/>
                <a:ea typeface="Calibri" pitchFamily="34" charset="-122"/>
                <a:cs typeface="Calibri" pitchFamily="34" charset="-120"/>
              </a:rPr>
              <a:t>Plazo: 6–12 meses · Requiere presupuesto 2027 · Impacto en bienestar</a:t>
            </a:r>
            <a:endParaRPr lang="en-US" sz="800" dirty="0"/>
          </a:p>
        </p:txBody>
      </p:sp>
      <p:sp>
        <p:nvSpPr>
          <p:cNvPr id="54" name="Shape 52"/>
          <p:cNvSpPr/>
          <p:nvPr/>
        </p:nvSpPr>
        <p:spPr>
          <a:xfrm>
            <a:off x="4709160" y="3172968"/>
            <a:ext cx="4160520" cy="16916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55" name="Shape 53"/>
          <p:cNvSpPr/>
          <p:nvPr/>
        </p:nvSpPr>
        <p:spPr>
          <a:xfrm>
            <a:off x="4709160" y="3172968"/>
            <a:ext cx="4160520" cy="59436"/>
          </a:xfrm>
          <a:prstGeom prst="rect">
            <a:avLst/>
          </a:prstGeom>
          <a:solidFill>
            <a:srgbClr val="C9A84C"/>
          </a:solidFill>
          <a:ln/>
        </p:spPr>
      </p:sp>
      <p:sp>
        <p:nvSpPr>
          <p:cNvPr id="56" name="Shape 54"/>
          <p:cNvSpPr/>
          <p:nvPr/>
        </p:nvSpPr>
        <p:spPr>
          <a:xfrm>
            <a:off x="4709160" y="3172968"/>
            <a:ext cx="4160520" cy="347472"/>
          </a:xfrm>
          <a:prstGeom prst="rect">
            <a:avLst/>
          </a:prstGeom>
          <a:solidFill>
            <a:srgbClr val="C9A84C"/>
          </a:solidFill>
          <a:ln/>
        </p:spPr>
      </p:sp>
      <p:sp>
        <p:nvSpPr>
          <p:cNvPr id="57" name="Text 55"/>
          <p:cNvSpPr/>
          <p:nvPr/>
        </p:nvSpPr>
        <p:spPr>
          <a:xfrm>
            <a:off x="4800600" y="3172968"/>
            <a:ext cx="2926080" cy="347472"/>
          </a:xfrm>
          <a:prstGeom prst="rect">
            <a:avLst/>
          </a:prstGeom>
          <a:noFill/>
          <a:ln/>
        </p:spPr>
        <p:txBody>
          <a:bodyPr wrap="square" lIns="762" tIns="762" rIns="762" bIns="762"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VISIÓN 2030–2035</a:t>
            </a:r>
            <a:endParaRPr lang="en-US" sz="850" dirty="0"/>
          </a:p>
        </p:txBody>
      </p:sp>
      <p:sp>
        <p:nvSpPr>
          <p:cNvPr id="58" name="Text 56"/>
          <p:cNvSpPr/>
          <p:nvPr/>
        </p:nvSpPr>
        <p:spPr>
          <a:xfrm>
            <a:off x="4818888" y="3566160"/>
            <a:ext cx="3931920" cy="256032"/>
          </a:xfrm>
          <a:prstGeom prst="rect">
            <a:avLst/>
          </a:prstGeom>
          <a:noFill/>
          <a:ln/>
        </p:spPr>
        <p:txBody>
          <a:bodyPr wrap="square" lIns="0" tIns="0" rIns="0" bIns="0" rtlCol="0" anchor="ctr"/>
          <a:lstStyle/>
          <a:p>
            <a:pPr indent="0" marL="0">
              <a:buNone/>
            </a:pPr>
            <a:r>
              <a:rPr lang="en-US" sz="1000" b="1" dirty="0">
                <a:solidFill>
                  <a:srgbClr val="1F3864"/>
                </a:solidFill>
                <a:latin typeface="Georgia" pitchFamily="34" charset="0"/>
                <a:ea typeface="Georgia" pitchFamily="34" charset="-122"/>
                <a:cs typeface="Georgia" pitchFamily="34" charset="-120"/>
              </a:rPr>
              <a:t>Posicionamiento estratégico comunal</a:t>
            </a:r>
            <a:endParaRPr lang="en-US" sz="1000" dirty="0"/>
          </a:p>
        </p:txBody>
      </p:sp>
      <p:sp>
        <p:nvSpPr>
          <p:cNvPr id="59" name="Shape 57"/>
          <p:cNvSpPr/>
          <p:nvPr/>
        </p:nvSpPr>
        <p:spPr>
          <a:xfrm>
            <a:off x="4846320" y="3959352"/>
            <a:ext cx="91440" cy="91440"/>
          </a:xfrm>
          <a:prstGeom prst="rect">
            <a:avLst/>
          </a:prstGeom>
          <a:solidFill>
            <a:srgbClr val="C9A84C"/>
          </a:solidFill>
          <a:ln/>
        </p:spPr>
      </p:sp>
      <p:sp>
        <p:nvSpPr>
          <p:cNvPr id="60" name="Text 58"/>
          <p:cNvSpPr/>
          <p:nvPr/>
        </p:nvSpPr>
        <p:spPr>
          <a:xfrm>
            <a:off x="4983480" y="3904488"/>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Enoturismo Valle Apalta: articulación productiva</a:t>
            </a:r>
            <a:endParaRPr lang="en-US" sz="880" dirty="0"/>
          </a:p>
        </p:txBody>
      </p:sp>
      <p:sp>
        <p:nvSpPr>
          <p:cNvPr id="61" name="Shape 59"/>
          <p:cNvSpPr/>
          <p:nvPr/>
        </p:nvSpPr>
        <p:spPr>
          <a:xfrm>
            <a:off x="4846320" y="4169664"/>
            <a:ext cx="91440" cy="91440"/>
          </a:xfrm>
          <a:prstGeom prst="rect">
            <a:avLst/>
          </a:prstGeom>
          <a:solidFill>
            <a:srgbClr val="C9A84C"/>
          </a:solidFill>
          <a:ln/>
        </p:spPr>
      </p:sp>
      <p:sp>
        <p:nvSpPr>
          <p:cNvPr id="62" name="Text 60"/>
          <p:cNvSpPr/>
          <p:nvPr/>
        </p:nvSpPr>
        <p:spPr>
          <a:xfrm>
            <a:off x="4983480" y="4114800"/>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METROTREN: nodo de movilidad regional</a:t>
            </a:r>
            <a:endParaRPr lang="en-US" sz="880" dirty="0"/>
          </a:p>
        </p:txBody>
      </p:sp>
      <p:sp>
        <p:nvSpPr>
          <p:cNvPr id="63" name="Shape 61"/>
          <p:cNvSpPr/>
          <p:nvPr/>
        </p:nvSpPr>
        <p:spPr>
          <a:xfrm>
            <a:off x="4846320" y="4379976"/>
            <a:ext cx="91440" cy="91440"/>
          </a:xfrm>
          <a:prstGeom prst="rect">
            <a:avLst/>
          </a:prstGeom>
          <a:solidFill>
            <a:srgbClr val="C9A84C"/>
          </a:solidFill>
          <a:ln/>
        </p:spPr>
      </p:sp>
      <p:sp>
        <p:nvSpPr>
          <p:cNvPr id="64" name="Text 62"/>
          <p:cNvSpPr/>
          <p:nvPr/>
        </p:nvSpPr>
        <p:spPr>
          <a:xfrm>
            <a:off x="4983480" y="4325112"/>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Diversificación empleo más allá del sector estacional</a:t>
            </a:r>
            <a:endParaRPr lang="en-US" sz="880" dirty="0"/>
          </a:p>
        </p:txBody>
      </p:sp>
      <p:sp>
        <p:nvSpPr>
          <p:cNvPr id="65" name="Shape 63"/>
          <p:cNvSpPr/>
          <p:nvPr/>
        </p:nvSpPr>
        <p:spPr>
          <a:xfrm>
            <a:off x="4846320" y="4590288"/>
            <a:ext cx="91440" cy="91440"/>
          </a:xfrm>
          <a:prstGeom prst="rect">
            <a:avLst/>
          </a:prstGeom>
          <a:solidFill>
            <a:srgbClr val="C9A84C"/>
          </a:solidFill>
          <a:ln/>
        </p:spPr>
      </p:sp>
      <p:sp>
        <p:nvSpPr>
          <p:cNvPr id="66" name="Text 64"/>
          <p:cNvSpPr/>
          <p:nvPr/>
        </p:nvSpPr>
        <p:spPr>
          <a:xfrm>
            <a:off x="4983480" y="4535424"/>
            <a:ext cx="3749040" cy="201168"/>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Meta IIGAM: de posición 15 a top 7 en O’Higgins</a:t>
            </a:r>
            <a:endParaRPr lang="en-US" sz="880" dirty="0"/>
          </a:p>
        </p:txBody>
      </p:sp>
      <p:sp>
        <p:nvSpPr>
          <p:cNvPr id="67" name="Text 65"/>
          <p:cNvSpPr/>
          <p:nvPr/>
        </p:nvSpPr>
        <p:spPr>
          <a:xfrm>
            <a:off x="4818888" y="4727448"/>
            <a:ext cx="3931920" cy="128016"/>
          </a:xfrm>
          <a:prstGeom prst="rect">
            <a:avLst/>
          </a:prstGeom>
          <a:noFill/>
          <a:ln/>
        </p:spPr>
        <p:txBody>
          <a:bodyPr wrap="square" lIns="0" tIns="0" rIns="0" bIns="0" rtlCol="0" anchor="ctr"/>
          <a:lstStyle/>
          <a:p>
            <a:pPr algn="l" indent="0" marL="0">
              <a:buNone/>
            </a:pPr>
            <a:r>
              <a:rPr lang="en-US" sz="800" i="1" dirty="0">
                <a:solidFill>
                  <a:srgbClr val="C9A84C"/>
                </a:solidFill>
                <a:latin typeface="Calibri" pitchFamily="34" charset="0"/>
                <a:ea typeface="Calibri" pitchFamily="34" charset="-122"/>
                <a:cs typeface="Calibri" pitchFamily="34" charset="-120"/>
              </a:rPr>
              <a:t>Plazo: 18–36 meses · Requiere alianzas intersectoriales · Define identidad</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Hoja de ruta: tres horizontes de implementación</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La ruta comienza con urgencia legal — sin Horizonte 1 los demás horizontes pierden credibilidad</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798064" cy="3950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798064" cy="59436"/>
          </a:xfrm>
          <a:prstGeom prst="rect">
            <a:avLst/>
          </a:prstGeom>
          <a:solidFill>
            <a:srgbClr val="B83232"/>
          </a:solidFill>
          <a:ln/>
        </p:spPr>
      </p:sp>
      <p:sp>
        <p:nvSpPr>
          <p:cNvPr id="10" name="Shape 8"/>
          <p:cNvSpPr/>
          <p:nvPr/>
        </p:nvSpPr>
        <p:spPr>
          <a:xfrm>
            <a:off x="274320" y="960120"/>
            <a:ext cx="2798064" cy="384048"/>
          </a:xfrm>
          <a:prstGeom prst="rect">
            <a:avLst/>
          </a:prstGeom>
          <a:solidFill>
            <a:srgbClr val="B83232"/>
          </a:solidFill>
          <a:ln/>
          <a:effectLst>
            <a:outerShdw sx="100000" sy="100000" kx="0" ky="0" algn="bl" rotWithShape="0" blurRad="88900" dist="38100" dir="8100000">
              <a:srgbClr val="000000">
                <a:alpha val="10000"/>
              </a:srgbClr>
            </a:outerShdw>
          </a:effectLst>
        </p:spPr>
      </p:sp>
      <p:sp>
        <p:nvSpPr>
          <p:cNvPr id="11" name="Text 9"/>
          <p:cNvSpPr/>
          <p:nvPr/>
        </p:nvSpPr>
        <p:spPr>
          <a:xfrm>
            <a:off x="274320" y="960120"/>
            <a:ext cx="2798064"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HORIZONTE 1</a:t>
            </a:r>
            <a:endParaRPr lang="en-US" sz="900" dirty="0"/>
          </a:p>
        </p:txBody>
      </p:sp>
      <p:sp>
        <p:nvSpPr>
          <p:cNvPr id="12" name="Text 10"/>
          <p:cNvSpPr/>
          <p:nvPr/>
        </p:nvSpPr>
        <p:spPr>
          <a:xfrm>
            <a:off x="365760" y="1371600"/>
            <a:ext cx="2615184" cy="256032"/>
          </a:xfrm>
          <a:prstGeom prst="rect">
            <a:avLst/>
          </a:prstGeom>
          <a:noFill/>
          <a:ln/>
        </p:spPr>
        <p:txBody>
          <a:bodyPr wrap="square" lIns="508" tIns="508" rIns="508" bIns="508" rtlCol="0" anchor="t"/>
          <a:lstStyle/>
          <a:p>
            <a:pPr algn="just" indent="0" marL="0">
              <a:buNone/>
            </a:pPr>
            <a:r>
              <a:rPr lang="en-US" sz="880" i="1" dirty="0">
                <a:solidFill>
                  <a:srgbClr val="64748B"/>
                </a:solidFill>
                <a:latin typeface="Calibri" pitchFamily="34" charset="0"/>
                <a:ea typeface="Calibri" pitchFamily="34" charset="-122"/>
                <a:cs typeface="Calibri" pitchFamily="34" charset="-120"/>
              </a:rPr>
              <a:t>Abr–Oct 2026  ·  Urgencia legal y legitimidad</a:t>
            </a:r>
            <a:endParaRPr lang="en-US" sz="880" dirty="0"/>
          </a:p>
        </p:txBody>
      </p:sp>
      <p:sp>
        <p:nvSpPr>
          <p:cNvPr id="13" name="Shape 11"/>
          <p:cNvSpPr/>
          <p:nvPr/>
        </p:nvSpPr>
        <p:spPr>
          <a:xfrm>
            <a:off x="438912" y="1801368"/>
            <a:ext cx="256032" cy="256032"/>
          </a:xfrm>
          <a:prstGeom prst="oval">
            <a:avLst/>
          </a:prstGeom>
          <a:solidFill>
            <a:srgbClr val="B83232"/>
          </a:solidFill>
          <a:ln/>
        </p:spPr>
      </p:sp>
      <p:sp>
        <p:nvSpPr>
          <p:cNvPr id="14" name="Text 12"/>
          <p:cNvSpPr/>
          <p:nvPr/>
        </p:nvSpPr>
        <p:spPr>
          <a:xfrm>
            <a:off x="438912" y="1801368"/>
            <a:ext cx="256032" cy="256032"/>
          </a:xfrm>
          <a:prstGeom prst="rect">
            <a:avLst/>
          </a:prstGeom>
          <a:noFill/>
          <a:ln/>
        </p:spPr>
        <p:txBody>
          <a:bodyPr wrap="square" rtlCol="0" anchor="ctr"/>
          <a:lstStyle/>
          <a:p>
            <a:pPr algn="ctr" indent="0" marL="0">
              <a:buNone/>
            </a:pPr>
            <a:r>
              <a:rPr lang="en-US" sz="850" b="1" dirty="0">
                <a:solidFill>
                  <a:srgbClr val="FFFFFF"/>
                </a:solidFill>
              </a:rPr>
              <a:t>1</a:t>
            </a:r>
            <a:endParaRPr lang="en-US" sz="850" dirty="0"/>
          </a:p>
        </p:txBody>
      </p:sp>
      <p:sp>
        <p:nvSpPr>
          <p:cNvPr id="15" name="Text 13"/>
          <p:cNvSpPr/>
          <p:nvPr/>
        </p:nvSpPr>
        <p:spPr>
          <a:xfrm>
            <a:off x="777240" y="171907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Protocolo Karin: 6 brechas cerradas</a:t>
            </a:r>
            <a:endParaRPr lang="en-US" sz="980" dirty="0"/>
          </a:p>
        </p:txBody>
      </p:sp>
      <p:sp>
        <p:nvSpPr>
          <p:cNvPr id="16" name="Shape 14"/>
          <p:cNvSpPr/>
          <p:nvPr/>
        </p:nvSpPr>
        <p:spPr>
          <a:xfrm>
            <a:off x="438912" y="2459736"/>
            <a:ext cx="256032" cy="256032"/>
          </a:xfrm>
          <a:prstGeom prst="oval">
            <a:avLst/>
          </a:prstGeom>
          <a:solidFill>
            <a:srgbClr val="B83232"/>
          </a:solidFill>
          <a:ln/>
        </p:spPr>
      </p:sp>
      <p:sp>
        <p:nvSpPr>
          <p:cNvPr id="17" name="Text 15"/>
          <p:cNvSpPr/>
          <p:nvPr/>
        </p:nvSpPr>
        <p:spPr>
          <a:xfrm>
            <a:off x="438912" y="2459736"/>
            <a:ext cx="256032" cy="256032"/>
          </a:xfrm>
          <a:prstGeom prst="rect">
            <a:avLst/>
          </a:prstGeom>
          <a:noFill/>
          <a:ln/>
        </p:spPr>
        <p:txBody>
          <a:bodyPr wrap="square" rtlCol="0" anchor="ctr"/>
          <a:lstStyle/>
          <a:p>
            <a:pPr algn="ctr" indent="0" marL="0">
              <a:buNone/>
            </a:pPr>
            <a:r>
              <a:rPr lang="en-US" sz="850" b="1" dirty="0">
                <a:solidFill>
                  <a:srgbClr val="FFFFFF"/>
                </a:solidFill>
              </a:rPr>
              <a:t>2</a:t>
            </a:r>
            <a:endParaRPr lang="en-US" sz="850" dirty="0"/>
          </a:p>
        </p:txBody>
      </p:sp>
      <p:sp>
        <p:nvSpPr>
          <p:cNvPr id="18" name="Text 16"/>
          <p:cNvSpPr/>
          <p:nvPr/>
        </p:nvSpPr>
        <p:spPr>
          <a:xfrm>
            <a:off x="777240" y="2377440"/>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Código de Ética Municipal aprobado</a:t>
            </a:r>
            <a:endParaRPr lang="en-US" sz="980" dirty="0"/>
          </a:p>
        </p:txBody>
      </p:sp>
      <p:sp>
        <p:nvSpPr>
          <p:cNvPr id="19" name="Shape 17"/>
          <p:cNvSpPr/>
          <p:nvPr/>
        </p:nvSpPr>
        <p:spPr>
          <a:xfrm>
            <a:off x="438912" y="3118104"/>
            <a:ext cx="256032" cy="256032"/>
          </a:xfrm>
          <a:prstGeom prst="oval">
            <a:avLst/>
          </a:prstGeom>
          <a:solidFill>
            <a:srgbClr val="B83232"/>
          </a:solidFill>
          <a:ln/>
        </p:spPr>
      </p:sp>
      <p:sp>
        <p:nvSpPr>
          <p:cNvPr id="20" name="Text 18"/>
          <p:cNvSpPr/>
          <p:nvPr/>
        </p:nvSpPr>
        <p:spPr>
          <a:xfrm>
            <a:off x="438912" y="3118104"/>
            <a:ext cx="256032" cy="256032"/>
          </a:xfrm>
          <a:prstGeom prst="rect">
            <a:avLst/>
          </a:prstGeom>
          <a:noFill/>
          <a:ln/>
        </p:spPr>
        <p:txBody>
          <a:bodyPr wrap="square" rtlCol="0" anchor="ctr"/>
          <a:lstStyle/>
          <a:p>
            <a:pPr algn="ctr" indent="0" marL="0">
              <a:buNone/>
            </a:pPr>
            <a:r>
              <a:rPr lang="en-US" sz="850" b="1" dirty="0">
                <a:solidFill>
                  <a:srgbClr val="FFFFFF"/>
                </a:solidFill>
              </a:rPr>
              <a:t>3</a:t>
            </a:r>
            <a:endParaRPr lang="en-US" sz="850" dirty="0"/>
          </a:p>
        </p:txBody>
      </p:sp>
      <p:sp>
        <p:nvSpPr>
          <p:cNvPr id="21" name="Text 19"/>
          <p:cNvSpPr/>
          <p:nvPr/>
        </p:nvSpPr>
        <p:spPr>
          <a:xfrm>
            <a:off x="777240" y="3035808"/>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100% dotación capacitada en Ley Karin</a:t>
            </a:r>
            <a:endParaRPr lang="en-US" sz="980" dirty="0"/>
          </a:p>
        </p:txBody>
      </p:sp>
      <p:sp>
        <p:nvSpPr>
          <p:cNvPr id="22" name="Shape 20"/>
          <p:cNvSpPr/>
          <p:nvPr/>
        </p:nvSpPr>
        <p:spPr>
          <a:xfrm>
            <a:off x="438912" y="3776472"/>
            <a:ext cx="256032" cy="256032"/>
          </a:xfrm>
          <a:prstGeom prst="oval">
            <a:avLst/>
          </a:prstGeom>
          <a:solidFill>
            <a:srgbClr val="B83232"/>
          </a:solidFill>
          <a:ln/>
        </p:spPr>
      </p:sp>
      <p:sp>
        <p:nvSpPr>
          <p:cNvPr id="23" name="Text 21"/>
          <p:cNvSpPr/>
          <p:nvPr/>
        </p:nvSpPr>
        <p:spPr>
          <a:xfrm>
            <a:off x="438912" y="3776472"/>
            <a:ext cx="256032" cy="256032"/>
          </a:xfrm>
          <a:prstGeom prst="rect">
            <a:avLst/>
          </a:prstGeom>
          <a:noFill/>
          <a:ln/>
        </p:spPr>
        <p:txBody>
          <a:bodyPr wrap="square" rtlCol="0" anchor="ctr"/>
          <a:lstStyle/>
          <a:p>
            <a:pPr algn="ctr" indent="0" marL="0">
              <a:buNone/>
            </a:pPr>
            <a:r>
              <a:rPr lang="en-US" sz="850" b="1" dirty="0">
                <a:solidFill>
                  <a:srgbClr val="FFFFFF"/>
                </a:solidFill>
              </a:rPr>
              <a:t>4</a:t>
            </a:r>
            <a:endParaRPr lang="en-US" sz="850" dirty="0"/>
          </a:p>
        </p:txBody>
      </p:sp>
      <p:sp>
        <p:nvSpPr>
          <p:cNvPr id="24" name="Text 22"/>
          <p:cNvSpPr/>
          <p:nvPr/>
        </p:nvSpPr>
        <p:spPr>
          <a:xfrm>
            <a:off x="777240" y="3694176"/>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COSOC activado: 1.ª sesión y acta</a:t>
            </a:r>
            <a:endParaRPr lang="en-US" sz="980" dirty="0"/>
          </a:p>
        </p:txBody>
      </p:sp>
      <p:sp>
        <p:nvSpPr>
          <p:cNvPr id="25" name="Shape 23"/>
          <p:cNvSpPr/>
          <p:nvPr/>
        </p:nvSpPr>
        <p:spPr>
          <a:xfrm>
            <a:off x="438912" y="4434840"/>
            <a:ext cx="256032" cy="256032"/>
          </a:xfrm>
          <a:prstGeom prst="oval">
            <a:avLst/>
          </a:prstGeom>
          <a:solidFill>
            <a:srgbClr val="B83232"/>
          </a:solidFill>
          <a:ln/>
        </p:spPr>
      </p:sp>
      <p:sp>
        <p:nvSpPr>
          <p:cNvPr id="26" name="Text 24"/>
          <p:cNvSpPr/>
          <p:nvPr/>
        </p:nvSpPr>
        <p:spPr>
          <a:xfrm>
            <a:off x="438912" y="4434840"/>
            <a:ext cx="256032" cy="256032"/>
          </a:xfrm>
          <a:prstGeom prst="rect">
            <a:avLst/>
          </a:prstGeom>
          <a:noFill/>
          <a:ln/>
        </p:spPr>
        <p:txBody>
          <a:bodyPr wrap="square" rtlCol="0" anchor="ctr"/>
          <a:lstStyle/>
          <a:p>
            <a:pPr algn="ctr" indent="0" marL="0">
              <a:buNone/>
            </a:pPr>
            <a:r>
              <a:rPr lang="en-US" sz="850" b="1" dirty="0">
                <a:solidFill>
                  <a:srgbClr val="FFFFFF"/>
                </a:solidFill>
              </a:rPr>
              <a:t>5</a:t>
            </a:r>
            <a:endParaRPr lang="en-US" sz="850" dirty="0"/>
          </a:p>
        </p:txBody>
      </p:sp>
      <p:sp>
        <p:nvSpPr>
          <p:cNvPr id="27" name="Text 25"/>
          <p:cNvSpPr/>
          <p:nvPr/>
        </p:nvSpPr>
        <p:spPr>
          <a:xfrm>
            <a:off x="777240" y="4352544"/>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Tablero de 10 KPIs operativo</a:t>
            </a:r>
            <a:endParaRPr lang="en-US" sz="980" dirty="0"/>
          </a:p>
        </p:txBody>
      </p:sp>
      <p:sp>
        <p:nvSpPr>
          <p:cNvPr id="28" name="Shape 26"/>
          <p:cNvSpPr/>
          <p:nvPr/>
        </p:nvSpPr>
        <p:spPr>
          <a:xfrm>
            <a:off x="438912" y="5093208"/>
            <a:ext cx="256032" cy="256032"/>
          </a:xfrm>
          <a:prstGeom prst="oval">
            <a:avLst/>
          </a:prstGeom>
          <a:solidFill>
            <a:srgbClr val="B83232"/>
          </a:solidFill>
          <a:ln/>
        </p:spPr>
      </p:sp>
      <p:sp>
        <p:nvSpPr>
          <p:cNvPr id="29" name="Text 27"/>
          <p:cNvSpPr/>
          <p:nvPr/>
        </p:nvSpPr>
        <p:spPr>
          <a:xfrm>
            <a:off x="438912" y="5093208"/>
            <a:ext cx="256032" cy="256032"/>
          </a:xfrm>
          <a:prstGeom prst="rect">
            <a:avLst/>
          </a:prstGeom>
          <a:noFill/>
          <a:ln/>
        </p:spPr>
        <p:txBody>
          <a:bodyPr wrap="square" rtlCol="0" anchor="ctr"/>
          <a:lstStyle/>
          <a:p>
            <a:pPr algn="ctr" indent="0" marL="0">
              <a:buNone/>
            </a:pPr>
            <a:r>
              <a:rPr lang="en-US" sz="850" b="1" dirty="0">
                <a:solidFill>
                  <a:srgbClr val="FFFFFF"/>
                </a:solidFill>
              </a:rPr>
              <a:t>6</a:t>
            </a:r>
            <a:endParaRPr lang="en-US" sz="850" dirty="0"/>
          </a:p>
        </p:txBody>
      </p:sp>
      <p:sp>
        <p:nvSpPr>
          <p:cNvPr id="30" name="Text 28"/>
          <p:cNvSpPr/>
          <p:nvPr/>
        </p:nvSpPr>
        <p:spPr>
          <a:xfrm>
            <a:off x="777240" y="501091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Consejo de Integridad: primera sesión</a:t>
            </a:r>
            <a:endParaRPr lang="en-US" sz="980" dirty="0"/>
          </a:p>
        </p:txBody>
      </p:sp>
      <p:sp>
        <p:nvSpPr>
          <p:cNvPr id="31" name="Shape 29"/>
          <p:cNvSpPr/>
          <p:nvPr/>
        </p:nvSpPr>
        <p:spPr>
          <a:xfrm>
            <a:off x="3218688" y="960120"/>
            <a:ext cx="2798064" cy="3950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2" name="Shape 30"/>
          <p:cNvSpPr/>
          <p:nvPr/>
        </p:nvSpPr>
        <p:spPr>
          <a:xfrm>
            <a:off x="3218688" y="960120"/>
            <a:ext cx="2798064" cy="59436"/>
          </a:xfrm>
          <a:prstGeom prst="rect">
            <a:avLst/>
          </a:prstGeom>
          <a:solidFill>
            <a:srgbClr val="1F3864"/>
          </a:solidFill>
          <a:ln/>
        </p:spPr>
      </p:sp>
      <p:sp>
        <p:nvSpPr>
          <p:cNvPr id="33" name="Shape 31"/>
          <p:cNvSpPr/>
          <p:nvPr/>
        </p:nvSpPr>
        <p:spPr>
          <a:xfrm>
            <a:off x="3218688" y="960120"/>
            <a:ext cx="2798064" cy="384048"/>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34" name="Text 32"/>
          <p:cNvSpPr/>
          <p:nvPr/>
        </p:nvSpPr>
        <p:spPr>
          <a:xfrm>
            <a:off x="3218688" y="960120"/>
            <a:ext cx="2798064"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HORIZONTE 2</a:t>
            </a:r>
            <a:endParaRPr lang="en-US" sz="900" dirty="0"/>
          </a:p>
        </p:txBody>
      </p:sp>
      <p:sp>
        <p:nvSpPr>
          <p:cNvPr id="35" name="Text 33"/>
          <p:cNvSpPr/>
          <p:nvPr/>
        </p:nvSpPr>
        <p:spPr>
          <a:xfrm>
            <a:off x="3310128" y="1371600"/>
            <a:ext cx="2615184" cy="256032"/>
          </a:xfrm>
          <a:prstGeom prst="rect">
            <a:avLst/>
          </a:prstGeom>
          <a:noFill/>
          <a:ln/>
        </p:spPr>
        <p:txBody>
          <a:bodyPr wrap="square" lIns="508" tIns="508" rIns="508" bIns="508" rtlCol="0" anchor="t"/>
          <a:lstStyle/>
          <a:p>
            <a:pPr algn="just" indent="0" marL="0">
              <a:buNone/>
            </a:pPr>
            <a:r>
              <a:rPr lang="en-US" sz="880" i="1" dirty="0">
                <a:solidFill>
                  <a:srgbClr val="64748B"/>
                </a:solidFill>
                <a:latin typeface="Calibri" pitchFamily="34" charset="0"/>
                <a:ea typeface="Calibri" pitchFamily="34" charset="-122"/>
                <a:cs typeface="Calibri" pitchFamily="34" charset="-120"/>
              </a:rPr>
              <a:t>Oct 2026–Abr 2027  ·  Arquitectura institucional</a:t>
            </a:r>
            <a:endParaRPr lang="en-US" sz="880" dirty="0"/>
          </a:p>
        </p:txBody>
      </p:sp>
      <p:sp>
        <p:nvSpPr>
          <p:cNvPr id="36" name="Shape 34"/>
          <p:cNvSpPr/>
          <p:nvPr/>
        </p:nvSpPr>
        <p:spPr>
          <a:xfrm>
            <a:off x="3383280" y="1801368"/>
            <a:ext cx="256032" cy="256032"/>
          </a:xfrm>
          <a:prstGeom prst="oval">
            <a:avLst/>
          </a:prstGeom>
          <a:solidFill>
            <a:srgbClr val="1F3864"/>
          </a:solidFill>
          <a:ln/>
        </p:spPr>
      </p:sp>
      <p:sp>
        <p:nvSpPr>
          <p:cNvPr id="37" name="Text 35"/>
          <p:cNvSpPr/>
          <p:nvPr/>
        </p:nvSpPr>
        <p:spPr>
          <a:xfrm>
            <a:off x="3383280" y="1801368"/>
            <a:ext cx="256032" cy="256032"/>
          </a:xfrm>
          <a:prstGeom prst="rect">
            <a:avLst/>
          </a:prstGeom>
          <a:noFill/>
          <a:ln/>
        </p:spPr>
        <p:txBody>
          <a:bodyPr wrap="square" rtlCol="0" anchor="ctr"/>
          <a:lstStyle/>
          <a:p>
            <a:pPr algn="ctr" indent="0" marL="0">
              <a:buNone/>
            </a:pPr>
            <a:r>
              <a:rPr lang="en-US" sz="850" b="1" dirty="0">
                <a:solidFill>
                  <a:srgbClr val="FFFFFF"/>
                </a:solidFill>
              </a:rPr>
              <a:t>1</a:t>
            </a:r>
            <a:endParaRPr lang="en-US" sz="850" dirty="0"/>
          </a:p>
        </p:txBody>
      </p:sp>
      <p:sp>
        <p:nvSpPr>
          <p:cNvPr id="38" name="Text 36"/>
          <p:cNvSpPr/>
          <p:nvPr/>
        </p:nvSpPr>
        <p:spPr>
          <a:xfrm>
            <a:off x="3721608" y="171907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Unidad de formulación de proyectos creada</a:t>
            </a:r>
            <a:endParaRPr lang="en-US" sz="980" dirty="0"/>
          </a:p>
        </p:txBody>
      </p:sp>
      <p:sp>
        <p:nvSpPr>
          <p:cNvPr id="39" name="Shape 37"/>
          <p:cNvSpPr/>
          <p:nvPr/>
        </p:nvSpPr>
        <p:spPr>
          <a:xfrm>
            <a:off x="3383280" y="2459736"/>
            <a:ext cx="256032" cy="256032"/>
          </a:xfrm>
          <a:prstGeom prst="oval">
            <a:avLst/>
          </a:prstGeom>
          <a:solidFill>
            <a:srgbClr val="1F3864"/>
          </a:solidFill>
          <a:ln/>
        </p:spPr>
      </p:sp>
      <p:sp>
        <p:nvSpPr>
          <p:cNvPr id="40" name="Text 38"/>
          <p:cNvSpPr/>
          <p:nvPr/>
        </p:nvSpPr>
        <p:spPr>
          <a:xfrm>
            <a:off x="3383280" y="2459736"/>
            <a:ext cx="256032" cy="256032"/>
          </a:xfrm>
          <a:prstGeom prst="rect">
            <a:avLst/>
          </a:prstGeom>
          <a:noFill/>
          <a:ln/>
        </p:spPr>
        <p:txBody>
          <a:bodyPr wrap="square" rtlCol="0" anchor="ctr"/>
          <a:lstStyle/>
          <a:p>
            <a:pPr algn="ctr" indent="0" marL="0">
              <a:buNone/>
            </a:pPr>
            <a:r>
              <a:rPr lang="en-US" sz="850" b="1" dirty="0">
                <a:solidFill>
                  <a:srgbClr val="FFFFFF"/>
                </a:solidFill>
              </a:rPr>
              <a:t>2</a:t>
            </a:r>
            <a:endParaRPr lang="en-US" sz="850" dirty="0"/>
          </a:p>
        </p:txBody>
      </p:sp>
      <p:sp>
        <p:nvSpPr>
          <p:cNvPr id="41" name="Text 39"/>
          <p:cNvSpPr/>
          <p:nvPr/>
        </p:nvSpPr>
        <p:spPr>
          <a:xfrm>
            <a:off x="3721608" y="2377440"/>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PACCC articulado con presupuesto asignado</a:t>
            </a:r>
            <a:endParaRPr lang="en-US" sz="980" dirty="0"/>
          </a:p>
        </p:txBody>
      </p:sp>
      <p:sp>
        <p:nvSpPr>
          <p:cNvPr id="42" name="Shape 40"/>
          <p:cNvSpPr/>
          <p:nvPr/>
        </p:nvSpPr>
        <p:spPr>
          <a:xfrm>
            <a:off x="3383280" y="3118104"/>
            <a:ext cx="256032" cy="256032"/>
          </a:xfrm>
          <a:prstGeom prst="oval">
            <a:avLst/>
          </a:prstGeom>
          <a:solidFill>
            <a:srgbClr val="1F3864"/>
          </a:solidFill>
          <a:ln/>
        </p:spPr>
      </p:sp>
      <p:sp>
        <p:nvSpPr>
          <p:cNvPr id="43" name="Text 41"/>
          <p:cNvSpPr/>
          <p:nvPr/>
        </p:nvSpPr>
        <p:spPr>
          <a:xfrm>
            <a:off x="3383280" y="3118104"/>
            <a:ext cx="256032" cy="256032"/>
          </a:xfrm>
          <a:prstGeom prst="rect">
            <a:avLst/>
          </a:prstGeom>
          <a:noFill/>
          <a:ln/>
        </p:spPr>
        <p:txBody>
          <a:bodyPr wrap="square" rtlCol="0" anchor="ctr"/>
          <a:lstStyle/>
          <a:p>
            <a:pPr algn="ctr" indent="0" marL="0">
              <a:buNone/>
            </a:pPr>
            <a:r>
              <a:rPr lang="en-US" sz="850" b="1" dirty="0">
                <a:solidFill>
                  <a:srgbClr val="FFFFFF"/>
                </a:solidFill>
              </a:rPr>
              <a:t>3</a:t>
            </a:r>
            <a:endParaRPr lang="en-US" sz="850" dirty="0"/>
          </a:p>
        </p:txBody>
      </p:sp>
      <p:sp>
        <p:nvSpPr>
          <p:cNvPr id="44" name="Text 42"/>
          <p:cNvSpPr/>
          <p:nvPr/>
        </p:nvSpPr>
        <p:spPr>
          <a:xfrm>
            <a:off x="3721608" y="3035808"/>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Plan Regulador Comunal en actualización</a:t>
            </a:r>
            <a:endParaRPr lang="en-US" sz="980" dirty="0"/>
          </a:p>
        </p:txBody>
      </p:sp>
      <p:sp>
        <p:nvSpPr>
          <p:cNvPr id="45" name="Shape 43"/>
          <p:cNvSpPr/>
          <p:nvPr/>
        </p:nvSpPr>
        <p:spPr>
          <a:xfrm>
            <a:off x="3383280" y="3776472"/>
            <a:ext cx="256032" cy="256032"/>
          </a:xfrm>
          <a:prstGeom prst="oval">
            <a:avLst/>
          </a:prstGeom>
          <a:solidFill>
            <a:srgbClr val="1F3864"/>
          </a:solidFill>
          <a:ln/>
        </p:spPr>
      </p:sp>
      <p:sp>
        <p:nvSpPr>
          <p:cNvPr id="46" name="Text 44"/>
          <p:cNvSpPr/>
          <p:nvPr/>
        </p:nvSpPr>
        <p:spPr>
          <a:xfrm>
            <a:off x="3383280" y="3776472"/>
            <a:ext cx="256032" cy="256032"/>
          </a:xfrm>
          <a:prstGeom prst="rect">
            <a:avLst/>
          </a:prstGeom>
          <a:noFill/>
          <a:ln/>
        </p:spPr>
        <p:txBody>
          <a:bodyPr wrap="square" rtlCol="0" anchor="ctr"/>
          <a:lstStyle/>
          <a:p>
            <a:pPr algn="ctr" indent="0" marL="0">
              <a:buNone/>
            </a:pPr>
            <a:r>
              <a:rPr lang="en-US" sz="850" b="1" dirty="0">
                <a:solidFill>
                  <a:srgbClr val="FFFFFF"/>
                </a:solidFill>
              </a:rPr>
              <a:t>4</a:t>
            </a:r>
            <a:endParaRPr lang="en-US" sz="850" dirty="0"/>
          </a:p>
        </p:txBody>
      </p:sp>
      <p:sp>
        <p:nvSpPr>
          <p:cNvPr id="47" name="Text 45"/>
          <p:cNvSpPr/>
          <p:nvPr/>
        </p:nvSpPr>
        <p:spPr>
          <a:xfrm>
            <a:off x="3721608" y="3694176"/>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Plan Comunal de Seguridad Hídrica</a:t>
            </a:r>
            <a:endParaRPr lang="en-US" sz="980" dirty="0"/>
          </a:p>
        </p:txBody>
      </p:sp>
      <p:sp>
        <p:nvSpPr>
          <p:cNvPr id="48" name="Shape 46"/>
          <p:cNvSpPr/>
          <p:nvPr/>
        </p:nvSpPr>
        <p:spPr>
          <a:xfrm>
            <a:off x="3383280" y="4434840"/>
            <a:ext cx="256032" cy="256032"/>
          </a:xfrm>
          <a:prstGeom prst="oval">
            <a:avLst/>
          </a:prstGeom>
          <a:solidFill>
            <a:srgbClr val="1F3864"/>
          </a:solidFill>
          <a:ln/>
        </p:spPr>
      </p:sp>
      <p:sp>
        <p:nvSpPr>
          <p:cNvPr id="49" name="Text 47"/>
          <p:cNvSpPr/>
          <p:nvPr/>
        </p:nvSpPr>
        <p:spPr>
          <a:xfrm>
            <a:off x="3383280" y="4434840"/>
            <a:ext cx="256032" cy="256032"/>
          </a:xfrm>
          <a:prstGeom prst="rect">
            <a:avLst/>
          </a:prstGeom>
          <a:noFill/>
          <a:ln/>
        </p:spPr>
        <p:txBody>
          <a:bodyPr wrap="square" rtlCol="0" anchor="ctr"/>
          <a:lstStyle/>
          <a:p>
            <a:pPr algn="ctr" indent="0" marL="0">
              <a:buNone/>
            </a:pPr>
            <a:r>
              <a:rPr lang="en-US" sz="850" b="1" dirty="0">
                <a:solidFill>
                  <a:srgbClr val="FFFFFF"/>
                </a:solidFill>
              </a:rPr>
              <a:t>5</a:t>
            </a:r>
            <a:endParaRPr lang="en-US" sz="850" dirty="0"/>
          </a:p>
        </p:txBody>
      </p:sp>
      <p:sp>
        <p:nvSpPr>
          <p:cNvPr id="50" name="Text 48"/>
          <p:cNvSpPr/>
          <p:nvPr/>
        </p:nvSpPr>
        <p:spPr>
          <a:xfrm>
            <a:off x="3721608" y="4352544"/>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Postulación a 3 proyectos FNDR/ERD</a:t>
            </a:r>
            <a:endParaRPr lang="en-US" sz="980" dirty="0"/>
          </a:p>
        </p:txBody>
      </p:sp>
      <p:sp>
        <p:nvSpPr>
          <p:cNvPr id="51" name="Shape 49"/>
          <p:cNvSpPr/>
          <p:nvPr/>
        </p:nvSpPr>
        <p:spPr>
          <a:xfrm>
            <a:off x="3383280" y="5093208"/>
            <a:ext cx="256032" cy="256032"/>
          </a:xfrm>
          <a:prstGeom prst="oval">
            <a:avLst/>
          </a:prstGeom>
          <a:solidFill>
            <a:srgbClr val="1F3864"/>
          </a:solidFill>
          <a:ln/>
        </p:spPr>
      </p:sp>
      <p:sp>
        <p:nvSpPr>
          <p:cNvPr id="52" name="Text 50"/>
          <p:cNvSpPr/>
          <p:nvPr/>
        </p:nvSpPr>
        <p:spPr>
          <a:xfrm>
            <a:off x="3383280" y="5093208"/>
            <a:ext cx="256032" cy="256032"/>
          </a:xfrm>
          <a:prstGeom prst="rect">
            <a:avLst/>
          </a:prstGeom>
          <a:noFill/>
          <a:ln/>
        </p:spPr>
        <p:txBody>
          <a:bodyPr wrap="square" rtlCol="0" anchor="ctr"/>
          <a:lstStyle/>
          <a:p>
            <a:pPr algn="ctr" indent="0" marL="0">
              <a:buNone/>
            </a:pPr>
            <a:r>
              <a:rPr lang="en-US" sz="850" b="1" dirty="0">
                <a:solidFill>
                  <a:srgbClr val="FFFFFF"/>
                </a:solidFill>
              </a:rPr>
              <a:t>6</a:t>
            </a:r>
            <a:endParaRPr lang="en-US" sz="850" dirty="0"/>
          </a:p>
        </p:txBody>
      </p:sp>
      <p:sp>
        <p:nvSpPr>
          <p:cNvPr id="53" name="Text 51"/>
          <p:cNvSpPr/>
          <p:nvPr/>
        </p:nvSpPr>
        <p:spPr>
          <a:xfrm>
            <a:off x="3721608" y="501091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1.ª encuesta de satisfacción ciudadana</a:t>
            </a:r>
            <a:endParaRPr lang="en-US" sz="980" dirty="0"/>
          </a:p>
        </p:txBody>
      </p:sp>
      <p:sp>
        <p:nvSpPr>
          <p:cNvPr id="54" name="Shape 52"/>
          <p:cNvSpPr/>
          <p:nvPr/>
        </p:nvSpPr>
        <p:spPr>
          <a:xfrm>
            <a:off x="6163056" y="960120"/>
            <a:ext cx="2798064" cy="39502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55" name="Shape 53"/>
          <p:cNvSpPr/>
          <p:nvPr/>
        </p:nvSpPr>
        <p:spPr>
          <a:xfrm>
            <a:off x="6163056" y="960120"/>
            <a:ext cx="2798064" cy="59436"/>
          </a:xfrm>
          <a:prstGeom prst="rect">
            <a:avLst/>
          </a:prstGeom>
          <a:solidFill>
            <a:srgbClr val="0A6B65"/>
          </a:solidFill>
          <a:ln/>
        </p:spPr>
      </p:sp>
      <p:sp>
        <p:nvSpPr>
          <p:cNvPr id="56" name="Shape 54"/>
          <p:cNvSpPr/>
          <p:nvPr/>
        </p:nvSpPr>
        <p:spPr>
          <a:xfrm>
            <a:off x="6163056" y="960120"/>
            <a:ext cx="2798064" cy="384048"/>
          </a:xfrm>
          <a:prstGeom prst="rect">
            <a:avLst/>
          </a:prstGeom>
          <a:solidFill>
            <a:srgbClr val="0A6B65"/>
          </a:solidFill>
          <a:ln/>
          <a:effectLst>
            <a:outerShdw sx="100000" sy="100000" kx="0" ky="0" algn="bl" rotWithShape="0" blurRad="88900" dist="38100" dir="8100000">
              <a:srgbClr val="000000">
                <a:alpha val="10000"/>
              </a:srgbClr>
            </a:outerShdw>
          </a:effectLst>
        </p:spPr>
      </p:sp>
      <p:sp>
        <p:nvSpPr>
          <p:cNvPr id="57" name="Text 55"/>
          <p:cNvSpPr/>
          <p:nvPr/>
        </p:nvSpPr>
        <p:spPr>
          <a:xfrm>
            <a:off x="6163056" y="960120"/>
            <a:ext cx="2798064"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HORIZONTE 3</a:t>
            </a:r>
            <a:endParaRPr lang="en-US" sz="900" dirty="0"/>
          </a:p>
        </p:txBody>
      </p:sp>
      <p:sp>
        <p:nvSpPr>
          <p:cNvPr id="58" name="Text 56"/>
          <p:cNvSpPr/>
          <p:nvPr/>
        </p:nvSpPr>
        <p:spPr>
          <a:xfrm>
            <a:off x="6254496" y="1371600"/>
            <a:ext cx="2615184" cy="256032"/>
          </a:xfrm>
          <a:prstGeom prst="rect">
            <a:avLst/>
          </a:prstGeom>
          <a:noFill/>
          <a:ln/>
        </p:spPr>
        <p:txBody>
          <a:bodyPr wrap="square" lIns="508" tIns="508" rIns="508" bIns="508" rtlCol="0" anchor="t"/>
          <a:lstStyle/>
          <a:p>
            <a:pPr algn="just" indent="0" marL="0">
              <a:buNone/>
            </a:pPr>
            <a:r>
              <a:rPr lang="en-US" sz="880" i="1" dirty="0">
                <a:solidFill>
                  <a:srgbClr val="64748B"/>
                </a:solidFill>
                <a:latin typeface="Calibri" pitchFamily="34" charset="0"/>
                <a:ea typeface="Calibri" pitchFamily="34" charset="-122"/>
                <a:cs typeface="Calibri" pitchFamily="34" charset="-120"/>
              </a:rPr>
              <a:t>Abr 2027–Abr 2028  ·  Consolidación</a:t>
            </a:r>
            <a:endParaRPr lang="en-US" sz="880" dirty="0"/>
          </a:p>
        </p:txBody>
      </p:sp>
      <p:sp>
        <p:nvSpPr>
          <p:cNvPr id="59" name="Shape 57"/>
          <p:cNvSpPr/>
          <p:nvPr/>
        </p:nvSpPr>
        <p:spPr>
          <a:xfrm>
            <a:off x="6327648" y="1801368"/>
            <a:ext cx="256032" cy="256032"/>
          </a:xfrm>
          <a:prstGeom prst="oval">
            <a:avLst/>
          </a:prstGeom>
          <a:solidFill>
            <a:srgbClr val="0A6B65"/>
          </a:solidFill>
          <a:ln/>
        </p:spPr>
      </p:sp>
      <p:sp>
        <p:nvSpPr>
          <p:cNvPr id="60" name="Text 58"/>
          <p:cNvSpPr/>
          <p:nvPr/>
        </p:nvSpPr>
        <p:spPr>
          <a:xfrm>
            <a:off x="6327648" y="1801368"/>
            <a:ext cx="256032" cy="256032"/>
          </a:xfrm>
          <a:prstGeom prst="rect">
            <a:avLst/>
          </a:prstGeom>
          <a:noFill/>
          <a:ln/>
        </p:spPr>
        <p:txBody>
          <a:bodyPr wrap="square" rtlCol="0" anchor="ctr"/>
          <a:lstStyle/>
          <a:p>
            <a:pPr algn="ctr" indent="0" marL="0">
              <a:buNone/>
            </a:pPr>
            <a:r>
              <a:rPr lang="en-US" sz="850" b="1" dirty="0">
                <a:solidFill>
                  <a:srgbClr val="FFFFFF"/>
                </a:solidFill>
              </a:rPr>
              <a:t>1</a:t>
            </a:r>
            <a:endParaRPr lang="en-US" sz="850" dirty="0"/>
          </a:p>
        </p:txBody>
      </p:sp>
      <p:sp>
        <p:nvSpPr>
          <p:cNvPr id="61" name="Text 59"/>
          <p:cNvSpPr/>
          <p:nvPr/>
        </p:nvSpPr>
        <p:spPr>
          <a:xfrm>
            <a:off x="6665976" y="171907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Informe Anual de Gestión publicado</a:t>
            </a:r>
            <a:endParaRPr lang="en-US" sz="980" dirty="0"/>
          </a:p>
        </p:txBody>
      </p:sp>
      <p:sp>
        <p:nvSpPr>
          <p:cNvPr id="62" name="Shape 60"/>
          <p:cNvSpPr/>
          <p:nvPr/>
        </p:nvSpPr>
        <p:spPr>
          <a:xfrm>
            <a:off x="6327648" y="2459736"/>
            <a:ext cx="256032" cy="256032"/>
          </a:xfrm>
          <a:prstGeom prst="oval">
            <a:avLst/>
          </a:prstGeom>
          <a:solidFill>
            <a:srgbClr val="0A6B65"/>
          </a:solidFill>
          <a:ln/>
        </p:spPr>
      </p:sp>
      <p:sp>
        <p:nvSpPr>
          <p:cNvPr id="63" name="Text 61"/>
          <p:cNvSpPr/>
          <p:nvPr/>
        </p:nvSpPr>
        <p:spPr>
          <a:xfrm>
            <a:off x="6327648" y="2459736"/>
            <a:ext cx="256032" cy="256032"/>
          </a:xfrm>
          <a:prstGeom prst="rect">
            <a:avLst/>
          </a:prstGeom>
          <a:noFill/>
          <a:ln/>
        </p:spPr>
        <p:txBody>
          <a:bodyPr wrap="square" rtlCol="0" anchor="ctr"/>
          <a:lstStyle/>
          <a:p>
            <a:pPr algn="ctr" indent="0" marL="0">
              <a:buNone/>
            </a:pPr>
            <a:r>
              <a:rPr lang="en-US" sz="850" b="1" dirty="0">
                <a:solidFill>
                  <a:srgbClr val="FFFFFF"/>
                </a:solidFill>
              </a:rPr>
              <a:t>2</a:t>
            </a:r>
            <a:endParaRPr lang="en-US" sz="850" dirty="0"/>
          </a:p>
        </p:txBody>
      </p:sp>
      <p:sp>
        <p:nvSpPr>
          <p:cNvPr id="64" name="Text 62"/>
          <p:cNvSpPr/>
          <p:nvPr/>
        </p:nvSpPr>
        <p:spPr>
          <a:xfrm>
            <a:off x="6665976" y="2377440"/>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Convenio CGR 2027–2028 renovado</a:t>
            </a:r>
            <a:endParaRPr lang="en-US" sz="980" dirty="0"/>
          </a:p>
        </p:txBody>
      </p:sp>
      <p:sp>
        <p:nvSpPr>
          <p:cNvPr id="65" name="Shape 63"/>
          <p:cNvSpPr/>
          <p:nvPr/>
        </p:nvSpPr>
        <p:spPr>
          <a:xfrm>
            <a:off x="6327648" y="3118104"/>
            <a:ext cx="256032" cy="256032"/>
          </a:xfrm>
          <a:prstGeom prst="oval">
            <a:avLst/>
          </a:prstGeom>
          <a:solidFill>
            <a:srgbClr val="0A6B65"/>
          </a:solidFill>
          <a:ln/>
        </p:spPr>
      </p:sp>
      <p:sp>
        <p:nvSpPr>
          <p:cNvPr id="66" name="Text 64"/>
          <p:cNvSpPr/>
          <p:nvPr/>
        </p:nvSpPr>
        <p:spPr>
          <a:xfrm>
            <a:off x="6327648" y="3118104"/>
            <a:ext cx="256032" cy="256032"/>
          </a:xfrm>
          <a:prstGeom prst="rect">
            <a:avLst/>
          </a:prstGeom>
          <a:noFill/>
          <a:ln/>
        </p:spPr>
        <p:txBody>
          <a:bodyPr wrap="square" rtlCol="0" anchor="ctr"/>
          <a:lstStyle/>
          <a:p>
            <a:pPr algn="ctr" indent="0" marL="0">
              <a:buNone/>
            </a:pPr>
            <a:r>
              <a:rPr lang="en-US" sz="850" b="1" dirty="0">
                <a:solidFill>
                  <a:srgbClr val="FFFFFF"/>
                </a:solidFill>
              </a:rPr>
              <a:t>3</a:t>
            </a:r>
            <a:endParaRPr lang="en-US" sz="850" dirty="0"/>
          </a:p>
        </p:txBody>
      </p:sp>
      <p:sp>
        <p:nvSpPr>
          <p:cNvPr id="67" name="Text 65"/>
          <p:cNvSpPr/>
          <p:nvPr/>
        </p:nvSpPr>
        <p:spPr>
          <a:xfrm>
            <a:off x="6665976" y="3035808"/>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Unidad de Cambio Climático activa</a:t>
            </a:r>
            <a:endParaRPr lang="en-US" sz="980" dirty="0"/>
          </a:p>
        </p:txBody>
      </p:sp>
      <p:sp>
        <p:nvSpPr>
          <p:cNvPr id="68" name="Shape 66"/>
          <p:cNvSpPr/>
          <p:nvPr/>
        </p:nvSpPr>
        <p:spPr>
          <a:xfrm>
            <a:off x="6327648" y="3776472"/>
            <a:ext cx="256032" cy="256032"/>
          </a:xfrm>
          <a:prstGeom prst="oval">
            <a:avLst/>
          </a:prstGeom>
          <a:solidFill>
            <a:srgbClr val="0A6B65"/>
          </a:solidFill>
          <a:ln/>
        </p:spPr>
      </p:sp>
      <p:sp>
        <p:nvSpPr>
          <p:cNvPr id="69" name="Text 67"/>
          <p:cNvSpPr/>
          <p:nvPr/>
        </p:nvSpPr>
        <p:spPr>
          <a:xfrm>
            <a:off x="6327648" y="3776472"/>
            <a:ext cx="256032" cy="256032"/>
          </a:xfrm>
          <a:prstGeom prst="rect">
            <a:avLst/>
          </a:prstGeom>
          <a:noFill/>
          <a:ln/>
        </p:spPr>
        <p:txBody>
          <a:bodyPr wrap="square" rtlCol="0" anchor="ctr"/>
          <a:lstStyle/>
          <a:p>
            <a:pPr algn="ctr" indent="0" marL="0">
              <a:buNone/>
            </a:pPr>
            <a:r>
              <a:rPr lang="en-US" sz="850" b="1" dirty="0">
                <a:solidFill>
                  <a:srgbClr val="FFFFFF"/>
                </a:solidFill>
              </a:rPr>
              <a:t>4</a:t>
            </a:r>
            <a:endParaRPr lang="en-US" sz="850" dirty="0"/>
          </a:p>
        </p:txBody>
      </p:sp>
      <p:sp>
        <p:nvSpPr>
          <p:cNvPr id="70" name="Text 68"/>
          <p:cNvSpPr/>
          <p:nvPr/>
        </p:nvSpPr>
        <p:spPr>
          <a:xfrm>
            <a:off x="6665976" y="3694176"/>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3 rutas de movilidad operativas</a:t>
            </a:r>
            <a:endParaRPr lang="en-US" sz="980" dirty="0"/>
          </a:p>
        </p:txBody>
      </p:sp>
      <p:sp>
        <p:nvSpPr>
          <p:cNvPr id="71" name="Shape 69"/>
          <p:cNvSpPr/>
          <p:nvPr/>
        </p:nvSpPr>
        <p:spPr>
          <a:xfrm>
            <a:off x="6327648" y="4434840"/>
            <a:ext cx="256032" cy="256032"/>
          </a:xfrm>
          <a:prstGeom prst="oval">
            <a:avLst/>
          </a:prstGeom>
          <a:solidFill>
            <a:srgbClr val="0A6B65"/>
          </a:solidFill>
          <a:ln/>
        </p:spPr>
      </p:sp>
      <p:sp>
        <p:nvSpPr>
          <p:cNvPr id="72" name="Text 70"/>
          <p:cNvSpPr/>
          <p:nvPr/>
        </p:nvSpPr>
        <p:spPr>
          <a:xfrm>
            <a:off x="6327648" y="4434840"/>
            <a:ext cx="256032" cy="256032"/>
          </a:xfrm>
          <a:prstGeom prst="rect">
            <a:avLst/>
          </a:prstGeom>
          <a:noFill/>
          <a:ln/>
        </p:spPr>
        <p:txBody>
          <a:bodyPr wrap="square" rtlCol="0" anchor="ctr"/>
          <a:lstStyle/>
          <a:p>
            <a:pPr algn="ctr" indent="0" marL="0">
              <a:buNone/>
            </a:pPr>
            <a:r>
              <a:rPr lang="en-US" sz="850" b="1" dirty="0">
                <a:solidFill>
                  <a:srgbClr val="FFFFFF"/>
                </a:solidFill>
              </a:rPr>
              <a:t>5</a:t>
            </a:r>
            <a:endParaRPr lang="en-US" sz="850" dirty="0"/>
          </a:p>
        </p:txBody>
      </p:sp>
      <p:sp>
        <p:nvSpPr>
          <p:cNvPr id="73" name="Text 71"/>
          <p:cNvSpPr/>
          <p:nvPr/>
        </p:nvSpPr>
        <p:spPr>
          <a:xfrm>
            <a:off x="6665976" y="4352544"/>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IIGAM meta: ≤10/33 regional</a:t>
            </a:r>
            <a:endParaRPr lang="en-US" sz="980" dirty="0"/>
          </a:p>
        </p:txBody>
      </p:sp>
      <p:sp>
        <p:nvSpPr>
          <p:cNvPr id="74" name="Shape 72"/>
          <p:cNvSpPr/>
          <p:nvPr/>
        </p:nvSpPr>
        <p:spPr>
          <a:xfrm>
            <a:off x="6327648" y="5093208"/>
            <a:ext cx="256032" cy="256032"/>
          </a:xfrm>
          <a:prstGeom prst="oval">
            <a:avLst/>
          </a:prstGeom>
          <a:solidFill>
            <a:srgbClr val="0A6B65"/>
          </a:solidFill>
          <a:ln/>
        </p:spPr>
      </p:sp>
      <p:sp>
        <p:nvSpPr>
          <p:cNvPr id="75" name="Text 73"/>
          <p:cNvSpPr/>
          <p:nvPr/>
        </p:nvSpPr>
        <p:spPr>
          <a:xfrm>
            <a:off x="6327648" y="5093208"/>
            <a:ext cx="256032" cy="256032"/>
          </a:xfrm>
          <a:prstGeom prst="rect">
            <a:avLst/>
          </a:prstGeom>
          <a:noFill/>
          <a:ln/>
        </p:spPr>
        <p:txBody>
          <a:bodyPr wrap="square" rtlCol="0" anchor="ctr"/>
          <a:lstStyle/>
          <a:p>
            <a:pPr algn="ctr" indent="0" marL="0">
              <a:buNone/>
            </a:pPr>
            <a:r>
              <a:rPr lang="en-US" sz="850" b="1" dirty="0">
                <a:solidFill>
                  <a:srgbClr val="FFFFFF"/>
                </a:solidFill>
              </a:rPr>
              <a:t>6</a:t>
            </a:r>
            <a:endParaRPr lang="en-US" sz="850" dirty="0"/>
          </a:p>
        </p:txBody>
      </p:sp>
      <p:sp>
        <p:nvSpPr>
          <p:cNvPr id="76" name="Text 74"/>
          <p:cNvSpPr/>
          <p:nvPr/>
        </p:nvSpPr>
        <p:spPr>
          <a:xfrm>
            <a:off x="6665976" y="5010912"/>
            <a:ext cx="2395728" cy="594360"/>
          </a:xfrm>
          <a:prstGeom prst="rect">
            <a:avLst/>
          </a:prstGeom>
          <a:noFill/>
          <a:ln/>
        </p:spPr>
        <p:txBody>
          <a:bodyPr wrap="square" lIns="508" tIns="508" rIns="508" bIns="508" rtlCol="0" anchor="t"/>
          <a:lstStyle/>
          <a:p>
            <a:pPr algn="just" indent="0" marL="0">
              <a:buNone/>
            </a:pPr>
            <a:r>
              <a:rPr lang="en-US" sz="980" dirty="0">
                <a:solidFill>
                  <a:srgbClr val="2C3E50"/>
                </a:solidFill>
                <a:latin typeface="Calibri" pitchFamily="34" charset="0"/>
                <a:ea typeface="Calibri" pitchFamily="34" charset="-122"/>
                <a:cs typeface="Calibri" pitchFamily="34" charset="-120"/>
              </a:rPr>
              <a:t>Captación fondos externos ≥9%</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Sistema de M&amp;E — evaluación por horizontes</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Marco de seguimiento, rendión de cuentas y ajuste continuo del PLADECO 2025–2035</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914400"/>
        </p:xfrm>
        <a:graphic>
          <a:graphicData uri="http://schemas.openxmlformats.org/drawingml/2006/table">
            <a:tbl>
              <a:tblPr/>
              <a:tblGrid>
                <a:gridCol w="1280160"/>
                <a:gridCol w="1097280"/>
                <a:gridCol w="2011680"/>
                <a:gridCol w="1828800"/>
                <a:gridCol w="2377440"/>
              </a:tblGrid>
              <a:tr h="530352">
                <a:tc>
                  <a:txBody>
                    <a:bodyPr/>
                    <a:lstStyle/>
                    <a:p>
                      <a:pPr algn="ctr" indent="0" marL="0">
                        <a:buNone/>
                      </a:pPr>
                      <a:r>
                        <a:rPr lang="en-US" sz="900" b="1" dirty="0">
                          <a:solidFill>
                            <a:srgbClr val="FFFFFF"/>
                          </a:solidFill>
                        </a:rPr>
                        <a:t>NIVEL</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rPr>
                        <a:t>FRECUENCIA</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00" b="1" dirty="0">
                          <a:solidFill>
                            <a:srgbClr val="FFFFFF"/>
                          </a:solidFill>
                        </a:rPr>
                        <a:t>RESPONSABLE</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00" b="1" dirty="0">
                          <a:solidFill>
                            <a:srgbClr val="FFFFFF"/>
                          </a:solidFill>
                        </a:rPr>
                        <a:t>INSTRUMENTO</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00" b="1" dirty="0">
                          <a:solidFill>
                            <a:srgbClr val="FFFFFF"/>
                          </a:solidFill>
                        </a:rPr>
                        <a:t>PRODUCTO</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r>
              <a:tr h="530352">
                <a:tc>
                  <a:txBody>
                    <a:bodyPr/>
                    <a:lstStyle/>
                    <a:p>
                      <a:pPr algn="ctr" indent="0" marL="0">
                        <a:buNone/>
                      </a:pPr>
                      <a:r>
                        <a:rPr lang="en-US" sz="900" b="1" dirty="0">
                          <a:solidFill>
                            <a:srgbClr val="FFFFFF"/>
                          </a:solidFill>
                        </a:rPr>
                        <a:t>OPERATIVO</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algn="ctr" indent="0" marL="0">
                        <a:buNone/>
                      </a:pPr>
                      <a:r>
                        <a:rPr lang="en-US" sz="950" dirty="0">
                          <a:solidFill>
                            <a:srgbClr val="2C3E50"/>
                          </a:solidFill>
                        </a:rPr>
                        <a:t>Trimestral</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Directores + SECPLAC</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Ficha avance SINIM</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Informe trimestral al Alcalde</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530352">
                <a:tc>
                  <a:txBody>
                    <a:bodyPr/>
                    <a:lstStyle/>
                    <a:p>
                      <a:pPr algn="ctr" indent="0" marL="0">
                        <a:buNone/>
                      </a:pPr>
                      <a:r>
                        <a:rPr lang="en-US" sz="900" b="1" dirty="0">
                          <a:solidFill>
                            <a:srgbClr val="FFFFFF"/>
                          </a:solidFill>
                        </a:rPr>
                        <a:t>DE PROCESO</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0A6B65"/>
                    </a:solidFill>
                  </a:tcPr>
                </a:tc>
                <a:tc>
                  <a:txBody>
                    <a:bodyPr/>
                    <a:lstStyle/>
                    <a:p>
                      <a:pPr algn="ctr" indent="0" marL="0">
                        <a:buNone/>
                      </a:pPr>
                      <a:r>
                        <a:rPr lang="en-US" sz="950" dirty="0">
                          <a:solidFill>
                            <a:srgbClr val="2C3E50"/>
                          </a:solidFill>
                        </a:rPr>
                        <a:t>Anual (diciembre)</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SECPLAC + Concejo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Tablero KPI actualizado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Informe anual + Cuenta Pública</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530352">
                <a:tc>
                  <a:txBody>
                    <a:bodyPr/>
                    <a:lstStyle/>
                    <a:p>
                      <a:pPr algn="ctr" indent="0" marL="0">
                        <a:buNone/>
                      </a:pPr>
                      <a:r>
                        <a:rPr lang="en-US" sz="900" b="1" dirty="0">
                          <a:solidFill>
                            <a:srgbClr val="FFFFFF"/>
                          </a:solidFill>
                        </a:rPr>
                        <a:t>PARTICIPACIÓN</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A6B42"/>
                    </a:solidFill>
                  </a:tcPr>
                </a:tc>
                <a:tc>
                  <a:txBody>
                    <a:bodyPr/>
                    <a:lstStyle/>
                    <a:p>
                      <a:pPr algn="ctr" indent="0" marL="0">
                        <a:buNone/>
                      </a:pPr>
                      <a:r>
                        <a:rPr lang="en-US" sz="950" dirty="0">
                          <a:solidFill>
                            <a:srgbClr val="2C3E50"/>
                          </a:solidFill>
                        </a:rPr>
                        <a:t>Semestral</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DIDECO + Comité Ciudadano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Encuesta satisfacción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Informe participación + ajuste</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530352">
                <a:tc>
                  <a:txBody>
                    <a:bodyPr/>
                    <a:lstStyle/>
                    <a:p>
                      <a:pPr algn="ctr" indent="0" marL="0">
                        <a:buNone/>
                      </a:pPr>
                      <a:r>
                        <a:rPr lang="en-US" sz="900" b="1" dirty="0">
                          <a:solidFill>
                            <a:srgbClr val="FFFFFF"/>
                          </a:solidFill>
                        </a:rPr>
                        <a:t>INTERMEDIO</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9B6B0A"/>
                    </a:solidFill>
                  </a:tcPr>
                </a:tc>
                <a:tc>
                  <a:txBody>
                    <a:bodyPr/>
                    <a:lstStyle/>
                    <a:p>
                      <a:pPr algn="ctr" indent="0" marL="0">
                        <a:buNone/>
                      </a:pPr>
                      <a:r>
                        <a:rPr lang="en-US" sz="950" dirty="0">
                          <a:solidFill>
                            <a:srgbClr val="2C3E50"/>
                          </a:solidFill>
                        </a:rPr>
                        <a:t>2028</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SECPLAC + consultor externo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Evaluación KPI vs. metas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Informe revisión + ajuste plan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530352">
                <a:tc>
                  <a:txBody>
                    <a:bodyPr/>
                    <a:lstStyle/>
                    <a:p>
                      <a:pPr algn="ctr" indent="0" marL="0">
                        <a:buNone/>
                      </a:pPr>
                      <a:r>
                        <a:rPr lang="en-US" sz="900" b="1" dirty="0">
                          <a:solidFill>
                            <a:srgbClr val="FFFFFF"/>
                          </a:solidFill>
                        </a:rPr>
                        <a:t>IMPACTO FINAL</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B83232"/>
                    </a:solidFill>
                  </a:tcPr>
                </a:tc>
                <a:tc>
                  <a:txBody>
                    <a:bodyPr/>
                    <a:lstStyle/>
                    <a:p>
                      <a:pPr algn="ctr" indent="0" marL="0">
                        <a:buNone/>
                      </a:pPr>
                      <a:r>
                        <a:rPr lang="en-US" sz="950" dirty="0">
                          <a:solidFill>
                            <a:srgbClr val="2C3E50"/>
                          </a:solidFill>
                        </a:rPr>
                        <a:t>2035</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SECPLAC + Auditoría + SUBDERE</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Evaluación DiD</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2C3E50"/>
                          </a:solidFill>
                        </a:rPr>
                        <a:t>Informe final + lecciones aprendidas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bl>
          </a:graphicData>
        </a:graphic>
      </p:graphicFrame>
      <p:sp>
        <p:nvSpPr>
          <p:cNvPr id="9" name="Shape 6"/>
          <p:cNvSpPr/>
          <p:nvPr/>
        </p:nvSpPr>
        <p:spPr>
          <a:xfrm>
            <a:off x="274320" y="4187952"/>
            <a:ext cx="2743200" cy="7498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0" name="Shape 7"/>
          <p:cNvSpPr/>
          <p:nvPr/>
        </p:nvSpPr>
        <p:spPr>
          <a:xfrm>
            <a:off x="274320" y="4187952"/>
            <a:ext cx="2743200" cy="59436"/>
          </a:xfrm>
          <a:prstGeom prst="rect">
            <a:avLst/>
          </a:prstGeom>
          <a:solidFill>
            <a:srgbClr val="1F3864"/>
          </a:solidFill>
          <a:ln/>
        </p:spPr>
      </p:sp>
      <p:sp>
        <p:nvSpPr>
          <p:cNvPr id="11" name="Text 8"/>
          <p:cNvSpPr/>
          <p:nvPr/>
        </p:nvSpPr>
        <p:spPr>
          <a:xfrm>
            <a:off x="384048" y="4233672"/>
            <a:ext cx="2523744" cy="219456"/>
          </a:xfrm>
          <a:prstGeom prst="rect">
            <a:avLst/>
          </a:prstGeom>
          <a:noFill/>
          <a:ln/>
        </p:spPr>
        <p:txBody>
          <a:bodyPr wrap="square" lIns="0" tIns="0" rIns="0" bIns="0" rtlCol="0" anchor="ctr"/>
          <a:lstStyle/>
          <a:p>
            <a:pPr indent="0" marL="0">
              <a:buNone/>
            </a:pPr>
            <a:r>
              <a:rPr lang="en-US" sz="950" b="1" dirty="0">
                <a:solidFill>
                  <a:srgbClr val="1F3864"/>
                </a:solidFill>
                <a:latin typeface="Georgia" pitchFamily="34" charset="0"/>
                <a:ea typeface="Georgia" pitchFamily="34" charset="-122"/>
                <a:cs typeface="Georgia" pitchFamily="34" charset="-120"/>
              </a:rPr>
              <a:t>Rendición de cuentas</a:t>
            </a:r>
            <a:endParaRPr lang="en-US" sz="950" dirty="0"/>
          </a:p>
        </p:txBody>
      </p:sp>
      <p:sp>
        <p:nvSpPr>
          <p:cNvPr id="12" name="Text 9"/>
          <p:cNvSpPr/>
          <p:nvPr/>
        </p:nvSpPr>
        <p:spPr>
          <a:xfrm>
            <a:off x="384048" y="4462272"/>
            <a:ext cx="2523744" cy="411480"/>
          </a:xfrm>
          <a:prstGeom prst="rect">
            <a:avLst/>
          </a:prstGeom>
          <a:noFill/>
          <a:ln/>
        </p:spPr>
        <p:txBody>
          <a:bodyPr wrap="square" lIns="0" tIns="0" rIns="0" bIns="0" rtlCol="0" anchor="t"/>
          <a:lstStyle/>
          <a:p>
            <a:pPr algn="just" indent="0" marL="0">
              <a:buNone/>
            </a:pPr>
            <a:r>
              <a:rPr lang="en-US" sz="880" dirty="0">
                <a:solidFill>
                  <a:srgbClr val="2C3E50"/>
                </a:solidFill>
                <a:latin typeface="Calibri" pitchFamily="34" charset="0"/>
                <a:ea typeface="Calibri" pitchFamily="34" charset="-122"/>
                <a:cs typeface="Calibri" pitchFamily="34" charset="-120"/>
              </a:rPr>
              <a:t>El Concejo Municipal recibe informe trimestral con avance de los 10 KPIs. La ciudadanía recibe informe semestral a través del COSOC y la página web municipal.</a:t>
            </a:r>
            <a:endParaRPr lang="en-US" sz="880" dirty="0"/>
          </a:p>
        </p:txBody>
      </p:sp>
      <p:sp>
        <p:nvSpPr>
          <p:cNvPr id="13" name="Shape 10"/>
          <p:cNvSpPr/>
          <p:nvPr/>
        </p:nvSpPr>
        <p:spPr>
          <a:xfrm>
            <a:off x="3154680" y="4187952"/>
            <a:ext cx="2743200" cy="7498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4" name="Shape 11"/>
          <p:cNvSpPr/>
          <p:nvPr/>
        </p:nvSpPr>
        <p:spPr>
          <a:xfrm>
            <a:off x="3154680" y="4187952"/>
            <a:ext cx="2743200" cy="59436"/>
          </a:xfrm>
          <a:prstGeom prst="rect">
            <a:avLst/>
          </a:prstGeom>
          <a:solidFill>
            <a:srgbClr val="0A6B65"/>
          </a:solidFill>
          <a:ln/>
        </p:spPr>
      </p:sp>
      <p:sp>
        <p:nvSpPr>
          <p:cNvPr id="15" name="Text 12"/>
          <p:cNvSpPr/>
          <p:nvPr/>
        </p:nvSpPr>
        <p:spPr>
          <a:xfrm>
            <a:off x="3264408" y="4233672"/>
            <a:ext cx="2523744" cy="219456"/>
          </a:xfrm>
          <a:prstGeom prst="rect">
            <a:avLst/>
          </a:prstGeom>
          <a:noFill/>
          <a:ln/>
        </p:spPr>
        <p:txBody>
          <a:bodyPr wrap="square" lIns="0" tIns="0" rIns="0" bIns="0" rtlCol="0" anchor="ctr"/>
          <a:lstStyle/>
          <a:p>
            <a:pPr indent="0" marL="0">
              <a:buNone/>
            </a:pPr>
            <a:r>
              <a:rPr lang="en-US" sz="950" b="1" dirty="0">
                <a:solidFill>
                  <a:srgbClr val="0A6B65"/>
                </a:solidFill>
                <a:latin typeface="Georgia" pitchFamily="34" charset="0"/>
                <a:ea typeface="Georgia" pitchFamily="34" charset="-122"/>
                <a:cs typeface="Georgia" pitchFamily="34" charset="-120"/>
              </a:rPr>
              <a:t>Ajuste adaptativo</a:t>
            </a:r>
            <a:endParaRPr lang="en-US" sz="950" dirty="0"/>
          </a:p>
        </p:txBody>
      </p:sp>
      <p:sp>
        <p:nvSpPr>
          <p:cNvPr id="16" name="Text 13"/>
          <p:cNvSpPr/>
          <p:nvPr/>
        </p:nvSpPr>
        <p:spPr>
          <a:xfrm>
            <a:off x="3264408" y="4462272"/>
            <a:ext cx="2523744" cy="411480"/>
          </a:xfrm>
          <a:prstGeom prst="rect">
            <a:avLst/>
          </a:prstGeom>
          <a:noFill/>
          <a:ln/>
        </p:spPr>
        <p:txBody>
          <a:bodyPr wrap="square" lIns="0" tIns="0" rIns="0" bIns="0" rtlCol="0" anchor="t"/>
          <a:lstStyle/>
          <a:p>
            <a:pPr algn="just" indent="0" marL="0">
              <a:buNone/>
            </a:pPr>
            <a:r>
              <a:rPr lang="en-US" sz="880" dirty="0">
                <a:solidFill>
                  <a:srgbClr val="2C3E50"/>
                </a:solidFill>
                <a:latin typeface="Calibri" pitchFamily="34" charset="0"/>
                <a:ea typeface="Calibri" pitchFamily="34" charset="-122"/>
                <a:cs typeface="Calibri" pitchFamily="34" charset="-120"/>
              </a:rPr>
              <a:t>El sistema M&amp;E no es solo reporte: cada nivel genera insumos para ajustar la implementación. La evaluación intermedia 2028 permite redirigir recursos y prioridades.</a:t>
            </a:r>
            <a:endParaRPr lang="en-US" sz="880" dirty="0"/>
          </a:p>
        </p:txBody>
      </p:sp>
      <p:sp>
        <p:nvSpPr>
          <p:cNvPr id="17" name="Shape 14"/>
          <p:cNvSpPr/>
          <p:nvPr/>
        </p:nvSpPr>
        <p:spPr>
          <a:xfrm>
            <a:off x="6035040" y="4187952"/>
            <a:ext cx="2743200" cy="74980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8" name="Shape 15"/>
          <p:cNvSpPr/>
          <p:nvPr/>
        </p:nvSpPr>
        <p:spPr>
          <a:xfrm>
            <a:off x="6035040" y="4187952"/>
            <a:ext cx="2743200" cy="59436"/>
          </a:xfrm>
          <a:prstGeom prst="rect">
            <a:avLst/>
          </a:prstGeom>
          <a:solidFill>
            <a:srgbClr val="1A6B42"/>
          </a:solidFill>
          <a:ln/>
        </p:spPr>
      </p:sp>
      <p:sp>
        <p:nvSpPr>
          <p:cNvPr id="19" name="Text 16"/>
          <p:cNvSpPr/>
          <p:nvPr/>
        </p:nvSpPr>
        <p:spPr>
          <a:xfrm>
            <a:off x="6144768" y="4233672"/>
            <a:ext cx="2523744" cy="219456"/>
          </a:xfrm>
          <a:prstGeom prst="rect">
            <a:avLst/>
          </a:prstGeom>
          <a:noFill/>
          <a:ln/>
        </p:spPr>
        <p:txBody>
          <a:bodyPr wrap="square" lIns="0" tIns="0" rIns="0" bIns="0" rtlCol="0" anchor="ctr"/>
          <a:lstStyle/>
          <a:p>
            <a:pPr indent="0" marL="0">
              <a:buNone/>
            </a:pPr>
            <a:r>
              <a:rPr lang="en-US" sz="950" b="1" dirty="0">
                <a:solidFill>
                  <a:srgbClr val="1A6B42"/>
                </a:solidFill>
                <a:latin typeface="Georgia" pitchFamily="34" charset="0"/>
                <a:ea typeface="Georgia" pitchFamily="34" charset="-122"/>
                <a:cs typeface="Georgia" pitchFamily="34" charset="-120"/>
              </a:rPr>
              <a:t>Trazabilidad por Eje</a:t>
            </a:r>
            <a:endParaRPr lang="en-US" sz="950" dirty="0"/>
          </a:p>
        </p:txBody>
      </p:sp>
      <p:sp>
        <p:nvSpPr>
          <p:cNvPr id="20" name="Text 17"/>
          <p:cNvSpPr/>
          <p:nvPr/>
        </p:nvSpPr>
        <p:spPr>
          <a:xfrm>
            <a:off x="6144768" y="4462272"/>
            <a:ext cx="2523744" cy="411480"/>
          </a:xfrm>
          <a:prstGeom prst="rect">
            <a:avLst/>
          </a:prstGeom>
          <a:noFill/>
          <a:ln/>
        </p:spPr>
        <p:txBody>
          <a:bodyPr wrap="square" lIns="0" tIns="0" rIns="0" bIns="0" rtlCol="0" anchor="t"/>
          <a:lstStyle/>
          <a:p>
            <a:pPr algn="just" indent="0" marL="0">
              <a:buNone/>
            </a:pPr>
            <a:r>
              <a:rPr lang="en-US" sz="880" dirty="0">
                <a:solidFill>
                  <a:srgbClr val="2C3E50"/>
                </a:solidFill>
                <a:latin typeface="Calibri" pitchFamily="34" charset="0"/>
                <a:ea typeface="Calibri" pitchFamily="34" charset="-122"/>
                <a:cs typeface="Calibri" pitchFamily="34" charset="-120"/>
              </a:rPr>
              <a:t>Cada una de las 225 acciones del PLADECO tiene un responsable, indicador y fecha límite. El avance se consolida en tablero SINIM y se audita con ficha de terreno.</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10 indicadores del PLADECO — metas 2027 y 2029</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Mínimo no negociable para demostrar avance del PLADECO · reporte trimestral al Concejo Municipal</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914400"/>
        </p:xfrm>
        <a:graphic>
          <a:graphicData uri="http://schemas.openxmlformats.org/drawingml/2006/table">
            <a:tbl>
              <a:tblPr/>
              <a:tblGrid>
                <a:gridCol w="502920"/>
                <a:gridCol w="3063240"/>
                <a:gridCol w="1645920"/>
                <a:gridCol w="1737360"/>
                <a:gridCol w="1645920"/>
              </a:tblGrid>
              <a:tr h="374904">
                <a:tc>
                  <a:txBody>
                    <a:bodyPr/>
                    <a:lstStyle/>
                    <a:p>
                      <a:pPr algn="ctr" indent="0" marL="0">
                        <a:buNone/>
                      </a:pPr>
                      <a:r>
                        <a:rPr lang="en-US" sz="900" b="1" dirty="0">
                          <a:solidFill>
                            <a:srgbClr val="FFFFFF"/>
                          </a:solidFill>
                        </a:rPr>
                        <a:t>Cód.</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00" b="1" dirty="0">
                          <a:solidFill>
                            <a:srgbClr val="FFFFFF"/>
                          </a:solidFill>
                        </a:rPr>
                        <a:t>Indicador</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rPr>
                        <a:t>Línea base 2026</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rPr>
                        <a:t>Meta 2027</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rPr>
                        <a:t>Meta 2029</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r>
              <a:tr h="374904">
                <a:tc>
                  <a:txBody>
                    <a:bodyPr/>
                    <a:lstStyle/>
                    <a:p>
                      <a:pPr algn="ctr" indent="0" marL="0">
                        <a:buNone/>
                      </a:pPr>
                      <a:r>
                        <a:rPr lang="en-US" sz="900" b="1" dirty="0">
                          <a:solidFill>
                            <a:srgbClr val="FFFFFF"/>
                          </a:solidFill>
                        </a:rPr>
                        <a:t>I-1</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50" dirty="0">
                          <a:solidFill>
                            <a:srgbClr val="2C3E50"/>
                          </a:solidFill>
                        </a:rPr>
                        <a:t>Instrumentos en Nivel 3+ (implementados)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1/12 (8%)</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5/12 (42%)</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9/12 (75%)</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I-2</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50" dirty="0">
                          <a:solidFill>
                            <a:srgbClr val="2C3E50"/>
                          </a:solidFill>
                        </a:rPr>
                        <a:t>Ejecución Plan Anual de Compras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Sin medición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≥75%</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≥90%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I-3</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B83232"/>
                    </a:solidFill>
                  </a:tcPr>
                </a:tc>
                <a:tc>
                  <a:txBody>
                    <a:bodyPr/>
                    <a:lstStyle/>
                    <a:p>
                      <a:pPr indent="0" marL="0">
                        <a:buNone/>
                      </a:pPr>
                      <a:r>
                        <a:rPr lang="en-US" sz="950" dirty="0">
                          <a:solidFill>
                            <a:srgbClr val="2C3E50"/>
                          </a:solidFill>
                        </a:rPr>
                        <a:t>% dotación capacitada Ley Karin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100%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100% semestral</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I-4</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B83232"/>
                    </a:solidFill>
                  </a:tcPr>
                </a:tc>
                <a:tc>
                  <a:txBody>
                    <a:bodyPr/>
                    <a:lstStyle/>
                    <a:p>
                      <a:pPr indent="0" marL="0">
                        <a:buNone/>
                      </a:pPr>
                      <a:r>
                        <a:rPr lang="en-US" sz="950" dirty="0">
                          <a:solidFill>
                            <a:srgbClr val="2C3E50"/>
                          </a:solidFill>
                        </a:rPr>
                        <a:t>Sesiones COSOC realizadas por año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≥4 sesiones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≥6 con actas públicas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I-5</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B83232"/>
                    </a:solidFill>
                  </a:tcPr>
                </a:tc>
                <a:tc>
                  <a:txBody>
                    <a:bodyPr/>
                    <a:lstStyle/>
                    <a:p>
                      <a:pPr indent="0" marL="0">
                        <a:buNone/>
                      </a:pPr>
                      <a:r>
                        <a:rPr lang="en-US" sz="950" dirty="0">
                          <a:solidFill>
                            <a:srgbClr val="2C3E50"/>
                          </a:solidFill>
                        </a:rPr>
                        <a:t>Brechas Ley Karin cerradas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0/6</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6/6</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Protocolo actualizado anual</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I-6</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0A6B65"/>
                    </a:solidFill>
                  </a:tcPr>
                </a:tc>
                <a:tc>
                  <a:txBody>
                    <a:bodyPr/>
                    <a:lstStyle/>
                    <a:p>
                      <a:pPr indent="0" marL="0">
                        <a:buNone/>
                      </a:pPr>
                      <a:r>
                        <a:rPr lang="en-US" sz="950" dirty="0">
                          <a:solidFill>
                            <a:srgbClr val="2C3E50"/>
                          </a:solidFill>
                        </a:rPr>
                        <a:t>Medidas PACCC con presupuesto asignado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1 medida activa</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3 medidas activas</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I-7</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A6B42"/>
                    </a:solidFill>
                  </a:tcPr>
                </a:tc>
                <a:tc>
                  <a:txBody>
                    <a:bodyPr/>
                    <a:lstStyle/>
                    <a:p>
                      <a:pPr indent="0" marL="0">
                        <a:buNone/>
                      </a:pPr>
                      <a:r>
                        <a:rPr lang="en-US" sz="950" dirty="0">
                          <a:solidFill>
                            <a:srgbClr val="2C3E50"/>
                          </a:solidFill>
                        </a:rPr>
                        <a:t>Captación fondos externos / presupuesto</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6,28%</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≥9%</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≥13%</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I-8</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0A6B65"/>
                    </a:solidFill>
                  </a:tcPr>
                </a:tc>
                <a:tc>
                  <a:txBody>
                    <a:bodyPr/>
                    <a:lstStyle/>
                    <a:p>
                      <a:pPr indent="0" marL="0">
                        <a:buNone/>
                      </a:pPr>
                      <a:r>
                        <a:rPr lang="en-US" sz="950" dirty="0">
                          <a:solidFill>
                            <a:srgbClr val="2C3E50"/>
                          </a:solidFill>
                        </a:rPr>
                        <a:t>Índice satisfacción ciudadana</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Sin línea base</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1.ª medición realizada</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≥65% satisfacción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I-9</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F3864"/>
                    </a:solidFill>
                  </a:tcPr>
                </a:tc>
                <a:tc>
                  <a:txBody>
                    <a:bodyPr/>
                    <a:lstStyle/>
                    <a:p>
                      <a:pPr indent="0" marL="0">
                        <a:buNone/>
                      </a:pPr>
                      <a:r>
                        <a:rPr lang="en-US" sz="950" dirty="0">
                          <a:solidFill>
                            <a:srgbClr val="2C3E50"/>
                          </a:solidFill>
                        </a:rPr>
                        <a:t>Ejecución Plan Anual de Capacitación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Sin medición</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≥80%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≥90%</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r h="374904">
                <a:tc>
                  <a:txBody>
                    <a:bodyPr/>
                    <a:lstStyle/>
                    <a:p>
                      <a:pPr algn="ctr" indent="0" marL="0">
                        <a:buNone/>
                      </a:pPr>
                      <a:r>
                        <a:rPr lang="en-US" sz="900" b="1" dirty="0">
                          <a:solidFill>
                            <a:srgbClr val="FFFFFF"/>
                          </a:solidFill>
                        </a:rPr>
                        <a:t>I-10</a:t>
                      </a:r>
                      <a:endParaRPr lang="en-US" sz="90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A6B42"/>
                    </a:solidFill>
                  </a:tcPr>
                </a:tc>
                <a:tc>
                  <a:txBody>
                    <a:bodyPr/>
                    <a:lstStyle/>
                    <a:p>
                      <a:pPr indent="0" marL="0">
                        <a:buNone/>
                      </a:pPr>
                      <a:r>
                        <a:rPr lang="en-US" sz="950" dirty="0">
                          <a:solidFill>
                            <a:srgbClr val="2C3E50"/>
                          </a:solidFill>
                        </a:rPr>
                        <a:t>Posición IIGAM regional (meta: mejorar)</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64748B"/>
                          </a:solidFill>
                        </a:rPr>
                        <a:t>15 / 33</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1A6B42"/>
                          </a:solidFill>
                        </a:rPr>
                        <a:t>≤10 / 33</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0A6B65"/>
                          </a:solidFill>
                        </a:rPr>
                        <a:t>≤7 / 33</a:t>
                      </a:r>
                      <a:endParaRPr lang="en-US" sz="950" dirty="0"/>
                    </a:p>
                  </a:txBody>
                  <a:tcPr marL="91440" marR="91440" marT="45720" marB="4572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C9A84C"/>
          </a:solidFill>
          <a:ln/>
        </p:spPr>
      </p:sp>
      <p:sp>
        <p:nvSpPr>
          <p:cNvPr id="3" name="Shape 1"/>
          <p:cNvSpPr/>
          <p:nvPr/>
        </p:nvSpPr>
        <p:spPr>
          <a:xfrm>
            <a:off x="347472" y="2423160"/>
            <a:ext cx="8796528" cy="50292"/>
          </a:xfrm>
          <a:prstGeom prst="rect">
            <a:avLst/>
          </a:prstGeom>
          <a:solidFill>
            <a:srgbClr val="C9A84C">
              <a:alpha val="40000"/>
            </a:srgbClr>
          </a:solidFill>
          <a:ln/>
        </p:spPr>
      </p:sp>
      <p:sp>
        <p:nvSpPr>
          <p:cNvPr id="4" name="Text 2"/>
          <p:cNvSpPr/>
          <p:nvPr/>
        </p:nvSpPr>
        <p:spPr>
          <a:xfrm>
            <a:off x="658368" y="1627632"/>
            <a:ext cx="7772400" cy="347472"/>
          </a:xfrm>
          <a:prstGeom prst="rect">
            <a:avLst/>
          </a:prstGeom>
          <a:noFill/>
          <a:ln/>
        </p:spPr>
        <p:txBody>
          <a:bodyPr wrap="square"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SECCIÓN 03</a:t>
            </a:r>
            <a:endParaRPr lang="en-US" sz="1100" dirty="0"/>
          </a:p>
        </p:txBody>
      </p:sp>
      <p:sp>
        <p:nvSpPr>
          <p:cNvPr id="5" name="Text 3"/>
          <p:cNvSpPr/>
          <p:nvPr/>
        </p:nvSpPr>
        <p:spPr>
          <a:xfrm>
            <a:off x="658368" y="1965960"/>
            <a:ext cx="7772400" cy="109728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Avance de Proceso</a:t>
            </a:r>
            <a:endParaRPr lang="en-US" sz="3800" dirty="0"/>
          </a:p>
        </p:txBody>
      </p:sp>
      <p:sp>
        <p:nvSpPr>
          <p:cNvPr id="6" name="Text 4"/>
          <p:cNvSpPr/>
          <p:nvPr/>
        </p:nvSpPr>
        <p:spPr>
          <a:xfrm>
            <a:off x="658368" y="3154680"/>
            <a:ext cx="7772400" cy="320040"/>
          </a:xfrm>
          <a:prstGeom prst="rect">
            <a:avLst/>
          </a:prstGeom>
          <a:noFill/>
          <a:ln/>
        </p:spPr>
        <p:txBody>
          <a:bodyPr wrap="square"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9.ª Cuota de Consultoría · Actividades ejecutadas · Métricas acumuladas del proceso</a:t>
            </a:r>
            <a:endParaRPr lang="en-US" sz="1150" dirty="0"/>
          </a:p>
        </p:txBody>
      </p:sp>
      <p:sp>
        <p:nvSpPr>
          <p:cNvPr id="7" name="Shape 5"/>
          <p:cNvSpPr/>
          <p:nvPr/>
        </p:nvSpPr>
        <p:spPr>
          <a:xfrm>
            <a:off x="0" y="5070348"/>
            <a:ext cx="9144000" cy="73152"/>
          </a:xfrm>
          <a:prstGeom prst="rect">
            <a:avLst/>
          </a:prstGeom>
          <a:solidFill>
            <a:srgbClr val="162850"/>
          </a:solidFill>
          <a:ln/>
        </p:spPr>
      </p:sp>
      <p:sp>
        <p:nvSpPr>
          <p:cNvPr id="8" name="Text 6"/>
          <p:cNvSpPr/>
          <p:nvPr/>
        </p:nvSpPr>
        <p:spPr>
          <a:xfrm>
            <a:off x="411480" y="5073091"/>
            <a:ext cx="4572000" cy="68580"/>
          </a:xfrm>
          <a:prstGeom prst="rect">
            <a:avLst/>
          </a:prstGeom>
          <a:noFill/>
          <a:ln/>
        </p:spPr>
        <p:txBody>
          <a:bodyPr wrap="square" lIns="0" tIns="0" rIns="0" bIns="0" rtlCol="0" anchor="ctr"/>
          <a:lstStyle/>
          <a:p>
            <a:pPr indent="0" marL="0">
              <a:buNone/>
            </a:pPr>
            <a:r>
              <a:rPr lang="en-US" sz="650" dirty="0">
                <a:solidFill>
                  <a:srgbClr val="C9A84C"/>
                </a:solidFill>
                <a:latin typeface="Calibri" pitchFamily="34" charset="0"/>
                <a:ea typeface="Calibri" pitchFamily="34" charset="-122"/>
                <a:cs typeface="Calibri" pitchFamily="34" charset="-120"/>
              </a:rPr>
              <a:t>PLADECO Rengo 2025–2035</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Text 1"/>
          <p:cNvSpPr/>
          <p:nvPr/>
        </p:nvSpPr>
        <p:spPr>
          <a:xfrm>
            <a:off x="411480" y="109728"/>
            <a:ext cx="8321040" cy="475488"/>
          </a:xfrm>
          <a:prstGeom prst="rect">
            <a:avLst/>
          </a:prstGeom>
          <a:noFill/>
          <a:ln/>
        </p:spPr>
        <p:txBody>
          <a:bodyPr wrap="square" lIns="0" tIns="0" rIns="0" bIns="0" rtlCol="0" anchor="ctr"/>
          <a:lstStyle/>
          <a:p>
            <a:pPr indent="0" marL="0">
              <a:buNone/>
            </a:pPr>
            <a:r>
              <a:rPr lang="en-US" sz="2000" b="1" dirty="0">
                <a:solidFill>
                  <a:srgbClr val="1F3864"/>
                </a:solidFill>
                <a:latin typeface="Georgia" pitchFamily="34" charset="0"/>
                <a:ea typeface="Georgia" pitchFamily="34" charset="-122"/>
                <a:cs typeface="Georgia" pitchFamily="34" charset="-120"/>
              </a:rPr>
              <a:t>Avance del proceso — 9.ª Cuota de Consultoría</a:t>
            </a:r>
            <a:endParaRPr lang="en-US" sz="2000" dirty="0"/>
          </a:p>
        </p:txBody>
      </p:sp>
      <p:sp>
        <p:nvSpPr>
          <p:cNvPr id="4" name="Shape 2"/>
          <p:cNvSpPr/>
          <p:nvPr/>
        </p:nvSpPr>
        <p:spPr>
          <a:xfrm>
            <a:off x="411480" y="630936"/>
            <a:ext cx="292608" cy="50292"/>
          </a:xfrm>
          <a:prstGeom prst="rect">
            <a:avLst/>
          </a:prstGeom>
          <a:solidFill>
            <a:srgbClr val="C9A84C"/>
          </a:solidFill>
          <a:ln/>
        </p:spPr>
      </p:sp>
      <p:sp>
        <p:nvSpPr>
          <p:cNvPr id="5" name="Text 3"/>
          <p:cNvSpPr/>
          <p:nvPr/>
        </p:nvSpPr>
        <p:spPr>
          <a:xfrm>
            <a:off x="777240" y="576072"/>
            <a:ext cx="77724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Osvaldo Mañán Arce  ·  Administrador Público Asesor SECPLAC  ·  OC N° 2775-49-SE25  ·  19 de abril de 2026</a:t>
            </a:r>
            <a:endParaRPr lang="en-US" sz="900" dirty="0"/>
          </a:p>
        </p:txBody>
      </p:sp>
      <p:sp>
        <p:nvSpPr>
          <p:cNvPr id="6" name="Shape 4"/>
          <p:cNvSpPr/>
          <p:nvPr/>
        </p:nvSpPr>
        <p:spPr>
          <a:xfrm>
            <a:off x="0" y="5070348"/>
            <a:ext cx="9144000" cy="73152"/>
          </a:xfrm>
          <a:prstGeom prst="rect">
            <a:avLst/>
          </a:prstGeom>
          <a:solidFill>
            <a:srgbClr val="1F3864"/>
          </a:solidFill>
          <a:ln/>
        </p:spPr>
      </p:sp>
      <p:sp>
        <p:nvSpPr>
          <p:cNvPr id="7" name="Text 5"/>
          <p:cNvSpPr/>
          <p:nvPr/>
        </p:nvSpPr>
        <p:spPr>
          <a:xfrm>
            <a:off x="274320" y="5073091"/>
            <a:ext cx="8595360" cy="68580"/>
          </a:xfrm>
          <a:prstGeom prst="rect">
            <a:avLst/>
          </a:prstGeom>
          <a:noFill/>
          <a:ln/>
        </p:spPr>
        <p:txBody>
          <a:bodyPr wrap="square" lIns="0" tIns="0" rIns="0" bIns="0" rtlCol="0" anchor="ctr"/>
          <a:lstStyle/>
          <a:p>
            <a:pPr indent="0" marL="0">
              <a:buNone/>
            </a:pPr>
            <a:r>
              <a:rPr lang="en-US" sz="650" dirty="0">
                <a:solidFill>
                  <a:srgbClr val="FFFFFF"/>
                </a:solidFill>
                <a:latin typeface="Calibri" pitchFamily="34" charset="0"/>
                <a:ea typeface="Calibri" pitchFamily="34" charset="-122"/>
                <a:cs typeface="Calibri" pitchFamily="34" charset="-120"/>
              </a:rPr>
              <a:t>PLADECO Rengo 2025–2035  ·  Diagnóstico FODA y Argumentario Estratégico  ·  Municipalidad de Rengo</a:t>
            </a:r>
            <a:endParaRPr lang="en-US" sz="650" dirty="0"/>
          </a:p>
        </p:txBody>
      </p:sp>
      <p:sp>
        <p:nvSpPr>
          <p:cNvPr id="8" name="Shape 6"/>
          <p:cNvSpPr/>
          <p:nvPr/>
        </p:nvSpPr>
        <p:spPr>
          <a:xfrm>
            <a:off x="274320" y="960120"/>
            <a:ext cx="2798064" cy="321868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274320" y="960120"/>
            <a:ext cx="2798064" cy="59436"/>
          </a:xfrm>
          <a:prstGeom prst="rect">
            <a:avLst/>
          </a:prstGeom>
          <a:solidFill>
            <a:srgbClr val="1F3864"/>
          </a:solidFill>
          <a:ln/>
        </p:spPr>
      </p:sp>
      <p:sp>
        <p:nvSpPr>
          <p:cNvPr id="10" name="Shape 8"/>
          <p:cNvSpPr/>
          <p:nvPr/>
        </p:nvSpPr>
        <p:spPr>
          <a:xfrm>
            <a:off x="274320" y="960120"/>
            <a:ext cx="2798064" cy="347472"/>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11" name="Text 9"/>
          <p:cNvSpPr/>
          <p:nvPr/>
        </p:nvSpPr>
        <p:spPr>
          <a:xfrm>
            <a:off x="274320" y="960120"/>
            <a:ext cx="2798064"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GESTIÓN DE INFORMACIÓN</a:t>
            </a:r>
            <a:endParaRPr lang="en-US" sz="900" dirty="0"/>
          </a:p>
        </p:txBody>
      </p:sp>
      <p:sp>
        <p:nvSpPr>
          <p:cNvPr id="12" name="Shape 10"/>
          <p:cNvSpPr/>
          <p:nvPr/>
        </p:nvSpPr>
        <p:spPr>
          <a:xfrm>
            <a:off x="457200" y="1581912"/>
            <a:ext cx="128016" cy="128016"/>
          </a:xfrm>
          <a:prstGeom prst="rect">
            <a:avLst/>
          </a:prstGeom>
          <a:solidFill>
            <a:srgbClr val="1F3864"/>
          </a:solidFill>
          <a:ln/>
        </p:spPr>
      </p:sp>
      <p:sp>
        <p:nvSpPr>
          <p:cNvPr id="13" name="Text 11"/>
          <p:cNvSpPr/>
          <p:nvPr/>
        </p:nvSpPr>
        <p:spPr>
          <a:xfrm>
            <a:off x="658368" y="142646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Biblioteca documental PLADECO 2025-2035 constituida con fuentes verificadas</a:t>
            </a:r>
            <a:endParaRPr lang="en-US" sz="950" dirty="0"/>
          </a:p>
        </p:txBody>
      </p:sp>
      <p:sp>
        <p:nvSpPr>
          <p:cNvPr id="14" name="Shape 12"/>
          <p:cNvSpPr/>
          <p:nvPr/>
        </p:nvSpPr>
        <p:spPr>
          <a:xfrm>
            <a:off x="457200" y="2313432"/>
            <a:ext cx="128016" cy="128016"/>
          </a:xfrm>
          <a:prstGeom prst="rect">
            <a:avLst/>
          </a:prstGeom>
          <a:solidFill>
            <a:srgbClr val="1F3864"/>
          </a:solidFill>
          <a:ln/>
        </p:spPr>
      </p:sp>
      <p:sp>
        <p:nvSpPr>
          <p:cNvPr id="15" name="Text 13"/>
          <p:cNvSpPr/>
          <p:nvPr/>
        </p:nvSpPr>
        <p:spPr>
          <a:xfrm>
            <a:off x="658368" y="215798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Coordinación Ventanilla Única con DIDECO: trazabilidad de solicitudes</a:t>
            </a:r>
            <a:endParaRPr lang="en-US" sz="950" dirty="0"/>
          </a:p>
        </p:txBody>
      </p:sp>
      <p:sp>
        <p:nvSpPr>
          <p:cNvPr id="16" name="Shape 14"/>
          <p:cNvSpPr/>
          <p:nvPr/>
        </p:nvSpPr>
        <p:spPr>
          <a:xfrm>
            <a:off x="457200" y="3044952"/>
            <a:ext cx="128016" cy="128016"/>
          </a:xfrm>
          <a:prstGeom prst="rect">
            <a:avLst/>
          </a:prstGeom>
          <a:solidFill>
            <a:srgbClr val="1F3864"/>
          </a:solidFill>
          <a:ln/>
        </p:spPr>
      </p:sp>
      <p:sp>
        <p:nvSpPr>
          <p:cNvPr id="17" name="Text 15"/>
          <p:cNvSpPr/>
          <p:nvPr/>
        </p:nvSpPr>
        <p:spPr>
          <a:xfrm>
            <a:off x="658368" y="288950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Información entregada a Aseo y Ornato para diagnóstico sectorial</a:t>
            </a:r>
            <a:endParaRPr lang="en-US" sz="950" dirty="0"/>
          </a:p>
        </p:txBody>
      </p:sp>
      <p:sp>
        <p:nvSpPr>
          <p:cNvPr id="18" name="Shape 16"/>
          <p:cNvSpPr/>
          <p:nvPr/>
        </p:nvSpPr>
        <p:spPr>
          <a:xfrm>
            <a:off x="457200" y="3776472"/>
            <a:ext cx="128016" cy="128016"/>
          </a:xfrm>
          <a:prstGeom prst="rect">
            <a:avLst/>
          </a:prstGeom>
          <a:solidFill>
            <a:srgbClr val="1F3864"/>
          </a:solidFill>
          <a:ln/>
        </p:spPr>
      </p:sp>
      <p:sp>
        <p:nvSpPr>
          <p:cNvPr id="19" name="Text 17"/>
          <p:cNvSpPr/>
          <p:nvPr/>
        </p:nvSpPr>
        <p:spPr>
          <a:xfrm>
            <a:off x="658368" y="362102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Solicitudes formales a organizaciones funcionales y territoriales</a:t>
            </a:r>
            <a:endParaRPr lang="en-US" sz="950" dirty="0"/>
          </a:p>
        </p:txBody>
      </p:sp>
      <p:sp>
        <p:nvSpPr>
          <p:cNvPr id="20" name="Shape 18"/>
          <p:cNvSpPr/>
          <p:nvPr/>
        </p:nvSpPr>
        <p:spPr>
          <a:xfrm>
            <a:off x="3218688" y="960120"/>
            <a:ext cx="2798064" cy="321868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3218688" y="960120"/>
            <a:ext cx="2798064" cy="59436"/>
          </a:xfrm>
          <a:prstGeom prst="rect">
            <a:avLst/>
          </a:prstGeom>
          <a:solidFill>
            <a:srgbClr val="0A6B65"/>
          </a:solidFill>
          <a:ln/>
        </p:spPr>
      </p:sp>
      <p:sp>
        <p:nvSpPr>
          <p:cNvPr id="22" name="Shape 20"/>
          <p:cNvSpPr/>
          <p:nvPr/>
        </p:nvSpPr>
        <p:spPr>
          <a:xfrm>
            <a:off x="3218688" y="960120"/>
            <a:ext cx="2798064" cy="347472"/>
          </a:xfrm>
          <a:prstGeom prst="rect">
            <a:avLst/>
          </a:prstGeom>
          <a:solidFill>
            <a:srgbClr val="0A6B65"/>
          </a:solidFill>
          <a:ln/>
          <a:effectLst>
            <a:outerShdw sx="100000" sy="100000" kx="0" ky="0" algn="bl" rotWithShape="0" blurRad="88900" dist="38100" dir="8100000">
              <a:srgbClr val="000000">
                <a:alpha val="10000"/>
              </a:srgbClr>
            </a:outerShdw>
          </a:effectLst>
        </p:spPr>
      </p:sp>
      <p:sp>
        <p:nvSpPr>
          <p:cNvPr id="23" name="Text 21"/>
          <p:cNvSpPr/>
          <p:nvPr/>
        </p:nvSpPr>
        <p:spPr>
          <a:xfrm>
            <a:off x="3218688" y="960120"/>
            <a:ext cx="2798064"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DESARROLLO TÉCNICO-ESTRATÉGICO</a:t>
            </a:r>
            <a:endParaRPr lang="en-US" sz="900" dirty="0"/>
          </a:p>
        </p:txBody>
      </p:sp>
      <p:sp>
        <p:nvSpPr>
          <p:cNvPr id="24" name="Shape 22"/>
          <p:cNvSpPr/>
          <p:nvPr/>
        </p:nvSpPr>
        <p:spPr>
          <a:xfrm>
            <a:off x="3401568" y="1581912"/>
            <a:ext cx="128016" cy="128016"/>
          </a:xfrm>
          <a:prstGeom prst="rect">
            <a:avLst/>
          </a:prstGeom>
          <a:solidFill>
            <a:srgbClr val="0A6B65"/>
          </a:solidFill>
          <a:ln/>
        </p:spPr>
      </p:sp>
      <p:sp>
        <p:nvSpPr>
          <p:cNvPr id="25" name="Text 23"/>
          <p:cNvSpPr/>
          <p:nvPr/>
        </p:nvSpPr>
        <p:spPr>
          <a:xfrm>
            <a:off x="3602736" y="142646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Estructura PLADECO aprobada: Documentos 1 y 2 definidos</a:t>
            </a:r>
            <a:endParaRPr lang="en-US" sz="950" dirty="0"/>
          </a:p>
        </p:txBody>
      </p:sp>
      <p:sp>
        <p:nvSpPr>
          <p:cNvPr id="26" name="Shape 24"/>
          <p:cNvSpPr/>
          <p:nvPr/>
        </p:nvSpPr>
        <p:spPr>
          <a:xfrm>
            <a:off x="3401568" y="2313432"/>
            <a:ext cx="128016" cy="128016"/>
          </a:xfrm>
          <a:prstGeom prst="rect">
            <a:avLst/>
          </a:prstGeom>
          <a:solidFill>
            <a:srgbClr val="0A6B65"/>
          </a:solidFill>
          <a:ln/>
        </p:spPr>
      </p:sp>
      <p:sp>
        <p:nvSpPr>
          <p:cNvPr id="27" name="Text 25"/>
          <p:cNvSpPr/>
          <p:nvPr/>
        </p:nvSpPr>
        <p:spPr>
          <a:xfrm>
            <a:off x="3602736" y="215798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Matriz PLADECO 2025-2035 elaborada (6 Ejes, 32 OE, 225 acciones)</a:t>
            </a:r>
            <a:endParaRPr lang="en-US" sz="950" dirty="0"/>
          </a:p>
        </p:txBody>
      </p:sp>
      <p:sp>
        <p:nvSpPr>
          <p:cNvPr id="28" name="Shape 26"/>
          <p:cNvSpPr/>
          <p:nvPr/>
        </p:nvSpPr>
        <p:spPr>
          <a:xfrm>
            <a:off x="3401568" y="3044952"/>
            <a:ext cx="128016" cy="128016"/>
          </a:xfrm>
          <a:prstGeom prst="rect">
            <a:avLst/>
          </a:prstGeom>
          <a:solidFill>
            <a:srgbClr val="0A6B65"/>
          </a:solidFill>
          <a:ln/>
        </p:spPr>
      </p:sp>
      <p:sp>
        <p:nvSpPr>
          <p:cNvPr id="29" name="Text 27"/>
          <p:cNvSpPr/>
          <p:nvPr/>
        </p:nvSpPr>
        <p:spPr>
          <a:xfrm>
            <a:off x="3602736" y="288950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Diagnóstico de 9 UV urbanas y 12 sectores rurales completado</a:t>
            </a:r>
            <a:endParaRPr lang="en-US" sz="950" dirty="0"/>
          </a:p>
        </p:txBody>
      </p:sp>
      <p:sp>
        <p:nvSpPr>
          <p:cNvPr id="30" name="Shape 28"/>
          <p:cNvSpPr/>
          <p:nvPr/>
        </p:nvSpPr>
        <p:spPr>
          <a:xfrm>
            <a:off x="3401568" y="3776472"/>
            <a:ext cx="128016" cy="128016"/>
          </a:xfrm>
          <a:prstGeom prst="rect">
            <a:avLst/>
          </a:prstGeom>
          <a:solidFill>
            <a:srgbClr val="0A6B65"/>
          </a:solidFill>
          <a:ln/>
        </p:spPr>
      </p:sp>
      <p:sp>
        <p:nvSpPr>
          <p:cNvPr id="31" name="Text 29"/>
          <p:cNvSpPr/>
          <p:nvPr/>
        </p:nvSpPr>
        <p:spPr>
          <a:xfrm>
            <a:off x="3602736" y="362102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Diagnóstico de Patentes Municipales integrado al análisis económico</a:t>
            </a:r>
            <a:endParaRPr lang="en-US" sz="950" dirty="0"/>
          </a:p>
        </p:txBody>
      </p:sp>
      <p:sp>
        <p:nvSpPr>
          <p:cNvPr id="32" name="Shape 30"/>
          <p:cNvSpPr/>
          <p:nvPr/>
        </p:nvSpPr>
        <p:spPr>
          <a:xfrm>
            <a:off x="6163056" y="960120"/>
            <a:ext cx="2798064" cy="321868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3" name="Shape 31"/>
          <p:cNvSpPr/>
          <p:nvPr/>
        </p:nvSpPr>
        <p:spPr>
          <a:xfrm>
            <a:off x="6163056" y="960120"/>
            <a:ext cx="2798064" cy="59436"/>
          </a:xfrm>
          <a:prstGeom prst="rect">
            <a:avLst/>
          </a:prstGeom>
          <a:solidFill>
            <a:srgbClr val="1A6B42"/>
          </a:solidFill>
          <a:ln/>
        </p:spPr>
      </p:sp>
      <p:sp>
        <p:nvSpPr>
          <p:cNvPr id="34" name="Shape 32"/>
          <p:cNvSpPr/>
          <p:nvPr/>
        </p:nvSpPr>
        <p:spPr>
          <a:xfrm>
            <a:off x="6163056" y="960120"/>
            <a:ext cx="2798064" cy="347472"/>
          </a:xfrm>
          <a:prstGeom prst="rect">
            <a:avLst/>
          </a:prstGeom>
          <a:solidFill>
            <a:srgbClr val="1A6B42"/>
          </a:solidFill>
          <a:ln/>
          <a:effectLst>
            <a:outerShdw sx="100000" sy="100000" kx="0" ky="0" algn="bl" rotWithShape="0" blurRad="88900" dist="38100" dir="8100000">
              <a:srgbClr val="000000">
                <a:alpha val="10000"/>
              </a:srgbClr>
            </a:outerShdw>
          </a:effectLst>
        </p:spPr>
      </p:sp>
      <p:sp>
        <p:nvSpPr>
          <p:cNvPr id="35" name="Text 33"/>
          <p:cNvSpPr/>
          <p:nvPr/>
        </p:nvSpPr>
        <p:spPr>
          <a:xfrm>
            <a:off x="6163056" y="960120"/>
            <a:ext cx="2798064"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PARTICIPACIÓN E INSTITUCIONAL</a:t>
            </a:r>
            <a:endParaRPr lang="en-US" sz="900" dirty="0"/>
          </a:p>
        </p:txBody>
      </p:sp>
      <p:sp>
        <p:nvSpPr>
          <p:cNvPr id="36" name="Shape 34"/>
          <p:cNvSpPr/>
          <p:nvPr/>
        </p:nvSpPr>
        <p:spPr>
          <a:xfrm>
            <a:off x="6345936" y="1581912"/>
            <a:ext cx="128016" cy="128016"/>
          </a:xfrm>
          <a:prstGeom prst="rect">
            <a:avLst/>
          </a:prstGeom>
          <a:solidFill>
            <a:srgbClr val="1A6B42"/>
          </a:solidFill>
          <a:ln/>
        </p:spPr>
      </p:sp>
      <p:sp>
        <p:nvSpPr>
          <p:cNvPr id="37" name="Text 35"/>
          <p:cNvSpPr/>
          <p:nvPr/>
        </p:nvSpPr>
        <p:spPr>
          <a:xfrm>
            <a:off x="6547104" y="142646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Reunión técnica con Bomberos de Rengo (diagnóstico sectorial)</a:t>
            </a:r>
            <a:endParaRPr lang="en-US" sz="950" dirty="0"/>
          </a:p>
        </p:txBody>
      </p:sp>
      <p:sp>
        <p:nvSpPr>
          <p:cNvPr id="38" name="Shape 36"/>
          <p:cNvSpPr/>
          <p:nvPr/>
        </p:nvSpPr>
        <p:spPr>
          <a:xfrm>
            <a:off x="6345936" y="2313432"/>
            <a:ext cx="128016" cy="128016"/>
          </a:xfrm>
          <a:prstGeom prst="rect">
            <a:avLst/>
          </a:prstGeom>
          <a:solidFill>
            <a:srgbClr val="1A6B42"/>
          </a:solidFill>
          <a:ln/>
        </p:spPr>
      </p:sp>
      <p:sp>
        <p:nvSpPr>
          <p:cNvPr id="39" name="Text 37"/>
          <p:cNvSpPr/>
          <p:nvPr/>
        </p:nvSpPr>
        <p:spPr>
          <a:xfrm>
            <a:off x="6547104" y="215798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Composición y estructura definitiva del documento PLADECO validada</a:t>
            </a:r>
            <a:endParaRPr lang="en-US" sz="950" dirty="0"/>
          </a:p>
        </p:txBody>
      </p:sp>
      <p:sp>
        <p:nvSpPr>
          <p:cNvPr id="40" name="Shape 38"/>
          <p:cNvSpPr/>
          <p:nvPr/>
        </p:nvSpPr>
        <p:spPr>
          <a:xfrm>
            <a:off x="6345936" y="3044952"/>
            <a:ext cx="128016" cy="128016"/>
          </a:xfrm>
          <a:prstGeom prst="rect">
            <a:avLst/>
          </a:prstGeom>
          <a:solidFill>
            <a:srgbClr val="1A6B42"/>
          </a:solidFill>
          <a:ln/>
        </p:spPr>
      </p:sp>
      <p:sp>
        <p:nvSpPr>
          <p:cNvPr id="41" name="Text 39"/>
          <p:cNvSpPr/>
          <p:nvPr/>
        </p:nvSpPr>
        <p:spPr>
          <a:xfrm>
            <a:off x="6547104" y="288950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+300 personas consultadas en el proceso participativo comunal</a:t>
            </a:r>
            <a:endParaRPr lang="en-US" sz="950" dirty="0"/>
          </a:p>
        </p:txBody>
      </p:sp>
      <p:sp>
        <p:nvSpPr>
          <p:cNvPr id="42" name="Shape 40"/>
          <p:cNvSpPr/>
          <p:nvPr/>
        </p:nvSpPr>
        <p:spPr>
          <a:xfrm>
            <a:off x="6345936" y="3776472"/>
            <a:ext cx="128016" cy="128016"/>
          </a:xfrm>
          <a:prstGeom prst="rect">
            <a:avLst/>
          </a:prstGeom>
          <a:solidFill>
            <a:srgbClr val="1A6B42"/>
          </a:solidFill>
          <a:ln/>
        </p:spPr>
      </p:sp>
      <p:sp>
        <p:nvSpPr>
          <p:cNvPr id="43" name="Text 41"/>
          <p:cNvSpPr/>
          <p:nvPr/>
        </p:nvSpPr>
        <p:spPr>
          <a:xfrm>
            <a:off x="6547104" y="3621024"/>
            <a:ext cx="2286000" cy="694944"/>
          </a:xfrm>
          <a:prstGeom prst="rect">
            <a:avLst/>
          </a:prstGeom>
          <a:noFill/>
          <a:ln/>
        </p:spPr>
        <p:txBody>
          <a:bodyPr wrap="square" lIns="508" tIns="508" rIns="508" bIns="508" rtlCol="0" anchor="t"/>
          <a:lstStyle/>
          <a:p>
            <a:pPr algn="just" indent="0" marL="0">
              <a:buNone/>
            </a:pPr>
            <a:r>
              <a:rPr lang="en-US" sz="950" dirty="0">
                <a:solidFill>
                  <a:srgbClr val="2C3E50"/>
                </a:solidFill>
                <a:latin typeface="Calibri" pitchFamily="34" charset="0"/>
                <a:ea typeface="Calibri" pitchFamily="34" charset="-122"/>
                <a:cs typeface="Calibri" pitchFamily="34" charset="-120"/>
              </a:rPr>
              <a:t>77 juntas de vecinos incluidas en el diagnóstico territorial</a:t>
            </a:r>
            <a:endParaRPr lang="en-US" sz="950" dirty="0"/>
          </a:p>
        </p:txBody>
      </p:sp>
      <p:sp>
        <p:nvSpPr>
          <p:cNvPr id="44" name="Shape 42"/>
          <p:cNvSpPr/>
          <p:nvPr/>
        </p:nvSpPr>
        <p:spPr>
          <a:xfrm>
            <a:off x="274320" y="4315968"/>
            <a:ext cx="8595360" cy="640080"/>
          </a:xfrm>
          <a:prstGeom prst="rect">
            <a:avLst/>
          </a:prstGeom>
          <a:solidFill>
            <a:srgbClr val="1F3864"/>
          </a:solidFill>
          <a:ln/>
          <a:effectLst>
            <a:outerShdw sx="100000" sy="100000" kx="0" ky="0" algn="bl" rotWithShape="0" blurRad="88900" dist="38100" dir="8100000">
              <a:srgbClr val="000000">
                <a:alpha val="10000"/>
              </a:srgbClr>
            </a:outerShdw>
          </a:effectLst>
        </p:spPr>
      </p:sp>
      <p:sp>
        <p:nvSpPr>
          <p:cNvPr id="45" name="Text 43"/>
          <p:cNvSpPr/>
          <p:nvPr/>
        </p:nvSpPr>
        <p:spPr>
          <a:xfrm>
            <a:off x="502920" y="4334256"/>
            <a:ext cx="1828800" cy="292608"/>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225</a:t>
            </a:r>
            <a:endParaRPr lang="en-US" sz="1800" dirty="0"/>
          </a:p>
        </p:txBody>
      </p:sp>
      <p:sp>
        <p:nvSpPr>
          <p:cNvPr id="46" name="Text 44"/>
          <p:cNvSpPr/>
          <p:nvPr/>
        </p:nvSpPr>
        <p:spPr>
          <a:xfrm>
            <a:off x="502920" y="4626864"/>
            <a:ext cx="1828800" cy="274320"/>
          </a:xfrm>
          <a:prstGeom prst="rect">
            <a:avLst/>
          </a:prstGeom>
          <a:noFill/>
          <a:ln/>
        </p:spPr>
        <p:txBody>
          <a:bodyPr wrap="square" rtlCol="0" anchor="ctr"/>
          <a:lstStyle/>
          <a:p>
            <a:pPr algn="ctr" indent="0" marL="0">
              <a:buNone/>
            </a:pPr>
            <a:r>
              <a:rPr lang="en-US" sz="800" dirty="0">
                <a:solidFill>
                  <a:srgbClr val="C9A84C"/>
                </a:solidFill>
                <a:latin typeface="Calibri" pitchFamily="34" charset="0"/>
                <a:ea typeface="Calibri" pitchFamily="34" charset="-122"/>
                <a:cs typeface="Calibri" pitchFamily="34" charset="-120"/>
              </a:rPr>
              <a:t>Acciones</a:t>
            </a:r>
            <a:endParaRPr lang="en-US" sz="800" dirty="0"/>
          </a:p>
          <a:p>
            <a:pPr algn="ctr" indent="0" marL="0">
              <a:buNone/>
            </a:pPr>
            <a:r>
              <a:rPr lang="en-US" sz="800" dirty="0">
                <a:solidFill>
                  <a:srgbClr val="C9A84C"/>
                </a:solidFill>
                <a:latin typeface="Calibri" pitchFamily="34" charset="0"/>
                <a:ea typeface="Calibri" pitchFamily="34" charset="-122"/>
                <a:cs typeface="Calibri" pitchFamily="34" charset="-120"/>
              </a:rPr>
              <a:t>articuladas</a:t>
            </a:r>
            <a:endParaRPr lang="en-US" sz="800" dirty="0"/>
          </a:p>
        </p:txBody>
      </p:sp>
      <p:sp>
        <p:nvSpPr>
          <p:cNvPr id="47" name="Shape 45"/>
          <p:cNvSpPr/>
          <p:nvPr/>
        </p:nvSpPr>
        <p:spPr>
          <a:xfrm>
            <a:off x="2514600" y="4407408"/>
            <a:ext cx="36576" cy="438912"/>
          </a:xfrm>
          <a:prstGeom prst="rect">
            <a:avLst/>
          </a:prstGeom>
          <a:solidFill>
            <a:srgbClr val="FFFFFF">
              <a:alpha val="30000"/>
            </a:srgbClr>
          </a:solidFill>
          <a:ln/>
        </p:spPr>
      </p:sp>
      <p:sp>
        <p:nvSpPr>
          <p:cNvPr id="48" name="Text 46"/>
          <p:cNvSpPr/>
          <p:nvPr/>
        </p:nvSpPr>
        <p:spPr>
          <a:xfrm>
            <a:off x="2651760" y="4334256"/>
            <a:ext cx="1828800" cy="292608"/>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32</a:t>
            </a:r>
            <a:endParaRPr lang="en-US" sz="1800" dirty="0"/>
          </a:p>
        </p:txBody>
      </p:sp>
      <p:sp>
        <p:nvSpPr>
          <p:cNvPr id="49" name="Text 47"/>
          <p:cNvSpPr/>
          <p:nvPr/>
        </p:nvSpPr>
        <p:spPr>
          <a:xfrm>
            <a:off x="2651760" y="4626864"/>
            <a:ext cx="1828800" cy="274320"/>
          </a:xfrm>
          <a:prstGeom prst="rect">
            <a:avLst/>
          </a:prstGeom>
          <a:noFill/>
          <a:ln/>
        </p:spPr>
        <p:txBody>
          <a:bodyPr wrap="square" rtlCol="0" anchor="ctr"/>
          <a:lstStyle/>
          <a:p>
            <a:pPr algn="ctr" indent="0" marL="0">
              <a:buNone/>
            </a:pPr>
            <a:r>
              <a:rPr lang="en-US" sz="800" dirty="0">
                <a:solidFill>
                  <a:srgbClr val="E8ECF0"/>
                </a:solidFill>
                <a:latin typeface="Calibri" pitchFamily="34" charset="0"/>
                <a:ea typeface="Calibri" pitchFamily="34" charset="-122"/>
                <a:cs typeface="Calibri" pitchFamily="34" charset="-120"/>
              </a:rPr>
              <a:t>Objetivos</a:t>
            </a:r>
            <a:endParaRPr lang="en-US" sz="800" dirty="0"/>
          </a:p>
          <a:p>
            <a:pPr algn="ctr" indent="0" marL="0">
              <a:buNone/>
            </a:pPr>
            <a:r>
              <a:rPr lang="en-US" sz="800" dirty="0">
                <a:solidFill>
                  <a:srgbClr val="E8ECF0"/>
                </a:solidFill>
                <a:latin typeface="Calibri" pitchFamily="34" charset="0"/>
                <a:ea typeface="Calibri" pitchFamily="34" charset="-122"/>
                <a:cs typeface="Calibri" pitchFamily="34" charset="-120"/>
              </a:rPr>
              <a:t>estratégicos</a:t>
            </a:r>
            <a:endParaRPr lang="en-US" sz="800" dirty="0"/>
          </a:p>
        </p:txBody>
      </p:sp>
      <p:sp>
        <p:nvSpPr>
          <p:cNvPr id="50" name="Shape 48"/>
          <p:cNvSpPr/>
          <p:nvPr/>
        </p:nvSpPr>
        <p:spPr>
          <a:xfrm>
            <a:off x="4663440" y="4407408"/>
            <a:ext cx="36576" cy="438912"/>
          </a:xfrm>
          <a:prstGeom prst="rect">
            <a:avLst/>
          </a:prstGeom>
          <a:solidFill>
            <a:srgbClr val="FFFFFF">
              <a:alpha val="30000"/>
            </a:srgbClr>
          </a:solidFill>
          <a:ln/>
        </p:spPr>
      </p:sp>
      <p:sp>
        <p:nvSpPr>
          <p:cNvPr id="51" name="Text 49"/>
          <p:cNvSpPr/>
          <p:nvPr/>
        </p:nvSpPr>
        <p:spPr>
          <a:xfrm>
            <a:off x="4800600" y="4334256"/>
            <a:ext cx="1828800" cy="292608"/>
          </a:xfrm>
          <a:prstGeom prst="rect">
            <a:avLst/>
          </a:prstGeom>
          <a:noFill/>
          <a:ln/>
        </p:spPr>
        <p:txBody>
          <a:bodyPr wrap="square" rtlCol="0" anchor="ctr"/>
          <a:lstStyle/>
          <a:p>
            <a:pPr algn="ctr" indent="0" marL="0">
              <a:buNone/>
            </a:pPr>
            <a:r>
              <a:rPr lang="en-US" sz="1800" b="1" dirty="0">
                <a:solidFill>
                  <a:srgbClr val="C9A84C"/>
                </a:solidFill>
                <a:latin typeface="Georgia" pitchFamily="34" charset="0"/>
                <a:ea typeface="Georgia" pitchFamily="34" charset="-122"/>
                <a:cs typeface="Georgia" pitchFamily="34" charset="-120"/>
              </a:rPr>
              <a:t>+300</a:t>
            </a:r>
            <a:endParaRPr lang="en-US" sz="1800" dirty="0"/>
          </a:p>
        </p:txBody>
      </p:sp>
      <p:sp>
        <p:nvSpPr>
          <p:cNvPr id="52" name="Text 50"/>
          <p:cNvSpPr/>
          <p:nvPr/>
        </p:nvSpPr>
        <p:spPr>
          <a:xfrm>
            <a:off x="4800600" y="4626864"/>
            <a:ext cx="1828800" cy="274320"/>
          </a:xfrm>
          <a:prstGeom prst="rect">
            <a:avLst/>
          </a:prstGeom>
          <a:noFill/>
          <a:ln/>
        </p:spPr>
        <p:txBody>
          <a:bodyPr wrap="square" rtlCol="0" anchor="ctr"/>
          <a:lstStyle/>
          <a:p>
            <a:pPr algn="ctr" indent="0" marL="0">
              <a:buNone/>
            </a:pPr>
            <a:r>
              <a:rPr lang="en-US" sz="800" dirty="0">
                <a:solidFill>
                  <a:srgbClr val="C9A84C"/>
                </a:solidFill>
                <a:latin typeface="Calibri" pitchFamily="34" charset="0"/>
                <a:ea typeface="Calibri" pitchFamily="34" charset="-122"/>
                <a:cs typeface="Calibri" pitchFamily="34" charset="-120"/>
              </a:rPr>
              <a:t>Personas</a:t>
            </a:r>
            <a:endParaRPr lang="en-US" sz="800" dirty="0"/>
          </a:p>
          <a:p>
            <a:pPr algn="ctr" indent="0" marL="0">
              <a:buNone/>
            </a:pPr>
            <a:r>
              <a:rPr lang="en-US" sz="800" dirty="0">
                <a:solidFill>
                  <a:srgbClr val="C9A84C"/>
                </a:solidFill>
                <a:latin typeface="Calibri" pitchFamily="34" charset="0"/>
                <a:ea typeface="Calibri" pitchFamily="34" charset="-122"/>
                <a:cs typeface="Calibri" pitchFamily="34" charset="-120"/>
              </a:rPr>
              <a:t>consultadas</a:t>
            </a:r>
            <a:endParaRPr lang="en-US" sz="800" dirty="0"/>
          </a:p>
        </p:txBody>
      </p:sp>
      <p:sp>
        <p:nvSpPr>
          <p:cNvPr id="53" name="Shape 51"/>
          <p:cNvSpPr/>
          <p:nvPr/>
        </p:nvSpPr>
        <p:spPr>
          <a:xfrm>
            <a:off x="6812280" y="4407408"/>
            <a:ext cx="36576" cy="438912"/>
          </a:xfrm>
          <a:prstGeom prst="rect">
            <a:avLst/>
          </a:prstGeom>
          <a:solidFill>
            <a:srgbClr val="FFFFFF">
              <a:alpha val="30000"/>
            </a:srgbClr>
          </a:solidFill>
          <a:ln/>
        </p:spPr>
      </p:sp>
      <p:sp>
        <p:nvSpPr>
          <p:cNvPr id="54" name="Text 52"/>
          <p:cNvSpPr/>
          <p:nvPr/>
        </p:nvSpPr>
        <p:spPr>
          <a:xfrm>
            <a:off x="6949440" y="4334256"/>
            <a:ext cx="1828800" cy="292608"/>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77</a:t>
            </a:r>
            <a:endParaRPr lang="en-US" sz="1800" dirty="0"/>
          </a:p>
        </p:txBody>
      </p:sp>
      <p:sp>
        <p:nvSpPr>
          <p:cNvPr id="55" name="Text 53"/>
          <p:cNvSpPr/>
          <p:nvPr/>
        </p:nvSpPr>
        <p:spPr>
          <a:xfrm>
            <a:off x="6949440" y="4626864"/>
            <a:ext cx="1828800" cy="274320"/>
          </a:xfrm>
          <a:prstGeom prst="rect">
            <a:avLst/>
          </a:prstGeom>
          <a:noFill/>
          <a:ln/>
        </p:spPr>
        <p:txBody>
          <a:bodyPr wrap="square" rtlCol="0" anchor="ctr"/>
          <a:lstStyle/>
          <a:p>
            <a:pPr algn="ctr" indent="0" marL="0">
              <a:buNone/>
            </a:pPr>
            <a:r>
              <a:rPr lang="en-US" sz="800" dirty="0">
                <a:solidFill>
                  <a:srgbClr val="E8ECF0"/>
                </a:solidFill>
                <a:latin typeface="Calibri" pitchFamily="34" charset="0"/>
                <a:ea typeface="Calibri" pitchFamily="34" charset="-122"/>
                <a:cs typeface="Calibri" pitchFamily="34" charset="-120"/>
              </a:rPr>
              <a:t>Juntas de vecinos</a:t>
            </a:r>
            <a:endParaRPr lang="en-US" sz="800" dirty="0"/>
          </a:p>
          <a:p>
            <a:pPr algn="ctr" indent="0" marL="0">
              <a:buNone/>
            </a:pPr>
            <a:r>
              <a:rPr lang="en-US" sz="800" dirty="0">
                <a:solidFill>
                  <a:srgbClr val="E8ECF0"/>
                </a:solidFill>
                <a:latin typeface="Calibri" pitchFamily="34" charset="0"/>
                <a:ea typeface="Calibri" pitchFamily="34" charset="-122"/>
                <a:cs typeface="Calibri" pitchFamily="34" charset="-120"/>
              </a:rPr>
              <a:t>incluidas</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p:spPr>
      </p:sp>
      <p:sp>
        <p:nvSpPr>
          <p:cNvPr id="3" name="Shape 1"/>
          <p:cNvSpPr/>
          <p:nvPr/>
        </p:nvSpPr>
        <p:spPr>
          <a:xfrm>
            <a:off x="0" y="5079492"/>
            <a:ext cx="9144000" cy="64008"/>
          </a:xfrm>
          <a:prstGeom prst="rect">
            <a:avLst/>
          </a:prstGeom>
          <a:solidFill>
            <a:srgbClr val="C9A84C"/>
          </a:solidFill>
          <a:ln/>
        </p:spPr>
      </p:sp>
      <p:sp>
        <p:nvSpPr>
          <p:cNvPr id="4" name="Text 2"/>
          <p:cNvSpPr/>
          <p:nvPr/>
        </p:nvSpPr>
        <p:spPr>
          <a:xfrm>
            <a:off x="457200" y="201168"/>
            <a:ext cx="8229600" cy="438912"/>
          </a:xfrm>
          <a:prstGeom prst="rect">
            <a:avLst/>
          </a:prstGeom>
          <a:noFill/>
          <a:ln/>
        </p:spPr>
        <p:txBody>
          <a:bodyPr wrap="square" rtlCol="0" anchor="ctr"/>
          <a:lstStyle/>
          <a:p>
            <a:pPr indent="0" marL="0">
              <a:buNone/>
            </a:pPr>
            <a:r>
              <a:rPr lang="en-US" sz="1300" b="1" spc="200" kern="0" dirty="0">
                <a:solidFill>
                  <a:srgbClr val="C9A84C"/>
                </a:solidFill>
                <a:latin typeface="Calibri" pitchFamily="34" charset="0"/>
                <a:ea typeface="Calibri" pitchFamily="34" charset="-122"/>
                <a:cs typeface="Calibri" pitchFamily="34" charset="-120"/>
              </a:rPr>
              <a:t>El compromiso final</a:t>
            </a:r>
            <a:endParaRPr lang="en-US" sz="1300" dirty="0"/>
          </a:p>
        </p:txBody>
      </p:sp>
      <p:sp>
        <p:nvSpPr>
          <p:cNvPr id="5" name="Shape 3"/>
          <p:cNvSpPr/>
          <p:nvPr/>
        </p:nvSpPr>
        <p:spPr>
          <a:xfrm>
            <a:off x="411480" y="777240"/>
            <a:ext cx="8321040" cy="263347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6" name="Shape 4"/>
          <p:cNvSpPr/>
          <p:nvPr/>
        </p:nvSpPr>
        <p:spPr>
          <a:xfrm>
            <a:off x="411480" y="777240"/>
            <a:ext cx="91440" cy="2633472"/>
          </a:xfrm>
          <a:prstGeom prst="rect">
            <a:avLst/>
          </a:prstGeom>
          <a:solidFill>
            <a:srgbClr val="C9A84C"/>
          </a:solidFill>
          <a:ln/>
        </p:spPr>
      </p:sp>
      <p:sp>
        <p:nvSpPr>
          <p:cNvPr id="7" name="Text 5"/>
          <p:cNvSpPr/>
          <p:nvPr/>
        </p:nvSpPr>
        <p:spPr>
          <a:xfrm>
            <a:off x="658368" y="868680"/>
            <a:ext cx="7909560" cy="2450592"/>
          </a:xfrm>
          <a:prstGeom prst="rect">
            <a:avLst/>
          </a:prstGeom>
          <a:noFill/>
          <a:ln/>
        </p:spPr>
        <p:txBody>
          <a:bodyPr wrap="square" rtlCol="0" anchor="ctr"/>
          <a:lstStyle/>
          <a:p>
            <a:pPr algn="just" indent="0" marL="0">
              <a:buNone/>
            </a:pPr>
            <a:r>
              <a:rPr lang="en-US" sz="1250" dirty="0">
                <a:solidFill>
                  <a:srgbClr val="2C3E50"/>
                </a:solidFill>
                <a:latin typeface="Georgia" pitchFamily="34" charset="0"/>
                <a:ea typeface="Georgia" pitchFamily="34" charset="-122"/>
                <a:cs typeface="Georgia" pitchFamily="34" charset="-120"/>
              </a:rPr>
              <a:t>Rengo tiene los activos para actuar, tiene los riesgos identificados con sus soluciones técnicas y tiene una ventana normativa, política y financiera que no se repetirá en el horizonte previsible.</a:t>
            </a:r>
            <a:endParaRPr lang="en-US" sz="1250" dirty="0"/>
          </a:p>
          <a:p>
            <a:pPr algn="just" indent="0" marL="0">
              <a:buNone/>
            </a:pPr>
            <a:r>
              <a:rPr lang="en-US" sz="1250" dirty="0">
                <a:solidFill>
                  <a:srgbClr val="2C3E50"/>
                </a:solidFill>
                <a:latin typeface="Georgia" pitchFamily="34" charset="0"/>
                <a:ea typeface="Georgia" pitchFamily="34" charset="-122"/>
                <a:cs typeface="Georgia" pitchFamily="34" charset="-120"/>
              </a:rPr>
              <a:t> </a:t>
            </a:r>
            <a:endParaRPr lang="en-US" sz="1250" dirty="0"/>
          </a:p>
          <a:p>
            <a:pPr algn="just" indent="0" marL="0">
              <a:buNone/>
            </a:pPr>
            <a:r>
              <a:rPr lang="en-US" sz="1250" dirty="0">
                <a:solidFill>
                  <a:srgbClr val="2C3E50"/>
                </a:solidFill>
                <a:latin typeface="Georgia" pitchFamily="34" charset="0"/>
                <a:ea typeface="Georgia" pitchFamily="34" charset="-122"/>
                <a:cs typeface="Georgia" pitchFamily="34" charset="-120"/>
              </a:rPr>
              <a:t>Lo que falta no es diagnóstico ni recursos: es la decisión de qué arquitectura institucional se inscribe en este plan. Seis ejes, treinta y dos objetivos estratégicos, doscientas veinticinco acciones articuladas. Todo está trazado. Lo que requiere ahora es voluntad de implementar con indicadores verificables y rendir cuentas de manera trimestral ante el Concejo Municipal.</a:t>
            </a:r>
            <a:endParaRPr lang="en-US" sz="1250" dirty="0"/>
          </a:p>
          <a:p>
            <a:pPr algn="just" indent="0" marL="0">
              <a:buNone/>
            </a:pPr>
            <a:r>
              <a:rPr lang="en-US" sz="1250" dirty="0">
                <a:solidFill>
                  <a:srgbClr val="2C3E50"/>
                </a:solidFill>
                <a:latin typeface="Georgia" pitchFamily="34" charset="0"/>
                <a:ea typeface="Georgia" pitchFamily="34" charset="-122"/>
                <a:cs typeface="Georgia" pitchFamily="34" charset="-120"/>
              </a:rPr>
              <a:t> </a:t>
            </a:r>
            <a:endParaRPr lang="en-US" sz="1250" dirty="0"/>
          </a:p>
          <a:p>
            <a:pPr algn="just" indent="0" marL="0">
              <a:buNone/>
            </a:pPr>
            <a:r>
              <a:rPr lang="en-US" sz="1250" dirty="0">
                <a:solidFill>
                  <a:srgbClr val="2C3E50"/>
                </a:solidFill>
                <a:latin typeface="Georgia" pitchFamily="34" charset="0"/>
                <a:ea typeface="Georgia" pitchFamily="34" charset="-122"/>
                <a:cs typeface="Georgia" pitchFamily="34" charset="-120"/>
              </a:rPr>
              <a:t>La respuesta a esa pregunta no está en los gráficos. Está en la madre de Rosario que necesita un consultorio más cerca. En el adulto mayor que merece una calle iluminada. En el joven que todavía vive en Rengo y todavía puede cambiar de opinión sobre su ciudad.</a:t>
            </a:r>
            <a:endParaRPr lang="en-US" sz="1250" dirty="0"/>
          </a:p>
        </p:txBody>
      </p:sp>
      <p:sp>
        <p:nvSpPr>
          <p:cNvPr id="8" name="Shape 6"/>
          <p:cNvSpPr/>
          <p:nvPr/>
        </p:nvSpPr>
        <p:spPr>
          <a:xfrm>
            <a:off x="411480" y="3547872"/>
            <a:ext cx="8321040" cy="1325880"/>
          </a:xfrm>
          <a:prstGeom prst="rect">
            <a:avLst/>
          </a:prstGeom>
          <a:solidFill>
            <a:srgbClr val="C9A84C"/>
          </a:solidFill>
          <a:ln/>
          <a:effectLst>
            <a:outerShdw sx="100000" sy="100000" kx="0" ky="0" algn="bl" rotWithShape="0" blurRad="88900" dist="38100" dir="8100000">
              <a:srgbClr val="000000">
                <a:alpha val="10000"/>
              </a:srgbClr>
            </a:outerShdw>
          </a:effectLst>
        </p:spPr>
      </p:sp>
      <p:sp>
        <p:nvSpPr>
          <p:cNvPr id="9" name="Text 7"/>
          <p:cNvSpPr/>
          <p:nvPr/>
        </p:nvSpPr>
        <p:spPr>
          <a:xfrm>
            <a:off x="548640" y="3593592"/>
            <a:ext cx="8046720" cy="1234440"/>
          </a:xfrm>
          <a:prstGeom prst="rect">
            <a:avLst/>
          </a:prstGeom>
          <a:noFill/>
          <a:ln/>
        </p:spPr>
        <p:txBody>
          <a:bodyPr wrap="square" rtlCol="0" anchor="ctr"/>
          <a:lstStyle/>
          <a:p>
            <a:pPr algn="ctr" indent="0" marL="0">
              <a:buNone/>
            </a:pPr>
            <a:r>
              <a:rPr lang="en-US" sz="1250" b="1" i="1" dirty="0">
                <a:solidFill>
                  <a:srgbClr val="1F3864"/>
                </a:solidFill>
                <a:latin typeface="Georgia" pitchFamily="34" charset="0"/>
                <a:ea typeface="Georgia" pitchFamily="34" charset="-122"/>
                <a:cs typeface="Georgia" pitchFamily="34" charset="-120"/>
              </a:rPr>
              <a:t>“La pregunta no es si Rengo puede. La pregunta es si este PLADECO será el marco que organice esa capacidad en una transformación que la gente pueda sentir.”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PLADECO Rengo 2025-2035 — Argumentario Estratégico V4</dc:title>
  <dc:subject>PptxGenJS Presentation</dc:subject>
  <dc:creator>PptxGenJS</dc:creator>
  <cp:lastModifiedBy>PptxGenJS</cp:lastModifiedBy>
  <cp:revision>1</cp:revision>
  <dcterms:created xsi:type="dcterms:W3CDTF">2026-04-21T01:39:26Z</dcterms:created>
  <dcterms:modified xsi:type="dcterms:W3CDTF">2026-04-21T01:39:26Z</dcterms:modified>
</cp:coreProperties>
</file>