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3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4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Posición Rengo en ranking regional (1°=mejor)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Posición regional (de 33)</c:v>
                </c:pt>
              </c:strCache>
            </c:strRef>
          </c:tx>
          <c:spPr>
            <a:solidFill>
              <a:srgbClr val="1E7E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7E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7E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7E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02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A02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Internet fijas
(14.191 conexiones)</c:v>
                  </c:pt>
                  <c:pt idx="1">
                    <c:v>TV de pago
(10.529 suscriptores)</c:v>
                  </c:pt>
                  <c:pt idx="2">
                    <c:v>Áreas verdes
(superficie m²)</c:v>
                  </c:pt>
                  <c:pt idx="3">
                    <c:v>Agua potable
(93,1% cobertura)</c:v>
                  </c:pt>
                  <c:pt idx="4">
                    <c:v>Permisos construc.
(103 anuales)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18</c:v>
                </c:pt>
                <c:pt idx="4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BHT: Urbano vs. Rural (0=peor, 1=mejor)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BHT por dimensión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Accesibilidad
(servicios)</c:v>
                  </c:pt>
                  <c:pt idx="1">
                    <c:v>Socioeconómica</c:v>
                  </c:pt>
                  <c:pt idx="2">
                    <c:v>Seguridad</c:v>
                  </c:pt>
                  <c:pt idx="3">
                    <c:v>Ambiental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0.582</c:v>
                </c:pt>
                <c:pt idx="1">
                  <c:v>0.55</c:v>
                </c:pt>
                <c:pt idx="2">
                  <c:v>0.9</c:v>
                </c:pt>
                <c:pt idx="3">
                  <c:v>0.131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1E7E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Accesibilidad
(servicios)</c:v>
                  </c:pt>
                  <c:pt idx="1">
                    <c:v>Socioeconómica</c:v>
                  </c:pt>
                  <c:pt idx="2">
                    <c:v>Seguridad</c:v>
                  </c:pt>
                  <c:pt idx="3">
                    <c:v>Ambiental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0.356</c:v>
                </c:pt>
                <c:pt idx="1">
                  <c:v>0.53</c:v>
                </c:pt>
                <c:pt idx="2">
                  <c:v>0.99</c:v>
                </c:pt>
                <c:pt idx="3">
                  <c:v>0.82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Distribución por sector (N=1.314 proyectos)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Proyectos por sector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DA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7E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A02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Recursos Hídricos</c:v>
                  </c:pt>
                  <c:pt idx="1">
                    <c:v>Transporte</c:v>
                  </c:pt>
                  <c:pt idx="2">
                    <c:v>Educación/Cultura</c:v>
                  </c:pt>
                  <c:pt idx="3">
                    <c:v>Salud</c:v>
                  </c:pt>
                  <c:pt idx="4">
                    <c:v>Multisectorial</c:v>
                  </c:pt>
                  <c:pt idx="5">
                    <c:v>Otros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287</c:v>
                </c:pt>
                <c:pt idx="1">
                  <c:v>254</c:v>
                </c:pt>
                <c:pt idx="2">
                  <c:v>246</c:v>
                </c:pt>
                <c:pt idx="3">
                  <c:v>180</c:v>
                </c:pt>
                <c:pt idx="4">
                  <c:v>150</c:v>
                </c:pt>
                <c:pt idx="5">
                  <c:v>197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IIGAM Rengo vs. metas (posición 15° regional, 7° provincial)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Rengo actual 2024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Probidad</c:v>
                  </c:pt>
                  <c:pt idx="1">
                    <c:v>Acceso info.</c:v>
                  </c:pt>
                  <c:pt idx="2">
                    <c:v>Participación</c:v>
                  </c:pt>
                  <c:pt idx="3">
                    <c:v>IIGAM total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58</c:v>
                </c:pt>
                <c:pt idx="2">
                  <c:v>39</c:v>
                </c:pt>
                <c:pt idx="3">
                  <c:v>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Top 5 (2030)</c:v>
                </c:pt>
              </c:strCache>
            </c:strRef>
          </c:tx>
          <c:spPr>
            <a:solidFill>
              <a:srgbClr val="E0A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Probidad</c:v>
                  </c:pt>
                  <c:pt idx="1">
                    <c:v>Acceso info.</c:v>
                  </c:pt>
                  <c:pt idx="2">
                    <c:v>Participación</c:v>
                  </c:pt>
                  <c:pt idx="3">
                    <c:v>IIGAM total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80</c:v>
                </c:pt>
                <c:pt idx="2">
                  <c:v>55</c:v>
                </c:pt>
                <c:pt idx="3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Top 3 (2035)</c:v>
                </c:pt>
              </c:strCache>
            </c:strRef>
          </c:tx>
          <c:spPr>
            <a:solidFill>
              <a:srgbClr val="1E7E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Probidad</c:v>
                  </c:pt>
                  <c:pt idx="1">
                    <c:v>Acceso info.</c:v>
                  </c:pt>
                  <c:pt idx="2">
                    <c:v>Participación</c:v>
                  </c:pt>
                  <c:pt idx="3">
                    <c:v>IIGAM total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70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304A">
              <a:alpha val="70000"/>
            </a:srgbClr>
          </a:solidFill>
          <a:ln w="12700">
            <a:solidFill>
              <a:srgbClr val="16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2035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DESARROLLO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COMUNAL DE RENGO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26700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2025 – 2035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16382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Base Integral — 812 páginas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584448"/>
            <a:ext cx="2926080" cy="64008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03320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Alcalde: Enrique Del Barrio Hernández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SECPLAC: Daniel Castillo Campos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Encargado: Osvaldo Mañán Arce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 de Rengo  |  Provincia de Cachapoal  |  Región del Libertador O'Higgins  |  Código 06115  |  Abril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CONTENIDOS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3327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332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&amp; Equipo Técnico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3327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0332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005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 e Institucional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3327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0332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1005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O'Higgins 2024-2036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019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1874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Demográfico — Censo 2024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90195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9019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874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 &amp; Medio Ambiente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90195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9019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1874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&amp; Servicios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77063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706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Humano Territorial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277063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7706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Ciudadana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77063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77063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084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Pública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63931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6393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Estratégico &amp; SNA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363931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6393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4904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5 Ejes — Acciones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363931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6393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&amp; Presupuesto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50799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5079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724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BIP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46120" y="450799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45079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4904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&amp; M&amp;E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17920" y="4507992"/>
            <a:ext cx="41148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5079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2084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Abierto &amp; Cierre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Autoridades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 Técnico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Concejo Municipal 2024-2028 · SECPLAC · Equipo elaborador PLADECO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de la Ilustre Municipalidad de Rengo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2024-2028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Estructura PLADECO V2, Tabla N°1 — Autoridades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896112"/>
            <a:ext cx="859536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96112"/>
            <a:ext cx="73152" cy="960120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96112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89611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Sr. Enrique Del Barrio Hernández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1399032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Alcalde de Rengo — Capital de la Provincia de Cachapoal, Región del Libertador General Bernardo O'Higgins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9385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CONCEJO MUNICIPAL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2788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40864"/>
            <a:ext cx="54864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40864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Concejal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234086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Díaz Rojas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54680" y="2340864"/>
            <a:ext cx="2788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2340864"/>
            <a:ext cx="54864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340864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Concejal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234086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José Gática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2340864"/>
            <a:ext cx="2788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340864"/>
            <a:ext cx="54864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2340864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Concejal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234086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Díaz Rojas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74320" y="3054096"/>
            <a:ext cx="2788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54096"/>
            <a:ext cx="54864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054096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Concejal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34440" y="305409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Francisco Contreras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154680" y="3054096"/>
            <a:ext cx="2788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3054096"/>
            <a:ext cx="54864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054096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Concejal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0" y="305409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 Pino Placencia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035040" y="3054096"/>
            <a:ext cx="2788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054096"/>
            <a:ext cx="54864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3054096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Concejal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305409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Angélica Briones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E8F4FD"/>
          </a:solidFill>
          <a:ln w="15240">
            <a:solidFill>
              <a:srgbClr val="2E6D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8221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 Elaborador del PLADECO 2025-2035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11480" y="41696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Castillo Campos — Director de Secretaría de Planificación Comunal (SECPLAC)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Osvaldo Mañán Arce — Encargado Actualización PLADECO  ·  Paula Ramírez Marambio — Asesora en Planificación Urbana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Normativo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Institucional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legal que regula el PLADECO y la gestión municipal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Normativa — Fundamentos Legales del PLADECO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constitucional → LOC → Leyes orgánicas → PLADECO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Estructura PLADECO V2.pdf — Sección 3 Marco Legal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877824"/>
            <a:ext cx="85953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77824"/>
            <a:ext cx="64008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969264"/>
            <a:ext cx="7498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969264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último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87782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Política de la República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87782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6° y 7°: supremacía constitucional. Ningún órgano puede atribuirse facultades no conferidas por la CPR o las leyes.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572768"/>
            <a:ext cx="85953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C35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572768"/>
            <a:ext cx="64008" cy="62179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664208"/>
            <a:ext cx="749808" cy="43891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66420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articulador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157276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N° 18.695 LOC Municipalidades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157276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7°: el PLADECO debe orientar el desarrollo comunal, considerar las aspiraciones ciudadanas y garantizar participación. Vigencia mínima 4 años.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267712"/>
            <a:ext cx="85953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267712"/>
            <a:ext cx="64008" cy="62179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359152"/>
            <a:ext cx="749808" cy="43891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2359152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226771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N° 20.500 Participación Ciudadana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226771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COSOC como órgano consultivo obligatorio. Transforma el PLADECO en instrumento participativo por imperativo legal.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962656"/>
            <a:ext cx="85953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62656"/>
            <a:ext cx="64008" cy="62179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054096"/>
            <a:ext cx="749808" cy="43891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054096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296265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N° 20.285 Acceso a Información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0" y="296265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publicar y difundir diagnósticos, resultados participativos y el documento final aprobado. Principio de transparencia activa.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85953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657600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3749040"/>
            <a:ext cx="74980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3749040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vertical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365760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 N° 1-19.175 Gobierno Regional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83280" y="36576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la ERD como instrumento rector regional. El PLADECO debe alinearse con la ERD O'Higgins 2024-2036.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4352544"/>
            <a:ext cx="85953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352544"/>
            <a:ext cx="64008" cy="621792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4443984"/>
            <a:ext cx="749808" cy="438912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0" y="4443984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pública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1480" y="435254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N° 18.575 Bases Administración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383280" y="435254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legalidad, eficiencia, coordinación y probidad. Ley N° 20.880 sobre probidad y conflicto de intereses.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 O'Higgins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2024-2036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Regional de Desarrollo · Alineación PLADECO Rengo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Objetivo Regional — ERD O'Higgins 2024-2036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O'Higgins / GORE O'Higgins — Metodología 'referencial de política pública' (Pierre Muller)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ERD O'Higgins 2024-2036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886968"/>
            <a:ext cx="8595360" cy="1737360"/>
          </a:xfrm>
          <a:prstGeom prst="rect">
            <a:avLst/>
          </a:prstGeom>
          <a:solidFill>
            <a:srgbClr val="F0F7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86968"/>
            <a:ext cx="73152" cy="1737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686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0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5500" dirty="0"/>
          </a:p>
        </p:txBody>
      </p:sp>
      <p:sp>
        <p:nvSpPr>
          <p:cNvPr id="12" name="Text 10"/>
          <p:cNvSpPr/>
          <p:nvPr/>
        </p:nvSpPr>
        <p:spPr>
          <a:xfrm>
            <a:off x="502920" y="13258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región de O'Higgins se consolidará como un referente de desarrollo sostenible, priorizando la revitalización de recursos naturales y la adaptación al cambio climático. Garantizará bienestar social y la seguridad de las personas mediante servicios accesibles, infraestructura moderna y conectividad. Promoverá una matriz productiva diversificada, con clústeres en áreas emergentes como el turismo y una agricultura avanzada.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27432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elaboración ERD — metodología participativa: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145536"/>
            <a:ext cx="1600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200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74320" y="3931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comunales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93392" y="3145536"/>
            <a:ext cx="1600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93392" y="3200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993392" y="3931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12464" y="3145536"/>
            <a:ext cx="1600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12464" y="3200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712464" y="3931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31536" y="3145536"/>
            <a:ext cx="1600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31536" y="3200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31536" y="3931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50608" y="3145536"/>
            <a:ext cx="16002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50608" y="3200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150608" y="3931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87968" y="3145536"/>
            <a:ext cx="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PLADECO Rengo → ERD → ODS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vertical multinivel: local → regional → global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ERD O'Higgins 2024-2036 + ODS Agenda 2030 ONU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108960"/>
        </p:xfrm>
        <a:graphic>
          <a:graphicData uri="http://schemas.openxmlformats.org/drawingml/2006/table">
            <a:tbl>
              <a:tblPr/>
              <a:tblGrid>
                <a:gridCol w="3566160"/>
                <a:gridCol w="310896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ERD O'Higgins 2024-2036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PLADECO Rengo 2025-2035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 vinculados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productivo, innovación y diversificación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1: Desarrollo Económico Local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 8, 9, 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humano, educación y calidad de vida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2: Educación y Cultura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 4, 3,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 integral, bienestar social y seguridad de personas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3: Salud y Bienestar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 3, 5,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moderna, conectividad y adaptación climática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4: Infraestructura y Territorio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 11, 13,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Gobernanza democrática, institucionalidad y participación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 5: Gobernanza y Participación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 16, 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4114800"/>
            <a:ext cx="8595360" cy="694944"/>
          </a:xfrm>
          <a:prstGeom prst="rect">
            <a:avLst/>
          </a:prstGeom>
          <a:solidFill>
            <a:srgbClr val="E8F8EF"/>
          </a:solidFill>
          <a:ln w="19050">
            <a:solidFill>
              <a:srgbClr val="1E7E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1605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ERD fue elaborada por la Universidad de O'Higgins en convenio con el GORE, usando el método 'referencial de política pública' de Pierre Muller, con dos fases: decodificación del territorio y recodificación en Imagen Objetivo + Agendas de Acción con ejes estratégicos y líneas de acción.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Demográfico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Censo 2024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63.620 habitantes · Estructura etaria · Migración · Pueblos originarios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Demográficos Oficiales — Censo INE 2024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comunal 06115 — Rengo, Provincia de Cachapoal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INE Censo de Población y Vivienda 2024 | SINIM 2024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35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697480" cy="5486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7840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63.620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totales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INE 2024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14400"/>
            <a:ext cx="269748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97840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173736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total provincial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Cachapoal: 693.308 hab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91440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14400"/>
            <a:ext cx="2697480" cy="54864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97840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+7,6%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80760" y="173736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intercensal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2017→2024 (+4.507 personas)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42316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871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51,4%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0040" y="324612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Mujeres: 32.695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masculinidad: 94,6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42316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423160"/>
            <a:ext cx="2697480" cy="54864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4871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5,06%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00400" y="324612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migrante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3.217 personas nacidas fuera de Chile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42316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423160"/>
            <a:ext cx="2697480" cy="5486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871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5,99%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80760" y="324612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Pueblos indígenas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3.813 personas (principalmente Mapuche)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005072"/>
            <a:ext cx="8595360" cy="795528"/>
          </a:xfrm>
          <a:prstGeom prst="rect">
            <a:avLst/>
          </a:prstGeom>
          <a:solidFill>
            <a:srgbClr val="E8F4FD"/>
          </a:solidFill>
          <a:ln w="15240">
            <a:solidFill>
              <a:srgbClr val="2E6D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04164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etaria: </a:t>
            </a:r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 15 años = 20,3%  ·  15-64 años (activos) = 63,8%  ·  65+ años = 15,9%
</a:t>
            </a:r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Tendencia: </a:t>
            </a:r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Natalidad cayó 40,7% (de 17,36 a 10,30 por mil)  ·  Adultos 18+ aumentaron de 70,8% a 76,9% en 14 años  ·  Niños &lt;6 años cayeron 15,4%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Demográfica &amp; Evolución Histórica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transición demográfica avanzada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G07 · Fuente INE Censo 2024 · SINIM</a:t>
            </a:r>
            <a:endParaRPr lang="en-US" sz="850" dirty="0"/>
          </a:p>
        </p:txBody>
      </p:sp>
      <p:pic>
        <p:nvPicPr>
          <p:cNvPr id="9" name="Image 0" descr="C:/Users/Osvaldo/OneDrive/Escritorio/Proceso Final PLADECO/G07_Piramide_Demografi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212080" cy="38404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914400"/>
          <a:ext cx="3337560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457200"/>
                <a:gridCol w="457200"/>
                <a:gridCol w="502920"/>
                <a:gridCol w="5029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Etario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10-24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Menores 6 años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6-9 años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10-17 años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18+ años (adultos)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Pob. Adulta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+6,1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577840" y="3730752"/>
            <a:ext cx="3337560" cy="1042416"/>
          </a:xfrm>
          <a:prstGeom prst="rect">
            <a:avLst/>
          </a:prstGeom>
          <a:solidFill>
            <a:srgbClr val="FFF3CD"/>
          </a:solidFill>
          <a:ln w="19050">
            <a:solidFill>
              <a:srgbClr val="E0A02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0" y="3767328"/>
            <a:ext cx="3154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alerta: </a:t>
            </a:r>
            <a:pPr algn="l" indent="0" marL="0">
              <a:buNone/>
            </a:pPr>
            <a:r>
              <a:rPr lang="en-US" sz="105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Natalidad cayó 40,7% (17,36→10,30 por mil). El grupo 10-17 años cayó 14,7%, impactando directamente la matrícula escolar proyectada. Densidad urbana: de 92,2 a 111,1 hab/km².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Territorial: Sistema Policéntrico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centros urbanos + áreas rurales — 80% de la población en núcleos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INE Censo 2024 | Diagnóstico PRC 2025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02996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C35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029968" cy="5486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0584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42.238 hab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66,4%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" y="169164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Urbano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1298448" cy="36576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40280"/>
            <a:ext cx="18836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principal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4.000+ hab/km²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todos los servicios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comercio, salud, educación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50592" y="914400"/>
            <a:ext cx="202996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914400"/>
            <a:ext cx="2029968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100584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~5.000 hab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7,9%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50592" y="169164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Rosario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816352" y="2148840"/>
            <a:ext cx="1298448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2240280"/>
            <a:ext cx="18836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secundario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comercial principal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patentes tributarias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densidad establecimientos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914400"/>
            <a:ext cx="202996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914400"/>
            <a:ext cx="20299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00584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~3.600 hab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5,7%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26864" y="169164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Esmeralda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992624" y="2148840"/>
            <a:ext cx="12984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240280"/>
            <a:ext cx="18836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secundario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orgánico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turístico 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de abastecimiento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03136" y="914400"/>
            <a:ext cx="2029968" cy="3858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914400"/>
            <a:ext cx="2029968" cy="54864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00584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E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~14.000 hab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7E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03136" y="169164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Disperso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168896" y="2148840"/>
            <a:ext cx="1298448" cy="36576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2240280"/>
            <a:ext cx="18836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al promedio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(12,2%)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 intensiva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Envejecimiento acentuado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Territorio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Medio Ambiente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Geografía · Recursos hídricos · Crisis hídrica · Clima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Geográfica y Recursos Hídricos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Cuenca del Río Claro — Megasequía — Gestión del agua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DGA Rengo (1970-2024) · Diagnóstico Ambiental PRC 2025 · CIREN 2016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35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697480" cy="5486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7840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592 km²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comunal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9° de 33 comunas región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14400"/>
            <a:ext cx="269748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97840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300-900 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173736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s.n.m.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 central + Precordillera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91440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1440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97840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Río Claro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80760" y="173736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hidrográfico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Cuenca 6.387 km²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423160"/>
            <a:ext cx="26974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871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−30-35%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0040" y="324612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precipit.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1970s→2015-2019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42316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423160"/>
            <a:ext cx="2697480" cy="54864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4871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 años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00400" y="324612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Megasequía activa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absolutos 2007 y 2019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423160"/>
            <a:ext cx="2697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423160"/>
            <a:ext cx="2697480" cy="54864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871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80760" y="3246120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mediterráneo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Verano seco · Invierno lluvioso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005072"/>
            <a:ext cx="8595360" cy="795528"/>
          </a:xfrm>
          <a:prstGeom prst="rect">
            <a:avLst/>
          </a:prstGeom>
          <a:solidFill>
            <a:srgbClr val="FFF3CD"/>
          </a:solidFill>
          <a:ln w="19050">
            <a:solidFill>
              <a:srgbClr val="E0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04164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Crisis hídrica estructural: </a:t>
            </a:r>
            <a:pPr algn="l" indent="0" marL="0">
              <a:buNone/>
            </a:pPr>
            <a:r>
              <a:rPr lang="en-US" sz="115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precipitaciones cayeron de &gt;600mm (década 1970) a &lt;400mm (2015-2019). Los acuíferos comunales se encuentran bajo presión por sobreexplotación y sequía prolongada (Diagnóstico PRC 2025). El canal San Vicente, Canal Rengo y Canal Lo de Cuevas son esenciales para la producción frutícola y vitivinícola del valle.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Infraestructura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Comparados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regional en 33 comunas · Fortalezas y brechas críticas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Regional de Rengo en Infraestructura y Servicios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 comunas similares: San Vicente, Las Cabras, Requínoa, Peumo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SINIM 2024 · Análisis infraestructura PLADECO V2 — Sección 5.9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9144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914400"/>
          <a:ext cx="3383280" cy="3017520"/>
        </p:xfrm>
        <a:graphic>
          <a:graphicData uri="http://schemas.openxmlformats.org/drawingml/2006/table">
            <a:tbl>
              <a:tblPr/>
              <a:tblGrid>
                <a:gridCol w="1371600"/>
                <a:gridCol w="512064"/>
                <a:gridCol w="512064"/>
                <a:gridCol w="512064"/>
                <a:gridCol w="47548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S.Vicente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Requínoa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fijas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de pago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Agua potable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 verdes 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 const.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532120" y="4005072"/>
            <a:ext cx="3383280" cy="777240"/>
          </a:xfrm>
          <a:prstGeom prst="rect">
            <a:avLst/>
          </a:prstGeom>
          <a:solidFill>
            <a:srgbClr val="FFF3CD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23560" y="4041648"/>
            <a:ext cx="320040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urgentes:
</a:t>
            </a:r>
            <a:pPr algn="l" indent="0" marL="0">
              <a:buNone/>
            </a:pPr>
            <a:r>
              <a:rPr lang="en-US" sz="100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Áreas verdes: 1,96 m²/hab (OMS recomienda 9-10 m²/hab)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Agua potable: 6,9% sin cobertura (~4.500 personas)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Permisos: 53,4% no recepcionan (barreras administrativas)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Bienestar Humano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Territorial (MBHT)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665 manzanas · 4 dimensiones · Brecha urbano-rural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Bienestar Humano Territorial — MBHT MINVU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665 unidades analizadas (18 distritos censales) · 4 dimensiones de bienestar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MBHT — Centro de Inteligencia Territorial (CIT-MINVU) · PLADECO V2 Sección 5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914400"/>
          <a:ext cx="3383280" cy="2651760"/>
        </p:xfrm>
        <a:graphic>
          <a:graphicData uri="http://schemas.openxmlformats.org/drawingml/2006/table">
            <a:tbl>
              <a:tblPr/>
              <a:tblGrid>
                <a:gridCol w="1280160"/>
                <a:gridCol w="704088"/>
                <a:gridCol w="704088"/>
                <a:gridCol w="69494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BHT promedio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Ambiental (veg.)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−68,9pp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Amplitud térmica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+5,3°C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(IGPE)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E8F8EF"/>
          </a:solidFill>
          <a:ln w="19050">
            <a:solidFill>
              <a:srgbClr val="1E7E4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42245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negativa accesibilidad–ambiente (r=−0,776): históricamente las inversiones en urbanización aumentan el acceso a servicios pero reducen la cobertura vegetal y elevan la amplitud térmica. El diseño urbano sostenible y la planificación verde son esenciales para romper este ciclo.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Participación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Ciudadana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organizaciones · 21 reuniones · 6 instancias formales · Ley 20.500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 &amp; Proceso Participativo del PLADECO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participativo multi-actor — tensión normativa vs. capacidad instalada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Estructura PLADECO V2 — Sección Participación Ciudadana | Ley N°20.500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784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comunitarias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activas en la comuna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91440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9784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96312" y="17373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territoriales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realizadas con NNA y comunidad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91440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9784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72584" y="17373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formales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revisión del PLADECO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03136" y="91440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9784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48856" y="17373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sin actualizar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ordenanza de participación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24048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formales de revisión (Ley N°20.500):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2816352"/>
            <a:ext cx="4251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816352"/>
            <a:ext cx="54864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281635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Organizaciones Funcionales de la Comuna de Rengo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61488" y="281635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diagnóstico participativo y necesidades comunitarias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816352"/>
            <a:ext cx="4251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16352"/>
            <a:ext cx="54864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281635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Comité Técnico Asesor Administrativo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96328" y="281635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técnica de contenido y coherencia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4251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47472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3474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Comisiones del Concejo Municipal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61488" y="34747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política y legal del documento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474720"/>
            <a:ext cx="4251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47472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7176" y="3474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Consejo Comunal de Seguridad Pública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96328" y="34747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desde perspectiva de seguridad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133088"/>
            <a:ext cx="4251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4133088"/>
            <a:ext cx="54864" cy="59436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41330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COSOC — Consejo Sociedad Civil Comunal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61488" y="413308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validación ciudadana obligatoria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4133088"/>
            <a:ext cx="4251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C35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4133088"/>
            <a:ext cx="54864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7176" y="41330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Concejo Municipal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96328" y="413308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final democrática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645152"/>
            <a:ext cx="8595360" cy="164592"/>
          </a:xfrm>
          <a:prstGeom prst="rect">
            <a:avLst/>
          </a:prstGeom>
          <a:solidFill>
            <a:srgbClr val="FFF3CD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66344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Diagnóstico crítico: La ordenanza de participación lleva 14+ años sin modificación sustantiva — no incorpora mecanismos digitales, participación NNA, ni el Instructivo Presidencial N°007/2022 (integración paritaria COSOC).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Pública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más alarmante del plan · 54,41% NNA inseguro · 4 problemas priorizados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de Seguridad — Niños, Niñas y Adolescentes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más alarmante del PLADECO — Plan Comunal de Seguridad Pública 2025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Plan Comunal de Seguridad Pública 2025 | 21 reuniones participativas con NNA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3474720" cy="3858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1430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54,41%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74320" y="2487168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NNA de Rengo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siente INSEGURO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espacio público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74320" y="3703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 de cada 2 niños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proceso participativo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reuniones con NNA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91440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problemas de seguridad priorizados: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931920" y="1325880"/>
            <a:ext cx="4983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325880"/>
            <a:ext cx="54864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325880"/>
            <a:ext cx="59436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3258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13258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Drogas y consumo alcohol en vía pública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6184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1.073 casos reportados · Sigue siendo la mayor frecuencia de denuncia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clave: SENDA + prevención + fiscalización coordinada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2176272"/>
            <a:ext cx="4983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2176272"/>
            <a:ext cx="54864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2176272"/>
            <a:ext cx="59436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17627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21762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Violencia Intrafamiliar (VIF) contra la mujer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24688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 víctimas formales + alta cifra negra estimada · Violencia de género estructural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clave: Casa de acogida + acompañamiento post-denuncia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3026664"/>
            <a:ext cx="4983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31920" y="3026664"/>
            <a:ext cx="54864" cy="777240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3026664"/>
            <a:ext cx="59436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026664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0" y="302666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Delitos contra la propiedad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331927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casos registrados · Hurtos y robos en sector urbano central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IGPE más crítico: distrito 041 (IGPE=0,782 vs. rural 0,990)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31920" y="3877056"/>
            <a:ext cx="4983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931920" y="3877056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0" y="3877056"/>
            <a:ext cx="594360" cy="77724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3877056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0" y="387705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Violencia escolar (bullying)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0" y="41696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23,75% de los NNA expuestos a violencia entre pares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clave: Programa DAEM-DSP de convivencia escolar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Estratégico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Análisis SNA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FODA · ODS · Coherencia · Redes institucionales · Brechas estratégicas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FODA Comunal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 · Oportunidades · Debilidades · Amenazas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G05</a:t>
            </a:r>
            <a:endParaRPr lang="en-US" sz="850" dirty="0"/>
          </a:p>
        </p:txBody>
      </p:sp>
      <p:pic>
        <p:nvPicPr>
          <p:cNvPr id="9" name="Image 0" descr="C:/Users/Osvaldo/OneDrive/Escritorio/Proceso Final PLADECO/G05_FO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Institucional SNA — Red Ego y Centralidades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Burt (1992) Huecos estructurales · Betweenness=0,82 · Posición de intermediación central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G01 y G02 · Metodología NetworkX · Python</a:t>
            </a:r>
            <a:endParaRPr lang="en-US" sz="850" dirty="0"/>
          </a:p>
        </p:txBody>
      </p:sp>
      <p:pic>
        <p:nvPicPr>
          <p:cNvPr id="9" name="Image 0" descr="C:/Users/Osvaldo/OneDrive/Escritorio/Proceso Final PLADECO/G01_SNA_EgoNet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4572000" cy="3886200"/>
          </a:xfrm>
          <a:prstGeom prst="rect">
            <a:avLst/>
          </a:prstGeom>
        </p:spPr>
      </p:pic>
      <p:pic>
        <p:nvPicPr>
          <p:cNvPr id="10" name="Image 1" descr="C:/Users/Osvaldo/OneDrive/Escritorio/Proceso Final PLADECO/G02_SNA_Centralida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914400"/>
            <a:ext cx="4114800" cy="1874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46320" y="2852928"/>
            <a:ext cx="411480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37760" y="28986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SNA clave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329184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Municipio: betweenness=0,82 (intermediación central dominante)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Huecos estructurales detectados: sector privado + academia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coefficient: indica red densa pero con silos sectoriales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políticas: flujos GORE-Ministerios mejor articulados que MIPYME-Municipio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acciones PLADECO diseñadas para cerrar brechas de coordinación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Políticas · Benchmarking · Coherencia Interna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G03 · G04 · G16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G03, G04, G16</a:t>
            </a:r>
            <a:endParaRPr lang="en-US" sz="850" dirty="0"/>
          </a:p>
        </p:txBody>
      </p:sp>
      <p:pic>
        <p:nvPicPr>
          <p:cNvPr id="9" name="Image 0" descr="C:/Users/Osvaldo/OneDrive/Escritorio/Proceso Final PLADECO/G03_SNA_Benchmar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2834640" cy="1965960"/>
          </a:xfrm>
          <a:prstGeom prst="rect">
            <a:avLst/>
          </a:prstGeom>
        </p:spPr>
      </p:pic>
      <p:pic>
        <p:nvPicPr>
          <p:cNvPr id="10" name="Image 1" descr="C:/Users/Osvaldo/OneDrive/Escritorio/Proceso Final PLADECO/G04_RedPolitica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914400"/>
            <a:ext cx="2834640" cy="1965960"/>
          </a:xfrm>
          <a:prstGeom prst="rect">
            <a:avLst/>
          </a:prstGeom>
        </p:spPr>
      </p:pic>
      <p:pic>
        <p:nvPicPr>
          <p:cNvPr id="11" name="Image 2" descr="C:/Users/Osvaldo/OneDrive/Escritorio/Proceso Final PLADECO/G16_Coherencia_Intern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914400"/>
            <a:ext cx="2834640" cy="1965960"/>
          </a:xfrm>
          <a:prstGeom prst="rect">
            <a:avLst/>
          </a:prstGeom>
        </p:spPr>
      </p:pic>
      <p:pic>
        <p:nvPicPr>
          <p:cNvPr id="12" name="Image 3" descr="C:/Users/Osvaldo/OneDrive/Escritorio/Proceso Final PLADECO/G09_Heatmap_OD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82880" y="2944368"/>
            <a:ext cx="4480560" cy="1874520"/>
          </a:xfrm>
          <a:prstGeom prst="rect">
            <a:avLst/>
          </a:prstGeom>
        </p:spPr>
      </p:pic>
      <p:pic>
        <p:nvPicPr>
          <p:cNvPr id="13" name="Image 4" descr="C:/Users/Osvaldo/OneDrive/Escritorio/Proceso Final PLADECO/G10_Radar_Brecha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54880" y="2944368"/>
            <a:ext cx="4206240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Matriz Estratégica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5 Ejes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acciones · 97 indicadores · Plazos C/M/L · Codificación por color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Matriz Estratégica PLADECO 2025-2035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ejes · 15 objetivos estratégicos · 45 acciones · 97 indicadores con línea base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Matriz_PLADECO_Rengo_2025-2035_V5_FINAL.docx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64008" cy="74980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1440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91440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Económico Local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1051560"/>
            <a:ext cx="804672" cy="47548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05156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acciones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98848" y="91440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Fomento MIPYME · Turismo rural · Enoturismo Apalta · Empleo juvenil · Incubadora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37360"/>
            <a:ext cx="859536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737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73736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173736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y Cultura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11880" y="1874520"/>
            <a:ext cx="80467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8745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acciones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98848" y="173736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escolar · Primera infancia · Centro cultural · Patrimonio histórico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560320"/>
            <a:ext cx="64008" cy="749808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56032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256032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Bienestar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11880" y="2697480"/>
            <a:ext cx="804672" cy="475488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69748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acciones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98848" y="256032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CESFAM · Salud mental · Adulto mayor · Género · Discapacidad · Salud rural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383280"/>
            <a:ext cx="859536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383280"/>
            <a:ext cx="64008" cy="749808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38328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34440" y="338328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Territorio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11880" y="3520440"/>
            <a:ext cx="804672" cy="475488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352044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acciones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98848" y="338328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Vialidad rural 120 km · Áreas verdes · APR · Conectividad digital · Vivienda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206240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2062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34440" y="4206240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y Participación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11880" y="4343400"/>
            <a:ext cx="80467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43434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acciones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98848" y="420624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COSOC · Transparencia · ISO 9001 · Seguridad ciudadana · Gestión de riesgos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 · Desarrollo Económico Local — Acciones Detalladas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Fortalecer la economía comunal inclusiva, diversificada y competitiva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C=Corto (2026-27) · M=Mediano (2028-30) · L=Largo (2031-35)</a:t>
            </a:r>
            <a:endParaRPr lang="en-US" sz="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31920"/>
        </p:xfrm>
        <a:graphic>
          <a:graphicData uri="http://schemas.openxmlformats.org/drawingml/2006/table">
            <a:tbl>
              <a:tblPr/>
              <a:tblGrid>
                <a:gridCol w="3749040"/>
                <a:gridCol w="2286000"/>
                <a:gridCol w="1691640"/>
                <a:gridCol w="8686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Estratégica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2035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A1.1 Programa MIPYME y emprendimiento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PYME formalizadas/año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empresas registradas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A1.2 Plataforma turismo rural y enoturismo Apalta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 visitantes/año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turistas/año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A1.3 Agricultura orgánica y sello comunal Rengo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productores certificados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certificación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A1.4 Feria campesina permanente (Rosario + Rengo)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feria 120 puestos estable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Puestos activos/feria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A1.5 Bolsa trabajo digital comunal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empleos/año intermediados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Empleos intermediados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A1.6 Incubadora empresas jóvenes 18-35 años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startups apoyadas/año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Startups activas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A1.7 Corredor económico Ruta 5 Sur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atracción inversión 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invertidos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A1.8 Capacitación oficios técnicos (SENCE)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personas/año certificadas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 certificadas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A1.9 Catastro activos productivos actualizado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Catastro renovado c/2 años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Actualización SINIM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2, 3, 4 &amp; 5 — Acciones Prioritarias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· Salud · Infraestructura · Gobernanza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Matriz_PLADECO_V5_FINAL.docx · Sección N°5.docx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251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144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· Educación &amp; Cultura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4251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1298448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A2.1 Mejoramiento infraestructura 8 escuelas municipales (FNDR)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A2.2 3 nuevas salas cuna/jardín inclusivo (Junta Nacional Jardines)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A2.3 Centro cultural comunal + biblioteca digital barrial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A2.4 Programa deporte escolar + 15 clubes barriales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A2.5 Escuela de idiomas, TIC y ciudadanía digital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251960" cy="3474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144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 · Salud &amp; Bienestar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261872"/>
            <a:ext cx="4251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82312" y="1298448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A3.1 Mejoramiento CESFAM y 4 postas rurales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A3.2 Programa salud mental comunitaria (mhGAP/OPS)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A3.3 2 centros de día adulto mayor (SENAMA)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A3.4 Plan salud sexual y reproductiva con enfoque género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A3.5 Red atención personas con discapacidad (SENADIS)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251960" cy="347472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4 · Infraestructura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73552"/>
            <a:ext cx="4251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" y="3310128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A4.1 Pavimentación 120 km rutas rurales (FNDR + MOP)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A4.2 +8 m²/hab áreas verdes (parques y plazas)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A4.3 12 APR modernizados (agua potable rural)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A4.4 Fibra óptica rural + WiFi público sedes comunitarias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A4.5 Subsidio habitacional 500 familias vulnerables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2519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2608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5 · Gobernanza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273552"/>
            <a:ext cx="4251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82312" y="3310128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A5.1 Consejo comunal participación ciudadana digital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A5.2 Portal transparencia activa + datos abiertos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A5.3 Modernización gestión municipal ISO 9001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A5.4 Plan seguridad integrado (VIF + drogas + bullying)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A5.5 Actualización PRC (urgente: 16 años sin revisión)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Gantt &amp; Presupuesto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2026-2035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temporal · SINIM real 2024 · Inversión $46.000M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de Implementación 2026-2035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Colores: Verde=Corto (2026-27) · Amarillo=Mediano (2028-30) · Rojo=Largo (2031-35)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G06 y G12</a:t>
            </a:r>
            <a:endParaRPr lang="en-US" sz="850" dirty="0"/>
          </a:p>
        </p:txBody>
      </p:sp>
      <p:pic>
        <p:nvPicPr>
          <p:cNvPr id="9" name="Image 0" descr="C:/Users/Osvaldo/OneDrive/Escritorio/Proceso Final PLADECO/G06_Gantt_2026_203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8778240" cy="2331720"/>
          </a:xfrm>
          <a:prstGeom prst="rect">
            <a:avLst/>
          </a:prstGeom>
        </p:spPr>
      </p:pic>
      <p:pic>
        <p:nvPicPr>
          <p:cNvPr id="10" name="Image 1" descr="C:/Users/Osvaldo/OneDrive/Escritorio/Proceso Final PLADECO/G12_Frecuencia_Acci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3337560"/>
            <a:ext cx="87782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Municipal 2024 — SINIM Real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 verificado código 06115 · No estimado · Datos oficiales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G08 · Fuente: SINIM.gov.cl — Ficha Comunal Rengo 2024</a:t>
            </a:r>
            <a:endParaRPr lang="en-US" sz="850" dirty="0"/>
          </a:p>
        </p:txBody>
      </p:sp>
      <p:pic>
        <p:nvPicPr>
          <p:cNvPr id="9" name="Image 0" descr="C:/Users/Osvaldo/OneDrive/Escritorio/Proceso Final PLADECO/G08_Financi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846320" cy="3886200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914400"/>
          <a:ext cx="3639312" cy="3886200"/>
        </p:xfrm>
        <a:graphic>
          <a:graphicData uri="http://schemas.openxmlformats.org/drawingml/2006/table">
            <a:tbl>
              <a:tblPr/>
              <a:tblGrid>
                <a:gridCol w="2011680"/>
                <a:gridCol w="886968"/>
                <a:gridCol w="74066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M$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 TOTALES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$17.779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FCM (Fondo Común Municipal)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IPP — Ingresos Propios Permanentes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Transferencias corrientes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 TOTALES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Personal y remuneraciones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Bienes y servicios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Inversión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Transferencias y subsidios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Otros gastos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Proyectada 2025-2035 — Financiamiento Mixto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$46.000 millones · Municipal + FNDR + Sectorial + Privado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PLADECO V5 + SINIM + GORE O'Higgins + Ministerios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02996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35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029968" cy="5486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058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" y="16276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$12.400M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" y="2130552"/>
            <a:ext cx="18836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ordinario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ahorro corriente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50592" y="914400"/>
            <a:ext cx="202996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914400"/>
            <a:ext cx="2029968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0058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50592" y="16276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$14.000M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23744" y="2130552"/>
            <a:ext cx="18836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FNDR O'Higgins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postulados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 + SUBDERE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6864" y="914400"/>
            <a:ext cx="202996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914400"/>
            <a:ext cx="2029968" cy="54864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0058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E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26864" y="16276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$13.600M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00016" y="2130552"/>
            <a:ext cx="18836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Sectorial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Ministerios MOP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MINVU · MINSAL · JUNJI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03136" y="914400"/>
            <a:ext cx="202996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914400"/>
            <a:ext cx="2029968" cy="54864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0058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03136" y="16276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$6.000M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76288" y="2130552"/>
            <a:ext cx="18836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 PPP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Concesiones · Inversión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730752"/>
            <a:ext cx="8595360" cy="62179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30752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 PROYECTADA 2025-2035:  $46.000 MILLONES DE PESOS</a:t>
            </a:r>
            <a:endParaRPr lang="en-US" sz="17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16552"/>
          <a:ext cx="8595360" cy="658368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  <a:gridCol w="173736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(Ingresos Propios)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(real)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 (meta)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 (meta)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(M$)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sobre ingresos totales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anual implícita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Cartera BIP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Nacional de Inversiones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1.314 registros · 426 iniciativas únicas · $402 MM acumulado 1997-2026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Integrado de Proyectos (BIP) — Análisis Cartera Rengo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1997-2026 · SNI Ministerio de Desarrollo Social y Familia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BIP/SNI — Ministerio de Desarrollo Social · Estructura PLADECO V2 — Sección Inversión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029968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35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029968" cy="5486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78408"/>
            <a:ext cx="2029968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1709928"/>
            <a:ext cx="1938528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BIP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Rengo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914400"/>
            <a:ext cx="2029968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914400"/>
            <a:ext cx="2029968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978408"/>
            <a:ext cx="2029968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96312" y="1709928"/>
            <a:ext cx="1938528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únicas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formuladas 1997-2026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914400"/>
            <a:ext cx="2029968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914400"/>
            <a:ext cx="2029968" cy="54864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978408"/>
            <a:ext cx="2029968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$402 MM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72584" y="1709928"/>
            <a:ext cx="1938528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acumulada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millones $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03136" y="914400"/>
            <a:ext cx="2029968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914400"/>
            <a:ext cx="2029968" cy="54864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978408"/>
            <a:ext cx="2029968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48856" y="1709928"/>
            <a:ext cx="1938528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formulados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propio municipio</a:t>
            </a:r>
            <a:endParaRPr lang="en-US" sz="9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33172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331720"/>
          <a:ext cx="3429000" cy="2468880"/>
        </p:xfrm>
        <a:graphic>
          <a:graphicData uri="http://schemas.openxmlformats.org/drawingml/2006/table">
            <a:tbl>
              <a:tblPr/>
              <a:tblGrid>
                <a:gridCol w="1234440"/>
                <a:gridCol w="804672"/>
                <a:gridCol w="138988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'Perfil'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(289)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Registrados pero sin evaluación formal — oportunidad de reformulación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RS (aprobados)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 proporción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de alta calidad técnica con recomendación positiva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objetados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Oportunidad: reformulación técnica para obtener recomendación 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FI (falta info)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 insuficiente — completar antecedentes técnicos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líder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Rec. Hídricos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 proyectos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 crisis hídrica como eje estructural del desarrollo comunal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HHI formuladores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Concentración extrema: Municipio formula 63,5% — indica dependencia municipal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Monitoreo · Evaluación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probabilidad × impacto · KPI Panel · Protocolo GpRD · 4 fases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Estratégicos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riesgos identificados · Plan de mitigación por responsable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G14 · Basado en metodología GpRD-BID</a:t>
            </a:r>
            <a:endParaRPr lang="en-US" sz="850" dirty="0"/>
          </a:p>
        </p:txBody>
      </p:sp>
      <p:pic>
        <p:nvPicPr>
          <p:cNvPr id="9" name="Image 0" descr="C:/Users/Osvaldo/OneDrive/Escritorio/Proceso Final PLADECO/G14_Matriz_Riesg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846320" cy="3886200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914400"/>
          <a:ext cx="3639312" cy="3886200"/>
        </p:xfrm>
        <a:graphic>
          <a:graphicData uri="http://schemas.openxmlformats.org/drawingml/2006/table">
            <a:tbl>
              <a:tblPr/>
              <a:tblGrid>
                <a:gridCol w="1463040"/>
                <a:gridCol w="502920"/>
                <a:gridCol w="621792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Recorte FCM −15%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 de reserva 5% presupuesto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administración 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Institucionalización COSOC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hídrica prolongada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Xerojardinería + APR modernizados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Demoras aprobación FNDR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Cartera proyectos priorizada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participación ciudadana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Mecanismos digitales + COSOC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Escalada VIF + drogas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Seguridad + SENDA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PRC sin actualización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urgente: iniciar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KPI &amp; Protocolo de Monitoreo y Evaluación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GpRD — 4 fases de seguimiento 2026-2035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G11 · Metodología GpRD-BID / SUBDERE</a:t>
            </a:r>
            <a:endParaRPr lang="en-US" sz="850" dirty="0"/>
          </a:p>
        </p:txBody>
      </p:sp>
      <p:pic>
        <p:nvPicPr>
          <p:cNvPr id="9" name="Image 0" descr="C:/Users/Osvaldo/OneDrive/Escritorio/Proceso Final PLADECO/G11_KPI_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8778240" cy="1965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2971800"/>
            <a:ext cx="2029968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971800"/>
            <a:ext cx="2029968" cy="5486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03580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74320" y="3621024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Anual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4032504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avance por eje · Indicadores producto · Sesión COSOC obligatoria · Informe Concejo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450592" y="2971800"/>
            <a:ext cx="2029968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E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50592" y="2971800"/>
            <a:ext cx="2029968" cy="54864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50592" y="303580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E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450592" y="3621024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Bienal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23744" y="4032504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resultados intermedios · Ajuste acciones · Informe público difundido · Rendición ciudadana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26864" y="2971800"/>
            <a:ext cx="2029968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26864" y="2971800"/>
            <a:ext cx="2029968" cy="54864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26864" y="303580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4626864" y="3621024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Midterm 2030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00016" y="4032504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externa de impacto · Rediseño acciones 2031-35 · Consulta ciudadana masiva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2971800"/>
            <a:ext cx="2029968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03136" y="2971800"/>
            <a:ext cx="202996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03136" y="303580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803136" y="3621024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2035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76288" y="4032504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ex-post · Comparación línea base · Informe auditoría CGR · PLADECO 2036+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Gobierno Abierto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Cierre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IIGAM · Comparación PLADECOs · Brechas urgentes · Próximos 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Gobierno Abierto Municipal — IIGAM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· Probidad · Participación · Posición regional y provincial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SINIM 2024 · Estructura PLADECO V2 — Sección Gobierno Abierto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914400"/>
          <a:ext cx="5486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943600" y="914400"/>
            <a:ext cx="2971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IIGAM Rengo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1371600"/>
            <a:ext cx="2788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Posición: 15° regional · 7° provincial
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Fortaleza: Probidad 75% (9° regional)
supera capital regional y pares provinciales
</a:t>
            </a:r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 crítica: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información
58% — cuartil inferior regional
7 comunas de la misma provincia
alcanzan el 100%
</a:t>
            </a:r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Referente: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Coinco (0,76) y Navidad (0,77)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 el ranking regional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comunas más pequeñas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Rengo → eficiencia posible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Críticas &amp; Hoja de Ruta 2025-2026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urgentes identificadas en el diagnóstico integral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Estructura PLADECO V2 · Diagnóstico PRC 2025 · BIP/SNI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251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PRC sin actualizar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años de vigencia (2009). Inicio proceso urgente 2025. Metas: 150 permisos/año y 100 recepciones/año al 2030.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251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14400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 inseguros en calle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32588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54,41% de los niños se siente inseguro. Plan Seguridad 2025 define 4 prioridades. Meta: reducir a 25% al 2035.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4251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12848"/>
            <a:ext cx="64008" cy="1188720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12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verdes déficit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262432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 m²/hab (OMS: 9-10 m²). Rengo 4° regional en superficie. Meta PLADECO: +8 m²/hab al 2035.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212848"/>
            <a:ext cx="4251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12848"/>
            <a:ext cx="64008" cy="1188720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2128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potable rural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62432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6,9% sin cobertura (~4.500 personas). Rengo 18° de 33 comunas. Meta: 100% cobertura al 2030.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511296"/>
            <a:ext cx="4251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11296"/>
            <a:ext cx="64008" cy="11887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1129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Ordenanza participación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92277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años desactualizada. Sin mecanismos digitales ni NNA. Actualizar en 2025 con Instructivo Presidencial 007/2022.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511296"/>
            <a:ext cx="4251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11296"/>
            <a:ext cx="64008" cy="11887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1129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IIGAM Acceso a info.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92277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— cuartil inferior regional. Meta: 100% (Top 3) al 2030. Portal transparencia activa en 2026.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804672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PLADECO Rengo V5 vs. PLADECOs Similares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" y="0"/>
            <a:ext cx="8686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Curicó (322pp) · Cerro Navia (174pp) · Análisis 20 componentes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01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Rengo 2025-2035  |  Municipalidad de Rengo — SECPLAC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0" y="4901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comparado sobre documentos públicos 2025</a:t>
            </a:r>
            <a:endParaRPr lang="en-US" sz="8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31920"/>
        </p:xfrm>
        <a:graphic>
          <a:graphicData uri="http://schemas.openxmlformats.org/drawingml/2006/table">
            <a:tbl>
              <a:tblPr/>
              <a:tblGrid>
                <a:gridCol w="3840480"/>
                <a:gridCol w="1737360"/>
                <a:gridCol w="1508760"/>
                <a:gridCol w="141732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Rengo V5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Curicó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Cerro Navia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SNA y redes de actores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ejecutivo (G13)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Coherencia interna (diagrama G16)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género desagregado (G17)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6 paneles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riesgos (16 riesgos) G14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calor territorial (G15)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Censo 2024 verificados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63.620 hab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Cartera BIP analizada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1.314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Participación NNA documentada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21 reuniones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SINIM real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$17.779M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Alineación ERD regional explícita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 ejes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MBHT bienestar territorial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665 manzanas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 M&amp;E 4 fases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(sobre 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42845"/>
          </a:solidFill>
          <a:ln w="12700">
            <a:solidFill>
              <a:srgbClr val="1428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304A">
              <a:alpha val="60000"/>
            </a:srgbClr>
          </a:solidFill>
          <a:ln w="12700">
            <a:solidFill>
              <a:srgbClr val="16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RENGO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Desarrollo Comunal 2025-2035  ·  Documento Base Integral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4114800" cy="64008"/>
          </a:xfrm>
          <a:prstGeom prst="rect">
            <a:avLst/>
          </a:prstGeom>
          <a:solidFill>
            <a:srgbClr val="1E7E45"/>
          </a:solidFill>
          <a:ln w="12700">
            <a:solidFill>
              <a:srgbClr val="1E7E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12848"/>
            <a:ext cx="621792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 páginas de documentación base analizada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63.620 habitantes — Censo INE 2024 verificado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gráficos analíticos (G01-G17) embebidos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acciones en 5 ejes · 97 indicadores con línea base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BIP: 1.314 registros · $402 MM acumulado (1997-2026)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SINIM real $17.779M · Inversión proyectada $46.000M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665 manzanas MBHT analizadas · Bienestar territorial multidimensional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 ERD O'Higgins 2024-2036 y ODS Agenda 2030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Alcalde: Enrique Del Barrio Hernández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SECPLAC: Daniel Castillo Campos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PLADECO: Osvaldo Mañán Arce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Asesora: Paula Ramírez Marambio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 de Rengo  ·  Provincia de Cachapoal  ·  Región del Libertador Bernardo O'Higgins  ·  Chile  ·  Abril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PLADECO Rengo 2025-2035 — Presentación Integral V3</dc:title>
  <dc:subject>PptxGenJS Presentation</dc:subject>
  <dc:creator>Municipalidad de Rengo — SECPLAC</dc:creator>
  <cp:lastModifiedBy>Municipalidad de Rengo — SECPLAC</cp:lastModifiedBy>
  <cp:revision>1</cp:revision>
  <dcterms:created xsi:type="dcterms:W3CDTF">2026-04-02T14:50:51Z</dcterms:created>
  <dcterms:modified xsi:type="dcterms:W3CDTF">2026-04-02T14:50:51Z</dcterms:modified>
</cp:coreProperties>
</file>